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9" r:id="rId3"/>
    <p:sldId id="260" r:id="rId4"/>
    <p:sldId id="261" r:id="rId5"/>
    <p:sldId id="271" r:id="rId6"/>
    <p:sldId id="268" r:id="rId7"/>
    <p:sldId id="266" r:id="rId8"/>
    <p:sldId id="257" r:id="rId9"/>
    <p:sldId id="258" r:id="rId10"/>
    <p:sldId id="270" r:id="rId11"/>
    <p:sldId id="264" r:id="rId12"/>
    <p:sldId id="265" r:id="rId13"/>
    <p:sldId id="267" r:id="rId14"/>
    <p:sldId id="262" r:id="rId15"/>
    <p:sldId id="263" r:id="rId16"/>
    <p:sldId id="269" r:id="rId17"/>
    <p:sldId id="272" r:id="rId18"/>
    <p:sldId id="27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6"/>
    <p:restoredTop sz="94648"/>
  </p:normalViewPr>
  <p:slideViewPr>
    <p:cSldViewPr snapToGrid="0">
      <p:cViewPr varScale="1">
        <p:scale>
          <a:sx n="164" d="100"/>
          <a:sy n="164" d="100"/>
        </p:scale>
        <p:origin x="6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C51A9A-1713-CA48-87AE-41F40A303FD3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07695C93-7A78-7A42-B4E6-1DB7B87A98D0}">
      <dgm:prSet phldrT="[텍스트]"/>
      <dgm:spPr/>
      <dgm:t>
        <a:bodyPr/>
        <a:lstStyle/>
        <a:p>
          <a:pPr latinLnBrk="1"/>
          <a:r>
            <a:rPr lang="en-US" altLang="ko-KR" dirty="0"/>
            <a:t>Wav</a:t>
          </a:r>
          <a:r>
            <a:rPr lang="ko-KR" altLang="en-US" dirty="0"/>
            <a:t>파일변환한 후</a:t>
          </a:r>
          <a:endParaRPr lang="en-US" altLang="ko-KR" dirty="0"/>
        </a:p>
        <a:p>
          <a:pPr latinLnBrk="1"/>
          <a:r>
            <a:rPr lang="ko-KR" altLang="en-US" dirty="0"/>
            <a:t>데이터 검수</a:t>
          </a:r>
        </a:p>
      </dgm:t>
    </dgm:pt>
    <dgm:pt modelId="{397E137D-4894-6142-89E9-423E071D662A}" type="parTrans" cxnId="{15A7B5F5-E011-9F4B-B51A-F2667694B594}">
      <dgm:prSet/>
      <dgm:spPr/>
      <dgm:t>
        <a:bodyPr/>
        <a:lstStyle/>
        <a:p>
          <a:pPr latinLnBrk="1"/>
          <a:endParaRPr lang="ko-KR" altLang="en-US"/>
        </a:p>
      </dgm:t>
    </dgm:pt>
    <dgm:pt modelId="{3700E8D1-1C80-504F-A595-6DB9DEC2CBD2}" type="sibTrans" cxnId="{15A7B5F5-E011-9F4B-B51A-F2667694B594}">
      <dgm:prSet/>
      <dgm:spPr/>
      <dgm:t>
        <a:bodyPr/>
        <a:lstStyle/>
        <a:p>
          <a:pPr latinLnBrk="1"/>
          <a:endParaRPr lang="ko-KR" altLang="en-US"/>
        </a:p>
      </dgm:t>
    </dgm:pt>
    <dgm:pt modelId="{33250929-350A-424A-BEAE-59CFCAE0D10F}">
      <dgm:prSet phldrT="[텍스트]"/>
      <dgm:spPr/>
      <dgm:t>
        <a:bodyPr/>
        <a:lstStyle/>
        <a:p>
          <a:pPr latinLnBrk="1"/>
          <a:r>
            <a:rPr lang="en-US" altLang="ko-KR" dirty="0"/>
            <a:t>MFCC </a:t>
          </a:r>
          <a:r>
            <a:rPr lang="ko-KR" altLang="en-US" dirty="0"/>
            <a:t>추출 후</a:t>
          </a:r>
          <a:r>
            <a:rPr lang="en-US" altLang="ko-KR" dirty="0"/>
            <a:t> </a:t>
          </a:r>
          <a:r>
            <a:rPr lang="ko-KR" altLang="en-US" dirty="0"/>
            <a:t>데이터 검수</a:t>
          </a:r>
          <a:endParaRPr lang="en-US" altLang="ko-KR" dirty="0"/>
        </a:p>
      </dgm:t>
    </dgm:pt>
    <dgm:pt modelId="{9E17570E-9F3A-5A44-8AD3-D6AA33759309}" type="parTrans" cxnId="{9A9C944D-3AEC-8547-9525-128E8531D48A}">
      <dgm:prSet/>
      <dgm:spPr/>
      <dgm:t>
        <a:bodyPr/>
        <a:lstStyle/>
        <a:p>
          <a:pPr latinLnBrk="1"/>
          <a:endParaRPr lang="ko-KR" altLang="en-US"/>
        </a:p>
      </dgm:t>
    </dgm:pt>
    <dgm:pt modelId="{DE7135B0-0363-4D4A-9999-A1C270CED8C4}" type="sibTrans" cxnId="{9A9C944D-3AEC-8547-9525-128E8531D48A}">
      <dgm:prSet/>
      <dgm:spPr/>
      <dgm:t>
        <a:bodyPr/>
        <a:lstStyle/>
        <a:p>
          <a:pPr latinLnBrk="1"/>
          <a:endParaRPr lang="ko-KR" altLang="en-US"/>
        </a:p>
      </dgm:t>
    </dgm:pt>
    <dgm:pt modelId="{90D60ADB-17FF-0F4F-AB50-3AC2CE0B0B8C}">
      <dgm:prSet phldrT="[텍스트]"/>
      <dgm:spPr/>
      <dgm:t>
        <a:bodyPr/>
        <a:lstStyle/>
        <a:p>
          <a:pPr latinLnBrk="1"/>
          <a:r>
            <a:rPr lang="en-US" altLang="ko-KR" dirty="0"/>
            <a:t>dataset </a:t>
          </a:r>
          <a:r>
            <a:rPr lang="ko-KR" altLang="en-US" dirty="0"/>
            <a:t>클래스 구성</a:t>
          </a:r>
          <a:r>
            <a:rPr lang="en-US" altLang="ko-KR" dirty="0"/>
            <a:t>(</a:t>
          </a:r>
          <a:r>
            <a:rPr lang="en-US" altLang="ko-KR" dirty="0" err="1"/>
            <a:t>pytorch</a:t>
          </a:r>
          <a:r>
            <a:rPr lang="en-US" altLang="ko-KR" dirty="0"/>
            <a:t>)</a:t>
          </a:r>
          <a:endParaRPr lang="ko-KR" altLang="en-US" dirty="0"/>
        </a:p>
      </dgm:t>
    </dgm:pt>
    <dgm:pt modelId="{55485043-7857-8747-8BBF-7CD65147B1F4}" type="parTrans" cxnId="{52CAE1A7-C329-7541-BDD8-1A6539081A30}">
      <dgm:prSet/>
      <dgm:spPr/>
      <dgm:t>
        <a:bodyPr/>
        <a:lstStyle/>
        <a:p>
          <a:pPr latinLnBrk="1"/>
          <a:endParaRPr lang="ko-KR" altLang="en-US"/>
        </a:p>
      </dgm:t>
    </dgm:pt>
    <dgm:pt modelId="{D3AF0536-32C1-7F45-973A-5F4D223FF07B}" type="sibTrans" cxnId="{52CAE1A7-C329-7541-BDD8-1A6539081A30}">
      <dgm:prSet/>
      <dgm:spPr/>
      <dgm:t>
        <a:bodyPr/>
        <a:lstStyle/>
        <a:p>
          <a:pPr latinLnBrk="1"/>
          <a:endParaRPr lang="ko-KR" altLang="en-US"/>
        </a:p>
      </dgm:t>
    </dgm:pt>
    <dgm:pt modelId="{409DCACD-ACD9-5F43-B368-C52648E9411F}">
      <dgm:prSet phldrT="[텍스트]"/>
      <dgm:spPr/>
      <dgm:t>
        <a:bodyPr/>
        <a:lstStyle/>
        <a:p>
          <a:pPr latinLnBrk="1"/>
          <a:r>
            <a:rPr lang="en-US" altLang="ko-KR" dirty="0" err="1"/>
            <a:t>youtube</a:t>
          </a:r>
          <a:r>
            <a:rPr lang="en-US" altLang="ko-KR" dirty="0"/>
            <a:t> </a:t>
          </a:r>
          <a:r>
            <a:rPr lang="ko-KR" altLang="en-US" dirty="0"/>
            <a:t>데이터 </a:t>
          </a:r>
          <a:r>
            <a:rPr lang="en-US" altLang="ko-KR" dirty="0"/>
            <a:t>wav </a:t>
          </a:r>
          <a:r>
            <a:rPr lang="ko-KR" altLang="en-US" dirty="0"/>
            <a:t>파일로 변환</a:t>
          </a:r>
          <a:r>
            <a:rPr lang="en-US" altLang="ko-KR" dirty="0"/>
            <a:t>,</a:t>
          </a:r>
          <a:r>
            <a:rPr lang="ko-KR" altLang="en-US" dirty="0"/>
            <a:t> 필요한 부분만 추출하여 다운로드 </a:t>
          </a:r>
        </a:p>
      </dgm:t>
    </dgm:pt>
    <dgm:pt modelId="{46D134A2-D542-BE44-A68F-1AC9003EAF21}" type="parTrans" cxnId="{B585B4CF-F5E4-7040-BBDA-120673958AF2}">
      <dgm:prSet/>
      <dgm:spPr/>
      <dgm:t>
        <a:bodyPr/>
        <a:lstStyle/>
        <a:p>
          <a:pPr latinLnBrk="1"/>
          <a:endParaRPr lang="ko-KR" altLang="en-US"/>
        </a:p>
      </dgm:t>
    </dgm:pt>
    <dgm:pt modelId="{E2B20C44-F44A-7340-A911-F6AADB908BF0}" type="sibTrans" cxnId="{B585B4CF-F5E4-7040-BBDA-120673958AF2}">
      <dgm:prSet/>
      <dgm:spPr/>
      <dgm:t>
        <a:bodyPr/>
        <a:lstStyle/>
        <a:p>
          <a:pPr latinLnBrk="1"/>
          <a:endParaRPr lang="ko-KR" altLang="en-US"/>
        </a:p>
      </dgm:t>
    </dgm:pt>
    <dgm:pt modelId="{00CF1098-8500-F74A-B38B-F3E1D03309DC}" type="pres">
      <dgm:prSet presAssocID="{B4C51A9A-1713-CA48-87AE-41F40A303FD3}" presName="Name0" presStyleCnt="0">
        <dgm:presLayoutVars>
          <dgm:dir/>
          <dgm:resizeHandles val="exact"/>
        </dgm:presLayoutVars>
      </dgm:prSet>
      <dgm:spPr/>
    </dgm:pt>
    <dgm:pt modelId="{511B0095-DCD6-2C47-B4D4-95E5F5862958}" type="pres">
      <dgm:prSet presAssocID="{409DCACD-ACD9-5F43-B368-C52648E9411F}" presName="node" presStyleLbl="node1" presStyleIdx="0" presStyleCnt="4" custScaleX="118628">
        <dgm:presLayoutVars>
          <dgm:bulletEnabled val="1"/>
        </dgm:presLayoutVars>
      </dgm:prSet>
      <dgm:spPr/>
    </dgm:pt>
    <dgm:pt modelId="{D59F968C-C523-7141-91BE-347B249DB6D3}" type="pres">
      <dgm:prSet presAssocID="{E2B20C44-F44A-7340-A911-F6AADB908BF0}" presName="sibTrans" presStyleLbl="sibTrans2D1" presStyleIdx="0" presStyleCnt="3"/>
      <dgm:spPr/>
    </dgm:pt>
    <dgm:pt modelId="{90C09471-F28B-CF43-BA0D-5A5E36C9D2B5}" type="pres">
      <dgm:prSet presAssocID="{E2B20C44-F44A-7340-A911-F6AADB908BF0}" presName="connectorText" presStyleLbl="sibTrans2D1" presStyleIdx="0" presStyleCnt="3"/>
      <dgm:spPr/>
    </dgm:pt>
    <dgm:pt modelId="{46E8297D-4A02-F440-B7AD-55DC94F902CF}" type="pres">
      <dgm:prSet presAssocID="{07695C93-7A78-7A42-B4E6-1DB7B87A98D0}" presName="node" presStyleLbl="node1" presStyleIdx="1" presStyleCnt="4" custScaleX="114184">
        <dgm:presLayoutVars>
          <dgm:bulletEnabled val="1"/>
        </dgm:presLayoutVars>
      </dgm:prSet>
      <dgm:spPr/>
    </dgm:pt>
    <dgm:pt modelId="{B9975A99-F3B4-504B-B873-069DB4229BB8}" type="pres">
      <dgm:prSet presAssocID="{3700E8D1-1C80-504F-A595-6DB9DEC2CBD2}" presName="sibTrans" presStyleLbl="sibTrans2D1" presStyleIdx="1" presStyleCnt="3"/>
      <dgm:spPr/>
    </dgm:pt>
    <dgm:pt modelId="{22079492-2638-6344-B2F8-1862627C6C5C}" type="pres">
      <dgm:prSet presAssocID="{3700E8D1-1C80-504F-A595-6DB9DEC2CBD2}" presName="connectorText" presStyleLbl="sibTrans2D1" presStyleIdx="1" presStyleCnt="3"/>
      <dgm:spPr/>
    </dgm:pt>
    <dgm:pt modelId="{26F1A95E-6291-D04D-8EF1-1379517D4EEF}" type="pres">
      <dgm:prSet presAssocID="{33250929-350A-424A-BEAE-59CFCAE0D10F}" presName="node" presStyleLbl="node1" presStyleIdx="2" presStyleCnt="4" custLinFactNeighborX="30051" custLinFactNeighborY="1182">
        <dgm:presLayoutVars>
          <dgm:bulletEnabled val="1"/>
        </dgm:presLayoutVars>
      </dgm:prSet>
      <dgm:spPr/>
    </dgm:pt>
    <dgm:pt modelId="{EB3BB859-7658-4B44-B989-A5ABFF2743B5}" type="pres">
      <dgm:prSet presAssocID="{DE7135B0-0363-4D4A-9999-A1C270CED8C4}" presName="sibTrans" presStyleLbl="sibTrans2D1" presStyleIdx="2" presStyleCnt="3"/>
      <dgm:spPr/>
    </dgm:pt>
    <dgm:pt modelId="{C5A014B9-BA93-E141-8214-467E3862CD8A}" type="pres">
      <dgm:prSet presAssocID="{DE7135B0-0363-4D4A-9999-A1C270CED8C4}" presName="connectorText" presStyleLbl="sibTrans2D1" presStyleIdx="2" presStyleCnt="3"/>
      <dgm:spPr/>
    </dgm:pt>
    <dgm:pt modelId="{4D4FF3B1-BFD2-D947-A72A-A1162ED41886}" type="pres">
      <dgm:prSet presAssocID="{90D60ADB-17FF-0F4F-AB50-3AC2CE0B0B8C}" presName="node" presStyleLbl="node1" presStyleIdx="3" presStyleCnt="4">
        <dgm:presLayoutVars>
          <dgm:bulletEnabled val="1"/>
        </dgm:presLayoutVars>
      </dgm:prSet>
      <dgm:spPr/>
    </dgm:pt>
  </dgm:ptLst>
  <dgm:cxnLst>
    <dgm:cxn modelId="{7B76E60D-2E3A-8441-9BAA-BEF0ECC9FC94}" type="presOf" srcId="{33250929-350A-424A-BEAE-59CFCAE0D10F}" destId="{26F1A95E-6291-D04D-8EF1-1379517D4EEF}" srcOrd="0" destOrd="0" presId="urn:microsoft.com/office/officeart/2005/8/layout/process1"/>
    <dgm:cxn modelId="{BC6F1311-4284-564A-ABE2-EE9029998C31}" type="presOf" srcId="{3700E8D1-1C80-504F-A595-6DB9DEC2CBD2}" destId="{22079492-2638-6344-B2F8-1862627C6C5C}" srcOrd="1" destOrd="0" presId="urn:microsoft.com/office/officeart/2005/8/layout/process1"/>
    <dgm:cxn modelId="{51A0C623-DACF-3B4D-8C96-4F90A3166736}" type="presOf" srcId="{E2B20C44-F44A-7340-A911-F6AADB908BF0}" destId="{90C09471-F28B-CF43-BA0D-5A5E36C9D2B5}" srcOrd="1" destOrd="0" presId="urn:microsoft.com/office/officeart/2005/8/layout/process1"/>
    <dgm:cxn modelId="{78562747-3F22-7049-8E9D-5E49DADA52C8}" type="presOf" srcId="{DE7135B0-0363-4D4A-9999-A1C270CED8C4}" destId="{C5A014B9-BA93-E141-8214-467E3862CD8A}" srcOrd="1" destOrd="0" presId="urn:microsoft.com/office/officeart/2005/8/layout/process1"/>
    <dgm:cxn modelId="{9A9C944D-3AEC-8547-9525-128E8531D48A}" srcId="{B4C51A9A-1713-CA48-87AE-41F40A303FD3}" destId="{33250929-350A-424A-BEAE-59CFCAE0D10F}" srcOrd="2" destOrd="0" parTransId="{9E17570E-9F3A-5A44-8AD3-D6AA33759309}" sibTransId="{DE7135B0-0363-4D4A-9999-A1C270CED8C4}"/>
    <dgm:cxn modelId="{3B446955-B8D9-FC4D-9AC8-4F3160770C48}" type="presOf" srcId="{B4C51A9A-1713-CA48-87AE-41F40A303FD3}" destId="{00CF1098-8500-F74A-B38B-F3E1D03309DC}" srcOrd="0" destOrd="0" presId="urn:microsoft.com/office/officeart/2005/8/layout/process1"/>
    <dgm:cxn modelId="{F1194177-C748-F842-B7AB-9F13CC9658CB}" type="presOf" srcId="{DE7135B0-0363-4D4A-9999-A1C270CED8C4}" destId="{EB3BB859-7658-4B44-B989-A5ABFF2743B5}" srcOrd="0" destOrd="0" presId="urn:microsoft.com/office/officeart/2005/8/layout/process1"/>
    <dgm:cxn modelId="{D3934184-9AD0-8F4B-BE70-F43FEE4ACCB7}" type="presOf" srcId="{E2B20C44-F44A-7340-A911-F6AADB908BF0}" destId="{D59F968C-C523-7141-91BE-347B249DB6D3}" srcOrd="0" destOrd="0" presId="urn:microsoft.com/office/officeart/2005/8/layout/process1"/>
    <dgm:cxn modelId="{9AA72287-E747-A142-89FE-DACB8D6BC0F6}" type="presOf" srcId="{07695C93-7A78-7A42-B4E6-1DB7B87A98D0}" destId="{46E8297D-4A02-F440-B7AD-55DC94F902CF}" srcOrd="0" destOrd="0" presId="urn:microsoft.com/office/officeart/2005/8/layout/process1"/>
    <dgm:cxn modelId="{2CC4E191-37A8-4D40-BBF5-A74C0C8B8D7F}" type="presOf" srcId="{3700E8D1-1C80-504F-A595-6DB9DEC2CBD2}" destId="{B9975A99-F3B4-504B-B873-069DB4229BB8}" srcOrd="0" destOrd="0" presId="urn:microsoft.com/office/officeart/2005/8/layout/process1"/>
    <dgm:cxn modelId="{52CAE1A7-C329-7541-BDD8-1A6539081A30}" srcId="{B4C51A9A-1713-CA48-87AE-41F40A303FD3}" destId="{90D60ADB-17FF-0F4F-AB50-3AC2CE0B0B8C}" srcOrd="3" destOrd="0" parTransId="{55485043-7857-8747-8BBF-7CD65147B1F4}" sibTransId="{D3AF0536-32C1-7F45-973A-5F4D223FF07B}"/>
    <dgm:cxn modelId="{BEFD15B9-8787-A748-83DA-A849D0AF4B17}" type="presOf" srcId="{90D60ADB-17FF-0F4F-AB50-3AC2CE0B0B8C}" destId="{4D4FF3B1-BFD2-D947-A72A-A1162ED41886}" srcOrd="0" destOrd="0" presId="urn:microsoft.com/office/officeart/2005/8/layout/process1"/>
    <dgm:cxn modelId="{B585B4CF-F5E4-7040-BBDA-120673958AF2}" srcId="{B4C51A9A-1713-CA48-87AE-41F40A303FD3}" destId="{409DCACD-ACD9-5F43-B368-C52648E9411F}" srcOrd="0" destOrd="0" parTransId="{46D134A2-D542-BE44-A68F-1AC9003EAF21}" sibTransId="{E2B20C44-F44A-7340-A911-F6AADB908BF0}"/>
    <dgm:cxn modelId="{15A7B5F5-E011-9F4B-B51A-F2667694B594}" srcId="{B4C51A9A-1713-CA48-87AE-41F40A303FD3}" destId="{07695C93-7A78-7A42-B4E6-1DB7B87A98D0}" srcOrd="1" destOrd="0" parTransId="{397E137D-4894-6142-89E9-423E071D662A}" sibTransId="{3700E8D1-1C80-504F-A595-6DB9DEC2CBD2}"/>
    <dgm:cxn modelId="{9900E0FC-DDFA-F04D-8424-73DB93C5ACD1}" type="presOf" srcId="{409DCACD-ACD9-5F43-B368-C52648E9411F}" destId="{511B0095-DCD6-2C47-B4D4-95E5F5862958}" srcOrd="0" destOrd="0" presId="urn:microsoft.com/office/officeart/2005/8/layout/process1"/>
    <dgm:cxn modelId="{D327D71E-941E-AA4E-A79C-8B6670DE10D0}" type="presParOf" srcId="{00CF1098-8500-F74A-B38B-F3E1D03309DC}" destId="{511B0095-DCD6-2C47-B4D4-95E5F5862958}" srcOrd="0" destOrd="0" presId="urn:microsoft.com/office/officeart/2005/8/layout/process1"/>
    <dgm:cxn modelId="{4FFB8E1A-583D-1D4F-9854-3CBC70C2F1DC}" type="presParOf" srcId="{00CF1098-8500-F74A-B38B-F3E1D03309DC}" destId="{D59F968C-C523-7141-91BE-347B249DB6D3}" srcOrd="1" destOrd="0" presId="urn:microsoft.com/office/officeart/2005/8/layout/process1"/>
    <dgm:cxn modelId="{8B9AD398-A128-784D-983E-5DAE2ACCDC44}" type="presParOf" srcId="{D59F968C-C523-7141-91BE-347B249DB6D3}" destId="{90C09471-F28B-CF43-BA0D-5A5E36C9D2B5}" srcOrd="0" destOrd="0" presId="urn:microsoft.com/office/officeart/2005/8/layout/process1"/>
    <dgm:cxn modelId="{BA9C116F-F2D7-414F-8AC3-27C1FCF28280}" type="presParOf" srcId="{00CF1098-8500-F74A-B38B-F3E1D03309DC}" destId="{46E8297D-4A02-F440-B7AD-55DC94F902CF}" srcOrd="2" destOrd="0" presId="urn:microsoft.com/office/officeart/2005/8/layout/process1"/>
    <dgm:cxn modelId="{579D1118-BF5E-6246-B13F-436F32375036}" type="presParOf" srcId="{00CF1098-8500-F74A-B38B-F3E1D03309DC}" destId="{B9975A99-F3B4-504B-B873-069DB4229BB8}" srcOrd="3" destOrd="0" presId="urn:microsoft.com/office/officeart/2005/8/layout/process1"/>
    <dgm:cxn modelId="{55FC5436-F8F9-C943-8469-3825278BF270}" type="presParOf" srcId="{B9975A99-F3B4-504B-B873-069DB4229BB8}" destId="{22079492-2638-6344-B2F8-1862627C6C5C}" srcOrd="0" destOrd="0" presId="urn:microsoft.com/office/officeart/2005/8/layout/process1"/>
    <dgm:cxn modelId="{A7174814-8376-0940-A9D7-FC14865603D4}" type="presParOf" srcId="{00CF1098-8500-F74A-B38B-F3E1D03309DC}" destId="{26F1A95E-6291-D04D-8EF1-1379517D4EEF}" srcOrd="4" destOrd="0" presId="urn:microsoft.com/office/officeart/2005/8/layout/process1"/>
    <dgm:cxn modelId="{89EBE69E-D54A-E349-884C-6469CC24D0E9}" type="presParOf" srcId="{00CF1098-8500-F74A-B38B-F3E1D03309DC}" destId="{EB3BB859-7658-4B44-B989-A5ABFF2743B5}" srcOrd="5" destOrd="0" presId="urn:microsoft.com/office/officeart/2005/8/layout/process1"/>
    <dgm:cxn modelId="{452B7EA9-9D5D-7F4A-822E-D47DED0DC71C}" type="presParOf" srcId="{EB3BB859-7658-4B44-B989-A5ABFF2743B5}" destId="{C5A014B9-BA93-E141-8214-467E3862CD8A}" srcOrd="0" destOrd="0" presId="urn:microsoft.com/office/officeart/2005/8/layout/process1"/>
    <dgm:cxn modelId="{77821C23-27AD-F54B-ACED-8953580457DB}" type="presParOf" srcId="{00CF1098-8500-F74A-B38B-F3E1D03309DC}" destId="{4D4FF3B1-BFD2-D947-A72A-A1162ED4188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5F3069-8BDC-BB40-B161-7F29B305AEA5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861ED77F-5283-1549-9EAA-845F831B27AD}">
      <dgm:prSet phldrT="[텍스트]"/>
      <dgm:spPr/>
      <dgm:t>
        <a:bodyPr/>
        <a:lstStyle/>
        <a:p>
          <a:pPr latinLnBrk="1"/>
          <a:r>
            <a:rPr lang="ko-KR" altLang="en-US" dirty="0"/>
            <a:t>학습 </a:t>
          </a:r>
        </a:p>
      </dgm:t>
    </dgm:pt>
    <dgm:pt modelId="{2736E38B-2E33-D14A-BA91-090F546BF6BB}" type="parTrans" cxnId="{3F764FCF-2054-9D4D-BB95-F861BF417605}">
      <dgm:prSet/>
      <dgm:spPr/>
      <dgm:t>
        <a:bodyPr/>
        <a:lstStyle/>
        <a:p>
          <a:pPr latinLnBrk="1"/>
          <a:endParaRPr lang="ko-KR" altLang="en-US"/>
        </a:p>
      </dgm:t>
    </dgm:pt>
    <dgm:pt modelId="{48C436EF-1AA0-A847-917E-EAC8355A7CC7}" type="sibTrans" cxnId="{3F764FCF-2054-9D4D-BB95-F861BF417605}">
      <dgm:prSet/>
      <dgm:spPr/>
      <dgm:t>
        <a:bodyPr/>
        <a:lstStyle/>
        <a:p>
          <a:pPr latinLnBrk="1"/>
          <a:endParaRPr lang="ko-KR" altLang="en-US"/>
        </a:p>
      </dgm:t>
    </dgm:pt>
    <dgm:pt modelId="{2CA2378B-0A68-A04A-AAC6-6BF37CAA429E}">
      <dgm:prSet phldrT="[텍스트]"/>
      <dgm:spPr/>
      <dgm:t>
        <a:bodyPr/>
        <a:lstStyle/>
        <a:p>
          <a:pPr latinLnBrk="1"/>
          <a:r>
            <a:rPr lang="ko-KR" altLang="en-US" dirty="0"/>
            <a:t>검증</a:t>
          </a:r>
          <a:endParaRPr lang="en-US" altLang="ko-KR" dirty="0"/>
        </a:p>
        <a:p>
          <a:pPr latinLnBrk="1"/>
          <a:r>
            <a:rPr lang="en-US" altLang="ko-KR" dirty="0"/>
            <a:t>(</a:t>
          </a:r>
          <a:r>
            <a:rPr lang="en-US" altLang="ko-KR" dirty="0" err="1"/>
            <a:t>val</a:t>
          </a:r>
          <a:r>
            <a:rPr lang="en-US" altLang="ko-KR" dirty="0"/>
            <a:t> recall </a:t>
          </a:r>
          <a:r>
            <a:rPr lang="ko-KR" altLang="en-US" dirty="0"/>
            <a:t>모니터링</a:t>
          </a:r>
          <a:r>
            <a:rPr lang="en-US" altLang="ko-KR" dirty="0"/>
            <a:t>)</a:t>
          </a:r>
          <a:endParaRPr lang="ko-KR" altLang="en-US" dirty="0"/>
        </a:p>
      </dgm:t>
    </dgm:pt>
    <dgm:pt modelId="{50EE1474-3793-D14A-89EF-F05B656FE8C4}" type="parTrans" cxnId="{54280E0A-1B78-1B47-A271-6DAF92919981}">
      <dgm:prSet/>
      <dgm:spPr/>
      <dgm:t>
        <a:bodyPr/>
        <a:lstStyle/>
        <a:p>
          <a:pPr latinLnBrk="1"/>
          <a:endParaRPr lang="ko-KR" altLang="en-US"/>
        </a:p>
      </dgm:t>
    </dgm:pt>
    <dgm:pt modelId="{710B2CBA-8DC6-3344-AB2E-54425EA3978B}" type="sibTrans" cxnId="{54280E0A-1B78-1B47-A271-6DAF92919981}">
      <dgm:prSet/>
      <dgm:spPr/>
      <dgm:t>
        <a:bodyPr/>
        <a:lstStyle/>
        <a:p>
          <a:pPr latinLnBrk="1"/>
          <a:endParaRPr lang="ko-KR" altLang="en-US"/>
        </a:p>
      </dgm:t>
    </dgm:pt>
    <dgm:pt modelId="{37F0EA37-2FE8-8D45-BA52-68E5AECB1570}">
      <dgm:prSet phldrT="[텍스트]"/>
      <dgm:spPr/>
      <dgm:t>
        <a:bodyPr/>
        <a:lstStyle/>
        <a:p>
          <a:pPr latinLnBrk="1"/>
          <a:r>
            <a:rPr lang="ko-KR" altLang="en-US" dirty="0"/>
            <a:t>최종 모델 저장</a:t>
          </a:r>
        </a:p>
      </dgm:t>
    </dgm:pt>
    <dgm:pt modelId="{811A555C-E7CD-8348-A06F-7291F15430D1}" type="parTrans" cxnId="{166D292A-F3B3-1F44-ABD9-84B992B41328}">
      <dgm:prSet/>
      <dgm:spPr/>
      <dgm:t>
        <a:bodyPr/>
        <a:lstStyle/>
        <a:p>
          <a:pPr latinLnBrk="1"/>
          <a:endParaRPr lang="ko-KR" altLang="en-US"/>
        </a:p>
      </dgm:t>
    </dgm:pt>
    <dgm:pt modelId="{1E4F2C4B-8EA3-074F-B219-8147053EF2A7}" type="sibTrans" cxnId="{166D292A-F3B3-1F44-ABD9-84B992B41328}">
      <dgm:prSet/>
      <dgm:spPr/>
      <dgm:t>
        <a:bodyPr/>
        <a:lstStyle/>
        <a:p>
          <a:pPr latinLnBrk="1"/>
          <a:endParaRPr lang="ko-KR" altLang="en-US"/>
        </a:p>
      </dgm:t>
    </dgm:pt>
    <dgm:pt modelId="{1FBF88F6-4E00-CC44-8432-BF85619BE39A}">
      <dgm:prSet phldrT="[텍스트]"/>
      <dgm:spPr/>
      <dgm:t>
        <a:bodyPr/>
        <a:lstStyle/>
        <a:p>
          <a:pPr latinLnBrk="1"/>
          <a:r>
            <a:rPr lang="ko-KR" altLang="en-US" dirty="0"/>
            <a:t>테스트셋 평가 </a:t>
          </a:r>
          <a:r>
            <a:rPr lang="en-US" altLang="ko-KR" dirty="0"/>
            <a:t>(TP/FN</a:t>
          </a:r>
          <a:r>
            <a:rPr lang="ko-KR" altLang="en-US" dirty="0"/>
            <a:t>확인</a:t>
          </a:r>
          <a:r>
            <a:rPr lang="en-US" altLang="ko-KR" dirty="0"/>
            <a:t>)</a:t>
          </a:r>
          <a:endParaRPr lang="ko-KR" altLang="en-US" dirty="0"/>
        </a:p>
      </dgm:t>
    </dgm:pt>
    <dgm:pt modelId="{02E2ACDF-1093-DC48-B114-0B265DC2375B}" type="parTrans" cxnId="{C4281480-D672-2840-92CD-EE8AE6631198}">
      <dgm:prSet/>
      <dgm:spPr/>
      <dgm:t>
        <a:bodyPr/>
        <a:lstStyle/>
        <a:p>
          <a:pPr latinLnBrk="1"/>
          <a:endParaRPr lang="ko-KR" altLang="en-US"/>
        </a:p>
      </dgm:t>
    </dgm:pt>
    <dgm:pt modelId="{78554C1E-AC4E-534C-BD46-EE06DE9100AA}" type="sibTrans" cxnId="{C4281480-D672-2840-92CD-EE8AE6631198}">
      <dgm:prSet/>
      <dgm:spPr/>
      <dgm:t>
        <a:bodyPr/>
        <a:lstStyle/>
        <a:p>
          <a:pPr latinLnBrk="1"/>
          <a:endParaRPr lang="ko-KR" altLang="en-US"/>
        </a:p>
      </dgm:t>
    </dgm:pt>
    <dgm:pt modelId="{6F405326-6340-3D40-821D-6B22F157F995}">
      <dgm:prSet/>
      <dgm:spPr/>
      <dgm:t>
        <a:bodyPr/>
        <a:lstStyle/>
        <a:p>
          <a:pPr latinLnBrk="1"/>
          <a:r>
            <a:rPr lang="ko-KR" altLang="en-US" dirty="0"/>
            <a:t>모델 구성</a:t>
          </a:r>
        </a:p>
      </dgm:t>
    </dgm:pt>
    <dgm:pt modelId="{E5C3EABB-D981-004B-98BF-7AEF21DA6F91}" type="parTrans" cxnId="{E47F94D0-2842-2A46-8845-55FC7CA8F942}">
      <dgm:prSet/>
      <dgm:spPr/>
      <dgm:t>
        <a:bodyPr/>
        <a:lstStyle/>
        <a:p>
          <a:pPr latinLnBrk="1"/>
          <a:endParaRPr lang="ko-KR" altLang="en-US"/>
        </a:p>
      </dgm:t>
    </dgm:pt>
    <dgm:pt modelId="{5804C2AA-E63E-E644-91DA-182D7A77FBA4}" type="sibTrans" cxnId="{E47F94D0-2842-2A46-8845-55FC7CA8F942}">
      <dgm:prSet/>
      <dgm:spPr/>
      <dgm:t>
        <a:bodyPr/>
        <a:lstStyle/>
        <a:p>
          <a:pPr latinLnBrk="1"/>
          <a:endParaRPr lang="ko-KR" altLang="en-US"/>
        </a:p>
      </dgm:t>
    </dgm:pt>
    <dgm:pt modelId="{F3CF8A89-74ED-7F43-86F1-1CBE137190D7}" type="pres">
      <dgm:prSet presAssocID="{2E5F3069-8BDC-BB40-B161-7F29B305AEA5}" presName="Name0" presStyleCnt="0">
        <dgm:presLayoutVars>
          <dgm:dir/>
          <dgm:resizeHandles val="exact"/>
        </dgm:presLayoutVars>
      </dgm:prSet>
      <dgm:spPr/>
    </dgm:pt>
    <dgm:pt modelId="{14C7128D-6E7D-474E-9F18-C487C7DE57AE}" type="pres">
      <dgm:prSet presAssocID="{6F405326-6340-3D40-821D-6B22F157F995}" presName="node" presStyleLbl="node1" presStyleIdx="0" presStyleCnt="5">
        <dgm:presLayoutVars>
          <dgm:bulletEnabled val="1"/>
        </dgm:presLayoutVars>
      </dgm:prSet>
      <dgm:spPr/>
    </dgm:pt>
    <dgm:pt modelId="{E102D952-A162-0B48-981F-7FB4F4B6101A}" type="pres">
      <dgm:prSet presAssocID="{5804C2AA-E63E-E644-91DA-182D7A77FBA4}" presName="sibTrans" presStyleLbl="sibTrans2D1" presStyleIdx="0" presStyleCnt="4"/>
      <dgm:spPr/>
    </dgm:pt>
    <dgm:pt modelId="{6863FBB0-FFDF-0C47-85F1-92A9C9D53F78}" type="pres">
      <dgm:prSet presAssocID="{5804C2AA-E63E-E644-91DA-182D7A77FBA4}" presName="connectorText" presStyleLbl="sibTrans2D1" presStyleIdx="0" presStyleCnt="4"/>
      <dgm:spPr/>
    </dgm:pt>
    <dgm:pt modelId="{9086BF9C-0254-0A45-909F-4D89A06E9B5D}" type="pres">
      <dgm:prSet presAssocID="{861ED77F-5283-1549-9EAA-845F831B27AD}" presName="node" presStyleLbl="node1" presStyleIdx="1" presStyleCnt="5">
        <dgm:presLayoutVars>
          <dgm:bulletEnabled val="1"/>
        </dgm:presLayoutVars>
      </dgm:prSet>
      <dgm:spPr/>
    </dgm:pt>
    <dgm:pt modelId="{4FAF2701-546B-7E4A-B474-4AB5D1279C23}" type="pres">
      <dgm:prSet presAssocID="{48C436EF-1AA0-A847-917E-EAC8355A7CC7}" presName="sibTrans" presStyleLbl="sibTrans2D1" presStyleIdx="1" presStyleCnt="4"/>
      <dgm:spPr/>
    </dgm:pt>
    <dgm:pt modelId="{B583CF58-FAC0-C645-8710-BE7BF87A6F46}" type="pres">
      <dgm:prSet presAssocID="{48C436EF-1AA0-A847-917E-EAC8355A7CC7}" presName="connectorText" presStyleLbl="sibTrans2D1" presStyleIdx="1" presStyleCnt="4"/>
      <dgm:spPr/>
    </dgm:pt>
    <dgm:pt modelId="{7216B024-07D4-0948-80F8-43C932D05BDC}" type="pres">
      <dgm:prSet presAssocID="{2CA2378B-0A68-A04A-AAC6-6BF37CAA429E}" presName="node" presStyleLbl="node1" presStyleIdx="2" presStyleCnt="5">
        <dgm:presLayoutVars>
          <dgm:bulletEnabled val="1"/>
        </dgm:presLayoutVars>
      </dgm:prSet>
      <dgm:spPr/>
    </dgm:pt>
    <dgm:pt modelId="{DB0DB9B1-2BF0-6F4F-BC6B-5771D23809CE}" type="pres">
      <dgm:prSet presAssocID="{710B2CBA-8DC6-3344-AB2E-54425EA3978B}" presName="sibTrans" presStyleLbl="sibTrans2D1" presStyleIdx="2" presStyleCnt="4"/>
      <dgm:spPr/>
    </dgm:pt>
    <dgm:pt modelId="{1BB6C754-1E8A-2043-AE29-1A91CDD1C28B}" type="pres">
      <dgm:prSet presAssocID="{710B2CBA-8DC6-3344-AB2E-54425EA3978B}" presName="connectorText" presStyleLbl="sibTrans2D1" presStyleIdx="2" presStyleCnt="4"/>
      <dgm:spPr/>
    </dgm:pt>
    <dgm:pt modelId="{2C2CA29E-A357-6E44-BE25-497DAFCF0122}" type="pres">
      <dgm:prSet presAssocID="{1FBF88F6-4E00-CC44-8432-BF85619BE39A}" presName="node" presStyleLbl="node1" presStyleIdx="3" presStyleCnt="5" custScaleX="119779">
        <dgm:presLayoutVars>
          <dgm:bulletEnabled val="1"/>
        </dgm:presLayoutVars>
      </dgm:prSet>
      <dgm:spPr/>
    </dgm:pt>
    <dgm:pt modelId="{A8D18717-D70C-D141-B2BA-389C450E4829}" type="pres">
      <dgm:prSet presAssocID="{78554C1E-AC4E-534C-BD46-EE06DE9100AA}" presName="sibTrans" presStyleLbl="sibTrans2D1" presStyleIdx="3" presStyleCnt="4"/>
      <dgm:spPr/>
    </dgm:pt>
    <dgm:pt modelId="{392B22CA-A57C-1543-AD8C-BBE8A6C16D75}" type="pres">
      <dgm:prSet presAssocID="{78554C1E-AC4E-534C-BD46-EE06DE9100AA}" presName="connectorText" presStyleLbl="sibTrans2D1" presStyleIdx="3" presStyleCnt="4"/>
      <dgm:spPr/>
    </dgm:pt>
    <dgm:pt modelId="{E5056623-D994-1D42-B83B-CCB3FE2D91F8}" type="pres">
      <dgm:prSet presAssocID="{37F0EA37-2FE8-8D45-BA52-68E5AECB1570}" presName="node" presStyleLbl="node1" presStyleIdx="4" presStyleCnt="5">
        <dgm:presLayoutVars>
          <dgm:bulletEnabled val="1"/>
        </dgm:presLayoutVars>
      </dgm:prSet>
      <dgm:spPr/>
    </dgm:pt>
  </dgm:ptLst>
  <dgm:cxnLst>
    <dgm:cxn modelId="{BA5BEE00-2E0D-9940-8ED4-6FE5F6E25D45}" type="presOf" srcId="{5804C2AA-E63E-E644-91DA-182D7A77FBA4}" destId="{E102D952-A162-0B48-981F-7FB4F4B6101A}" srcOrd="0" destOrd="0" presId="urn:microsoft.com/office/officeart/2005/8/layout/process1"/>
    <dgm:cxn modelId="{216CFE06-2808-374E-BCEE-30CD8CD9F3B7}" type="presOf" srcId="{48C436EF-1AA0-A847-917E-EAC8355A7CC7}" destId="{B583CF58-FAC0-C645-8710-BE7BF87A6F46}" srcOrd="1" destOrd="0" presId="urn:microsoft.com/office/officeart/2005/8/layout/process1"/>
    <dgm:cxn modelId="{54280E0A-1B78-1B47-A271-6DAF92919981}" srcId="{2E5F3069-8BDC-BB40-B161-7F29B305AEA5}" destId="{2CA2378B-0A68-A04A-AAC6-6BF37CAA429E}" srcOrd="2" destOrd="0" parTransId="{50EE1474-3793-D14A-89EF-F05B656FE8C4}" sibTransId="{710B2CBA-8DC6-3344-AB2E-54425EA3978B}"/>
    <dgm:cxn modelId="{D3CF5115-EF01-464C-8A3E-A99EEF9B71A8}" type="presOf" srcId="{861ED77F-5283-1549-9EAA-845F831B27AD}" destId="{9086BF9C-0254-0A45-909F-4D89A06E9B5D}" srcOrd="0" destOrd="0" presId="urn:microsoft.com/office/officeart/2005/8/layout/process1"/>
    <dgm:cxn modelId="{166D292A-F3B3-1F44-ABD9-84B992B41328}" srcId="{2E5F3069-8BDC-BB40-B161-7F29B305AEA5}" destId="{37F0EA37-2FE8-8D45-BA52-68E5AECB1570}" srcOrd="4" destOrd="0" parTransId="{811A555C-E7CD-8348-A06F-7291F15430D1}" sibTransId="{1E4F2C4B-8EA3-074F-B219-8147053EF2A7}"/>
    <dgm:cxn modelId="{3DB5D331-784D-9E4B-A4DC-421127DB1AAE}" type="presOf" srcId="{6F405326-6340-3D40-821D-6B22F157F995}" destId="{14C7128D-6E7D-474E-9F18-C487C7DE57AE}" srcOrd="0" destOrd="0" presId="urn:microsoft.com/office/officeart/2005/8/layout/process1"/>
    <dgm:cxn modelId="{A9588842-DEE2-7A4C-ACAD-81987B6848C8}" type="presOf" srcId="{710B2CBA-8DC6-3344-AB2E-54425EA3978B}" destId="{DB0DB9B1-2BF0-6F4F-BC6B-5771D23809CE}" srcOrd="0" destOrd="0" presId="urn:microsoft.com/office/officeart/2005/8/layout/process1"/>
    <dgm:cxn modelId="{99A7B64F-E5CD-934A-952E-9A97608A4745}" type="presOf" srcId="{48C436EF-1AA0-A847-917E-EAC8355A7CC7}" destId="{4FAF2701-546B-7E4A-B474-4AB5D1279C23}" srcOrd="0" destOrd="0" presId="urn:microsoft.com/office/officeart/2005/8/layout/process1"/>
    <dgm:cxn modelId="{C8805352-0747-284C-84D1-B0D6CDB61172}" type="presOf" srcId="{78554C1E-AC4E-534C-BD46-EE06DE9100AA}" destId="{A8D18717-D70C-D141-B2BA-389C450E4829}" srcOrd="0" destOrd="0" presId="urn:microsoft.com/office/officeart/2005/8/layout/process1"/>
    <dgm:cxn modelId="{EA02AD60-8E94-CE4D-B990-EE450FDD3E44}" type="presOf" srcId="{37F0EA37-2FE8-8D45-BA52-68E5AECB1570}" destId="{E5056623-D994-1D42-B83B-CCB3FE2D91F8}" srcOrd="0" destOrd="0" presId="urn:microsoft.com/office/officeart/2005/8/layout/process1"/>
    <dgm:cxn modelId="{1E4F6C7A-FB93-9F42-9017-D38382BC6721}" type="presOf" srcId="{2CA2378B-0A68-A04A-AAC6-6BF37CAA429E}" destId="{7216B024-07D4-0948-80F8-43C932D05BDC}" srcOrd="0" destOrd="0" presId="urn:microsoft.com/office/officeart/2005/8/layout/process1"/>
    <dgm:cxn modelId="{C4281480-D672-2840-92CD-EE8AE6631198}" srcId="{2E5F3069-8BDC-BB40-B161-7F29B305AEA5}" destId="{1FBF88F6-4E00-CC44-8432-BF85619BE39A}" srcOrd="3" destOrd="0" parTransId="{02E2ACDF-1093-DC48-B114-0B265DC2375B}" sibTransId="{78554C1E-AC4E-534C-BD46-EE06DE9100AA}"/>
    <dgm:cxn modelId="{E5489F9E-C183-F64B-BD47-77E0486DF610}" type="presOf" srcId="{710B2CBA-8DC6-3344-AB2E-54425EA3978B}" destId="{1BB6C754-1E8A-2043-AE29-1A91CDD1C28B}" srcOrd="1" destOrd="0" presId="urn:microsoft.com/office/officeart/2005/8/layout/process1"/>
    <dgm:cxn modelId="{4DEE58AE-0A6A-A945-AD6E-0B94F7683B3D}" type="presOf" srcId="{5804C2AA-E63E-E644-91DA-182D7A77FBA4}" destId="{6863FBB0-FFDF-0C47-85F1-92A9C9D53F78}" srcOrd="1" destOrd="0" presId="urn:microsoft.com/office/officeart/2005/8/layout/process1"/>
    <dgm:cxn modelId="{C09402B9-3ACF-B245-8C6F-900008096E3B}" type="presOf" srcId="{1FBF88F6-4E00-CC44-8432-BF85619BE39A}" destId="{2C2CA29E-A357-6E44-BE25-497DAFCF0122}" srcOrd="0" destOrd="0" presId="urn:microsoft.com/office/officeart/2005/8/layout/process1"/>
    <dgm:cxn modelId="{3F764FCF-2054-9D4D-BB95-F861BF417605}" srcId="{2E5F3069-8BDC-BB40-B161-7F29B305AEA5}" destId="{861ED77F-5283-1549-9EAA-845F831B27AD}" srcOrd="1" destOrd="0" parTransId="{2736E38B-2E33-D14A-BA91-090F546BF6BB}" sibTransId="{48C436EF-1AA0-A847-917E-EAC8355A7CC7}"/>
    <dgm:cxn modelId="{B99271D0-65A2-DA4D-A825-909910B3B431}" type="presOf" srcId="{2E5F3069-8BDC-BB40-B161-7F29B305AEA5}" destId="{F3CF8A89-74ED-7F43-86F1-1CBE137190D7}" srcOrd="0" destOrd="0" presId="urn:microsoft.com/office/officeart/2005/8/layout/process1"/>
    <dgm:cxn modelId="{E47F94D0-2842-2A46-8845-55FC7CA8F942}" srcId="{2E5F3069-8BDC-BB40-B161-7F29B305AEA5}" destId="{6F405326-6340-3D40-821D-6B22F157F995}" srcOrd="0" destOrd="0" parTransId="{E5C3EABB-D981-004B-98BF-7AEF21DA6F91}" sibTransId="{5804C2AA-E63E-E644-91DA-182D7A77FBA4}"/>
    <dgm:cxn modelId="{4E7D16FF-A92D-8B4E-8F62-D96325BB2836}" type="presOf" srcId="{78554C1E-AC4E-534C-BD46-EE06DE9100AA}" destId="{392B22CA-A57C-1543-AD8C-BBE8A6C16D75}" srcOrd="1" destOrd="0" presId="urn:microsoft.com/office/officeart/2005/8/layout/process1"/>
    <dgm:cxn modelId="{D49FA896-8C28-E54A-B70F-C6D2EA8F46BE}" type="presParOf" srcId="{F3CF8A89-74ED-7F43-86F1-1CBE137190D7}" destId="{14C7128D-6E7D-474E-9F18-C487C7DE57AE}" srcOrd="0" destOrd="0" presId="urn:microsoft.com/office/officeart/2005/8/layout/process1"/>
    <dgm:cxn modelId="{5D4A22D0-2F8E-0542-9583-F18450723C13}" type="presParOf" srcId="{F3CF8A89-74ED-7F43-86F1-1CBE137190D7}" destId="{E102D952-A162-0B48-981F-7FB4F4B6101A}" srcOrd="1" destOrd="0" presId="urn:microsoft.com/office/officeart/2005/8/layout/process1"/>
    <dgm:cxn modelId="{D160A4F8-05A7-3A4A-ADA0-428D44E5A681}" type="presParOf" srcId="{E102D952-A162-0B48-981F-7FB4F4B6101A}" destId="{6863FBB0-FFDF-0C47-85F1-92A9C9D53F78}" srcOrd="0" destOrd="0" presId="urn:microsoft.com/office/officeart/2005/8/layout/process1"/>
    <dgm:cxn modelId="{9B57B893-D02D-7E43-B760-16DF64B79584}" type="presParOf" srcId="{F3CF8A89-74ED-7F43-86F1-1CBE137190D7}" destId="{9086BF9C-0254-0A45-909F-4D89A06E9B5D}" srcOrd="2" destOrd="0" presId="urn:microsoft.com/office/officeart/2005/8/layout/process1"/>
    <dgm:cxn modelId="{9F15E4A6-F79E-954A-87CA-6740C1828620}" type="presParOf" srcId="{F3CF8A89-74ED-7F43-86F1-1CBE137190D7}" destId="{4FAF2701-546B-7E4A-B474-4AB5D1279C23}" srcOrd="3" destOrd="0" presId="urn:microsoft.com/office/officeart/2005/8/layout/process1"/>
    <dgm:cxn modelId="{60509D26-ED73-8748-B125-922D02EFAD5A}" type="presParOf" srcId="{4FAF2701-546B-7E4A-B474-4AB5D1279C23}" destId="{B583CF58-FAC0-C645-8710-BE7BF87A6F46}" srcOrd="0" destOrd="0" presId="urn:microsoft.com/office/officeart/2005/8/layout/process1"/>
    <dgm:cxn modelId="{134C8178-FA50-754C-B702-979D623FFD88}" type="presParOf" srcId="{F3CF8A89-74ED-7F43-86F1-1CBE137190D7}" destId="{7216B024-07D4-0948-80F8-43C932D05BDC}" srcOrd="4" destOrd="0" presId="urn:microsoft.com/office/officeart/2005/8/layout/process1"/>
    <dgm:cxn modelId="{226F7865-D353-2A45-97CB-C454EEAFBEB6}" type="presParOf" srcId="{F3CF8A89-74ED-7F43-86F1-1CBE137190D7}" destId="{DB0DB9B1-2BF0-6F4F-BC6B-5771D23809CE}" srcOrd="5" destOrd="0" presId="urn:microsoft.com/office/officeart/2005/8/layout/process1"/>
    <dgm:cxn modelId="{0B0BAA0F-D0D1-F14C-89C0-AA483ED953D5}" type="presParOf" srcId="{DB0DB9B1-2BF0-6F4F-BC6B-5771D23809CE}" destId="{1BB6C754-1E8A-2043-AE29-1A91CDD1C28B}" srcOrd="0" destOrd="0" presId="urn:microsoft.com/office/officeart/2005/8/layout/process1"/>
    <dgm:cxn modelId="{83B63BD5-7D08-C24E-BB20-E936C5C2A340}" type="presParOf" srcId="{F3CF8A89-74ED-7F43-86F1-1CBE137190D7}" destId="{2C2CA29E-A357-6E44-BE25-497DAFCF0122}" srcOrd="6" destOrd="0" presId="urn:microsoft.com/office/officeart/2005/8/layout/process1"/>
    <dgm:cxn modelId="{B63F44BA-8008-244A-92CE-9126CBD3D893}" type="presParOf" srcId="{F3CF8A89-74ED-7F43-86F1-1CBE137190D7}" destId="{A8D18717-D70C-D141-B2BA-389C450E4829}" srcOrd="7" destOrd="0" presId="urn:microsoft.com/office/officeart/2005/8/layout/process1"/>
    <dgm:cxn modelId="{E2AE840A-6DD5-694B-B624-6101C6BB66A8}" type="presParOf" srcId="{A8D18717-D70C-D141-B2BA-389C450E4829}" destId="{392B22CA-A57C-1543-AD8C-BBE8A6C16D75}" srcOrd="0" destOrd="0" presId="urn:microsoft.com/office/officeart/2005/8/layout/process1"/>
    <dgm:cxn modelId="{33FF6858-E554-3943-A2F5-177A34BDC1FF}" type="presParOf" srcId="{F3CF8A89-74ED-7F43-86F1-1CBE137190D7}" destId="{E5056623-D994-1D42-B83B-CCB3FE2D91F8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1B0095-DCD6-2C47-B4D4-95E5F5862958}">
      <dsp:nvSpPr>
        <dsp:cNvPr id="0" name=""/>
        <dsp:cNvSpPr/>
      </dsp:nvSpPr>
      <dsp:spPr>
        <a:xfrm>
          <a:off x="6889" y="1475923"/>
          <a:ext cx="2330088" cy="13994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500" kern="1200" dirty="0" err="1"/>
            <a:t>youtube</a:t>
          </a:r>
          <a:r>
            <a:rPr lang="en-US" altLang="ko-KR" sz="1500" kern="1200" dirty="0"/>
            <a:t> </a:t>
          </a:r>
          <a:r>
            <a:rPr lang="ko-KR" altLang="en-US" sz="1500" kern="1200" dirty="0"/>
            <a:t>데이터 </a:t>
          </a:r>
          <a:r>
            <a:rPr lang="en-US" altLang="ko-KR" sz="1500" kern="1200" dirty="0"/>
            <a:t>wav </a:t>
          </a:r>
          <a:r>
            <a:rPr lang="ko-KR" altLang="en-US" sz="1500" kern="1200" dirty="0"/>
            <a:t>파일로 변환</a:t>
          </a:r>
          <a:r>
            <a:rPr lang="en-US" altLang="ko-KR" sz="1500" kern="1200" dirty="0"/>
            <a:t>,</a:t>
          </a:r>
          <a:r>
            <a:rPr lang="ko-KR" altLang="en-US" sz="1500" kern="1200" dirty="0"/>
            <a:t> 필요한 부분만 추출하여 다운로드 </a:t>
          </a:r>
        </a:p>
      </dsp:txBody>
      <dsp:txXfrm>
        <a:off x="47879" y="1516913"/>
        <a:ext cx="2248108" cy="1317510"/>
      </dsp:txXfrm>
    </dsp:sp>
    <dsp:sp modelId="{D59F968C-C523-7141-91BE-347B249DB6D3}">
      <dsp:nvSpPr>
        <dsp:cNvPr id="0" name=""/>
        <dsp:cNvSpPr/>
      </dsp:nvSpPr>
      <dsp:spPr>
        <a:xfrm>
          <a:off x="2533397" y="1932108"/>
          <a:ext cx="416409" cy="4871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200" kern="1200"/>
        </a:p>
      </dsp:txBody>
      <dsp:txXfrm>
        <a:off x="2533397" y="2029532"/>
        <a:ext cx="291486" cy="292273"/>
      </dsp:txXfrm>
    </dsp:sp>
    <dsp:sp modelId="{46E8297D-4A02-F440-B7AD-55DC94F902CF}">
      <dsp:nvSpPr>
        <dsp:cNvPr id="0" name=""/>
        <dsp:cNvSpPr/>
      </dsp:nvSpPr>
      <dsp:spPr>
        <a:xfrm>
          <a:off x="3122657" y="1475923"/>
          <a:ext cx="2242799" cy="13994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500" kern="1200" dirty="0"/>
            <a:t>Wav</a:t>
          </a:r>
          <a:r>
            <a:rPr lang="ko-KR" altLang="en-US" sz="1500" kern="1200" dirty="0"/>
            <a:t>파일변환한 후</a:t>
          </a:r>
          <a:endParaRPr lang="en-US" altLang="ko-KR" sz="1500" kern="1200" dirty="0"/>
        </a:p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500" kern="1200" dirty="0"/>
            <a:t>데이터 검수</a:t>
          </a:r>
        </a:p>
      </dsp:txBody>
      <dsp:txXfrm>
        <a:off x="3163647" y="1516913"/>
        <a:ext cx="2160819" cy="1317510"/>
      </dsp:txXfrm>
    </dsp:sp>
    <dsp:sp modelId="{B9975A99-F3B4-504B-B873-069DB4229BB8}">
      <dsp:nvSpPr>
        <dsp:cNvPr id="0" name=""/>
        <dsp:cNvSpPr/>
      </dsp:nvSpPr>
      <dsp:spPr>
        <a:xfrm rot="18196">
          <a:off x="5620898" y="1940829"/>
          <a:ext cx="541552" cy="4871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200" kern="1200"/>
        </a:p>
      </dsp:txBody>
      <dsp:txXfrm>
        <a:off x="5620899" y="2037866"/>
        <a:ext cx="395416" cy="292273"/>
      </dsp:txXfrm>
    </dsp:sp>
    <dsp:sp modelId="{26F1A95E-6291-D04D-8EF1-1379517D4EEF}">
      <dsp:nvSpPr>
        <dsp:cNvPr id="0" name=""/>
        <dsp:cNvSpPr/>
      </dsp:nvSpPr>
      <dsp:spPr>
        <a:xfrm>
          <a:off x="6387240" y="1492465"/>
          <a:ext cx="1964197" cy="13994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500" kern="1200" dirty="0"/>
            <a:t>MFCC </a:t>
          </a:r>
          <a:r>
            <a:rPr lang="ko-KR" altLang="en-US" sz="1500" kern="1200" dirty="0"/>
            <a:t>추출 후</a:t>
          </a:r>
          <a:r>
            <a:rPr lang="en-US" altLang="ko-KR" sz="1500" kern="1200" dirty="0"/>
            <a:t> </a:t>
          </a:r>
          <a:r>
            <a:rPr lang="ko-KR" altLang="en-US" sz="1500" kern="1200" dirty="0"/>
            <a:t>데이터 검수</a:t>
          </a:r>
          <a:endParaRPr lang="en-US" altLang="ko-KR" sz="1500" kern="1200" dirty="0"/>
        </a:p>
      </dsp:txBody>
      <dsp:txXfrm>
        <a:off x="6428230" y="1533455"/>
        <a:ext cx="1882217" cy="1317510"/>
      </dsp:txXfrm>
    </dsp:sp>
    <dsp:sp modelId="{EB3BB859-7658-4B44-B989-A5ABFF2743B5}">
      <dsp:nvSpPr>
        <dsp:cNvPr id="0" name=""/>
        <dsp:cNvSpPr/>
      </dsp:nvSpPr>
      <dsp:spPr>
        <a:xfrm rot="21577378">
          <a:off x="8488828" y="1940325"/>
          <a:ext cx="291280" cy="4871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200" kern="1200"/>
        </a:p>
      </dsp:txBody>
      <dsp:txXfrm>
        <a:off x="8488829" y="2038037"/>
        <a:ext cx="203896" cy="292273"/>
      </dsp:txXfrm>
    </dsp:sp>
    <dsp:sp modelId="{4D4FF3B1-BFD2-D947-A72A-A1162ED41886}">
      <dsp:nvSpPr>
        <dsp:cNvPr id="0" name=""/>
        <dsp:cNvSpPr/>
      </dsp:nvSpPr>
      <dsp:spPr>
        <a:xfrm>
          <a:off x="8901012" y="1475923"/>
          <a:ext cx="1964197" cy="13994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500" kern="1200" dirty="0"/>
            <a:t>dataset </a:t>
          </a:r>
          <a:r>
            <a:rPr lang="ko-KR" altLang="en-US" sz="1500" kern="1200" dirty="0"/>
            <a:t>클래스 구성</a:t>
          </a:r>
          <a:r>
            <a:rPr lang="en-US" altLang="ko-KR" sz="1500" kern="1200" dirty="0"/>
            <a:t>(</a:t>
          </a:r>
          <a:r>
            <a:rPr lang="en-US" altLang="ko-KR" sz="1500" kern="1200" dirty="0" err="1"/>
            <a:t>pytorch</a:t>
          </a:r>
          <a:r>
            <a:rPr lang="en-US" altLang="ko-KR" sz="1500" kern="1200" dirty="0"/>
            <a:t>)</a:t>
          </a:r>
          <a:endParaRPr lang="ko-KR" altLang="en-US" sz="1500" kern="1200" dirty="0"/>
        </a:p>
      </dsp:txBody>
      <dsp:txXfrm>
        <a:off x="8942002" y="1516913"/>
        <a:ext cx="1882217" cy="13175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C7128D-6E7D-474E-9F18-C487C7DE57AE}">
      <dsp:nvSpPr>
        <dsp:cNvPr id="0" name=""/>
        <dsp:cNvSpPr/>
      </dsp:nvSpPr>
      <dsp:spPr>
        <a:xfrm>
          <a:off x="4590" y="1871844"/>
          <a:ext cx="1481566" cy="1472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/>
            <a:t>모델 구성</a:t>
          </a:r>
        </a:p>
      </dsp:txBody>
      <dsp:txXfrm>
        <a:off x="47712" y="1914966"/>
        <a:ext cx="1395322" cy="1386062"/>
      </dsp:txXfrm>
    </dsp:sp>
    <dsp:sp modelId="{E102D952-A162-0B48-981F-7FB4F4B6101A}">
      <dsp:nvSpPr>
        <dsp:cNvPr id="0" name=""/>
        <dsp:cNvSpPr/>
      </dsp:nvSpPr>
      <dsp:spPr>
        <a:xfrm>
          <a:off x="1634313" y="2424283"/>
          <a:ext cx="314092" cy="3674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1634313" y="2497769"/>
        <a:ext cx="219864" cy="220456"/>
      </dsp:txXfrm>
    </dsp:sp>
    <dsp:sp modelId="{9086BF9C-0254-0A45-909F-4D89A06E9B5D}">
      <dsp:nvSpPr>
        <dsp:cNvPr id="0" name=""/>
        <dsp:cNvSpPr/>
      </dsp:nvSpPr>
      <dsp:spPr>
        <a:xfrm>
          <a:off x="2078783" y="1871844"/>
          <a:ext cx="1481566" cy="1472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/>
            <a:t>학습 </a:t>
          </a:r>
        </a:p>
      </dsp:txBody>
      <dsp:txXfrm>
        <a:off x="2121905" y="1914966"/>
        <a:ext cx="1395322" cy="1386062"/>
      </dsp:txXfrm>
    </dsp:sp>
    <dsp:sp modelId="{4FAF2701-546B-7E4A-B474-4AB5D1279C23}">
      <dsp:nvSpPr>
        <dsp:cNvPr id="0" name=""/>
        <dsp:cNvSpPr/>
      </dsp:nvSpPr>
      <dsp:spPr>
        <a:xfrm>
          <a:off x="3708506" y="2424283"/>
          <a:ext cx="314092" cy="3674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3708506" y="2497769"/>
        <a:ext cx="219864" cy="220456"/>
      </dsp:txXfrm>
    </dsp:sp>
    <dsp:sp modelId="{7216B024-07D4-0948-80F8-43C932D05BDC}">
      <dsp:nvSpPr>
        <dsp:cNvPr id="0" name=""/>
        <dsp:cNvSpPr/>
      </dsp:nvSpPr>
      <dsp:spPr>
        <a:xfrm>
          <a:off x="4152976" y="1871844"/>
          <a:ext cx="1481566" cy="1472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/>
            <a:t>검증</a:t>
          </a:r>
          <a:endParaRPr lang="en-US" altLang="ko-KR" sz="1800" kern="1200" dirty="0"/>
        </a:p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/>
            <a:t>(</a:t>
          </a:r>
          <a:r>
            <a:rPr lang="en-US" altLang="ko-KR" sz="1800" kern="1200" dirty="0" err="1"/>
            <a:t>val</a:t>
          </a:r>
          <a:r>
            <a:rPr lang="en-US" altLang="ko-KR" sz="1800" kern="1200" dirty="0"/>
            <a:t> recall </a:t>
          </a:r>
          <a:r>
            <a:rPr lang="ko-KR" altLang="en-US" sz="1800" kern="1200" dirty="0"/>
            <a:t>모니터링</a:t>
          </a:r>
          <a:r>
            <a:rPr lang="en-US" altLang="ko-KR" sz="1800" kern="1200" dirty="0"/>
            <a:t>)</a:t>
          </a:r>
          <a:endParaRPr lang="ko-KR" altLang="en-US" sz="1800" kern="1200" dirty="0"/>
        </a:p>
      </dsp:txBody>
      <dsp:txXfrm>
        <a:off x="4196098" y="1914966"/>
        <a:ext cx="1395322" cy="1386062"/>
      </dsp:txXfrm>
    </dsp:sp>
    <dsp:sp modelId="{DB0DB9B1-2BF0-6F4F-BC6B-5771D23809CE}">
      <dsp:nvSpPr>
        <dsp:cNvPr id="0" name=""/>
        <dsp:cNvSpPr/>
      </dsp:nvSpPr>
      <dsp:spPr>
        <a:xfrm>
          <a:off x="5782699" y="2424283"/>
          <a:ext cx="314092" cy="3674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5782699" y="2497769"/>
        <a:ext cx="219864" cy="220456"/>
      </dsp:txXfrm>
    </dsp:sp>
    <dsp:sp modelId="{2C2CA29E-A357-6E44-BE25-497DAFCF0122}">
      <dsp:nvSpPr>
        <dsp:cNvPr id="0" name=""/>
        <dsp:cNvSpPr/>
      </dsp:nvSpPr>
      <dsp:spPr>
        <a:xfrm>
          <a:off x="6227169" y="1871844"/>
          <a:ext cx="1774605" cy="1472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/>
            <a:t>테스트셋 평가 </a:t>
          </a:r>
          <a:r>
            <a:rPr lang="en-US" altLang="ko-KR" sz="1800" kern="1200" dirty="0"/>
            <a:t>(TP/FN</a:t>
          </a:r>
          <a:r>
            <a:rPr lang="ko-KR" altLang="en-US" sz="1800" kern="1200" dirty="0"/>
            <a:t>확인</a:t>
          </a:r>
          <a:r>
            <a:rPr lang="en-US" altLang="ko-KR" sz="1800" kern="1200" dirty="0"/>
            <a:t>)</a:t>
          </a:r>
          <a:endParaRPr lang="ko-KR" altLang="en-US" sz="1800" kern="1200" dirty="0"/>
        </a:p>
      </dsp:txBody>
      <dsp:txXfrm>
        <a:off x="6270291" y="1914966"/>
        <a:ext cx="1688361" cy="1386062"/>
      </dsp:txXfrm>
    </dsp:sp>
    <dsp:sp modelId="{A8D18717-D70C-D141-B2BA-389C450E4829}">
      <dsp:nvSpPr>
        <dsp:cNvPr id="0" name=""/>
        <dsp:cNvSpPr/>
      </dsp:nvSpPr>
      <dsp:spPr>
        <a:xfrm>
          <a:off x="8149931" y="2424283"/>
          <a:ext cx="314092" cy="3674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kern="1200"/>
        </a:p>
      </dsp:txBody>
      <dsp:txXfrm>
        <a:off x="8149931" y="2497769"/>
        <a:ext cx="219864" cy="220456"/>
      </dsp:txXfrm>
    </dsp:sp>
    <dsp:sp modelId="{E5056623-D994-1D42-B83B-CCB3FE2D91F8}">
      <dsp:nvSpPr>
        <dsp:cNvPr id="0" name=""/>
        <dsp:cNvSpPr/>
      </dsp:nvSpPr>
      <dsp:spPr>
        <a:xfrm>
          <a:off x="8594401" y="1871844"/>
          <a:ext cx="1481566" cy="1472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/>
            <a:t>최종 모델 저장</a:t>
          </a:r>
        </a:p>
      </dsp:txBody>
      <dsp:txXfrm>
        <a:off x="8637523" y="1914966"/>
        <a:ext cx="1395322" cy="13860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EC0C7-9A3B-C14F-BB65-5A230C4B5F40}" type="datetimeFigureOut">
              <a:rPr kumimoji="1" lang="ko-KR" altLang="en-US" smtClean="0"/>
              <a:t>2025. 6. 19.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6CC19C-A5C1-4A41-B27C-659325D5CDC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70868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모든 과정의 계획은 다 수립하였으나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6CC19C-A5C1-4A41-B27C-659325D5CDCA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66901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87A56A-CD95-67F0-13E3-744B13749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1B71B5-99E6-236E-1D80-BC27E527B3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F3EBA5-9426-5346-9D32-A3B6EAF7B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9C091-958D-D146-9884-E14DDF4336A4}" type="datetimeFigureOut">
              <a:rPr kumimoji="1" lang="ko-KR" altLang="en-US" smtClean="0"/>
              <a:t>2025. 6. 19.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0AE57A-C00B-6D0D-133A-3878523B4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316DDC-EDE8-8655-78EF-D1BB6A167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F1A9A-C0F6-004C-84A8-EAA3947D12C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89959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7B397F-14CB-50DD-0510-2DAAD31BA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8FD192-DF95-5CFF-AB96-2D36BCCDC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18C638-6B38-1B53-E27C-3455C1A36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9C091-958D-D146-9884-E14DDF4336A4}" type="datetimeFigureOut">
              <a:rPr kumimoji="1" lang="ko-KR" altLang="en-US" smtClean="0"/>
              <a:t>2025. 6. 19.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398398-19E1-21F7-B97D-0D6C5849F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CFE09C-DC3C-0796-05AB-B46A2ACCB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F1A9A-C0F6-004C-84A8-EAA3947D12C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66822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2AE3F1-0028-7453-DFDE-DBC6DD8B1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9D9E56-00B4-7F2B-99A9-972A7C407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F10130-FC9B-60E7-06C8-6A4776D21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9C091-958D-D146-9884-E14DDF4336A4}" type="datetimeFigureOut">
              <a:rPr kumimoji="1" lang="ko-KR" altLang="en-US" smtClean="0"/>
              <a:t>2025. 6. 19.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25120B-1274-D6E1-6AA6-B936018E5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B824AA-021D-9DA0-DC05-6694C2CF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F1A9A-C0F6-004C-84A8-EAA3947D12C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36530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0DD0E6-86F4-C0E8-3BE2-062CD5E5A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486BE7-5F0C-9010-66FB-185111C67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28DC73-6EAD-D6E2-CCDE-9113D4E28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923F7E-B1FE-3E35-FA7D-307832C3C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9C091-958D-D146-9884-E14DDF4336A4}" type="datetimeFigureOut">
              <a:rPr kumimoji="1" lang="ko-KR" altLang="en-US" smtClean="0"/>
              <a:t>2025. 6. 19.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EA9B02-7776-331D-6EE4-EC6B312C0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C08C09-6474-FDA6-A9C1-906DCC826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F1A9A-C0F6-004C-84A8-EAA3947D12C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43746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192AA6-D7F8-FFAD-901F-BC5B7F3F5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6C860B-29B7-8BC9-C1DD-FB2E01240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06924D-114B-BFDF-8993-0FE321E3F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5F8348-6366-CD34-E715-BA42BC8F18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93847F-52AC-64F0-5392-B101EBBBD1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880444E-FAC8-211A-25DC-68B797A3A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9C091-958D-D146-9884-E14DDF4336A4}" type="datetimeFigureOut">
              <a:rPr kumimoji="1" lang="ko-KR" altLang="en-US" smtClean="0"/>
              <a:t>2025. 6. 19.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B45D7F2-8FFD-9C25-60DD-710AB7148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CAE4C7D-7AC8-8720-7277-514CD15DB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F1A9A-C0F6-004C-84A8-EAA3947D12C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21861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8F89E6-D9FE-26AF-9C27-E2210CC7D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ACF5971-3628-2C42-F424-E00638D93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9C091-958D-D146-9884-E14DDF4336A4}" type="datetimeFigureOut">
              <a:rPr kumimoji="1" lang="ko-KR" altLang="en-US" smtClean="0"/>
              <a:t>2025. 6. 19.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09902CB-EAB2-CDF2-69A0-0555CFB66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24119AD-55B0-4A5F-A13E-1E20B964F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F1A9A-C0F6-004C-84A8-EAA3947D12C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63432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FCE8226-4701-E581-69FC-E132B0600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9C091-958D-D146-9884-E14DDF4336A4}" type="datetimeFigureOut">
              <a:rPr kumimoji="1" lang="ko-KR" altLang="en-US" smtClean="0"/>
              <a:t>2025. 6. 19.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9EBB7D-1084-6AA7-93B0-2DB70C077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5541A0-0D2C-9AE5-6E2A-F7DA53CDE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F1A9A-C0F6-004C-84A8-EAA3947D12C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19795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B9F16E-F2BC-B20D-F003-252EEE9B3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24DCEA-2AFC-2EE8-7630-00BCDECE2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7E3A9A-BA09-EAD3-37DA-0258F86C0C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B2A0F2-7605-97FB-EB30-5B006EA5B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9C091-958D-D146-9884-E14DDF4336A4}" type="datetimeFigureOut">
              <a:rPr kumimoji="1" lang="ko-KR" altLang="en-US" smtClean="0"/>
              <a:t>2025. 6. 19.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62F57E-C745-3BE9-966B-5D716D18E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A9B617-46F0-3397-EB43-97C616E2A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F1A9A-C0F6-004C-84A8-EAA3947D12C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14268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6A0E1F-9A72-B37F-8CDB-BD3E98229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8F300DE-EEE6-52D1-A070-2406CF1F5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C39EAB-BB0D-14A2-BF60-EF562A10C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854800-A275-A95F-3725-A11647137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9C091-958D-D146-9884-E14DDF4336A4}" type="datetimeFigureOut">
              <a:rPr kumimoji="1" lang="ko-KR" altLang="en-US" smtClean="0"/>
              <a:t>2025. 6. 19.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E1B56A-84F1-7470-01D3-BFA3D5B45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840CF9-A7FB-46F1-6F88-59F38B70B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F1A9A-C0F6-004C-84A8-EAA3947D12C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14282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70E95-EC89-8A44-2EDA-75CA293EC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A981A0-380E-5F7B-0234-4F9E8BA78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720A52-FD24-B84D-D077-5DB7C73D5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9C091-958D-D146-9884-E14DDF4336A4}" type="datetimeFigureOut">
              <a:rPr kumimoji="1" lang="ko-KR" altLang="en-US" smtClean="0"/>
              <a:t>2025. 6. 19.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820312-F43B-7F58-83DE-4221E1A55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2FDDBD-EEC7-6FAB-36B6-21D201A7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F1A9A-C0F6-004C-84A8-EAA3947D12C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21146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0D3CCDD-3B5D-6C98-4E67-6F63302C42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3F9BFC-7EE2-F65C-D058-561E4845AD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31A198-6ABC-58CA-1843-B0C273D01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9C091-958D-D146-9884-E14DDF4336A4}" type="datetimeFigureOut">
              <a:rPr kumimoji="1" lang="ko-KR" altLang="en-US" smtClean="0"/>
              <a:t>2025. 6. 19.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1DF93D-A7C5-3803-E3C3-91F05EEA9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5F5CAD-FCF6-7F0E-7AF2-97F3C8610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F1A9A-C0F6-004C-84A8-EAA3947D12C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25068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DB439FF-9DF9-EEC0-BAF8-12600C7E4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5D4ED0-9BCC-7173-1609-6BEEED1A1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25C997-0A87-C480-7D26-8A5D66EA0C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29C091-958D-D146-9884-E14DDF4336A4}" type="datetimeFigureOut">
              <a:rPr kumimoji="1" lang="ko-KR" altLang="en-US" smtClean="0"/>
              <a:t>2025. 6. 19.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2DD86E-E54C-831F-00D0-BD549D81F8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426958-4F4D-E6C2-C749-A2B783C90C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AF1A9A-C0F6-004C-84A8-EAA3947D12C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91611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research.google.com/audioset/dataset/fire_alarm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minimac/Desktop/fire_classification/unbalanced_train_segments.csv" TargetMode="External"/><Relationship Id="rId2" Type="http://schemas.openxmlformats.org/officeDocument/2006/relationships/hyperlink" Target="file:///Users/minimac/Desktop/fire_classification/class_labels_indices.csv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file:///Users/minimac/Desktop/fire_classification/youtube_to_wav_data_collection.ipynb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wav_to_mfcc.ipynb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160B29-1FC4-D5FC-793C-07B92E8CA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8579" y="1214438"/>
            <a:ext cx="11214538" cy="2387600"/>
          </a:xfrm>
        </p:spPr>
        <p:txBody>
          <a:bodyPr/>
          <a:lstStyle/>
          <a:p>
            <a:r>
              <a:rPr kumimoji="1" lang="ko-KR" altLang="en-US" dirty="0"/>
              <a:t>재난경보음 분류 알고리즘 </a:t>
            </a:r>
            <a:br>
              <a:rPr kumimoji="1" lang="en-US" altLang="ko-KR" dirty="0"/>
            </a:br>
            <a:r>
              <a:rPr kumimoji="1" lang="ko-KR" altLang="en-US" dirty="0"/>
              <a:t>진행상황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06E8146-E396-4B6E-F977-FE8E53C8F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7807" y="4348273"/>
            <a:ext cx="9144000" cy="1655762"/>
          </a:xfrm>
        </p:spPr>
        <p:txBody>
          <a:bodyPr/>
          <a:lstStyle/>
          <a:p>
            <a:r>
              <a:rPr kumimoji="1" lang="en-US" altLang="ko-KR" dirty="0"/>
              <a:t>AI</a:t>
            </a:r>
            <a:r>
              <a:rPr kumimoji="1" lang="ko-KR" altLang="en-US" dirty="0"/>
              <a:t>정보공학과 안유민 </a:t>
            </a:r>
          </a:p>
        </p:txBody>
      </p:sp>
    </p:spTree>
    <p:extLst>
      <p:ext uri="{BB962C8B-B14F-4D97-AF65-F5344CB8AC3E}">
        <p14:creationId xmlns:p14="http://schemas.microsoft.com/office/powerpoint/2010/main" val="916478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CA529-EA45-CB45-03C3-E450B3C4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수집한 데이터세트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27D8F9-7022-7DC1-E9A0-46295FF5E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" y="1548448"/>
            <a:ext cx="11475720" cy="4944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ko-KR" altLang="en-US" dirty="0"/>
              <a:t>재난 경보음만 따로 모아둔 음성데이터세트 없었음</a:t>
            </a:r>
            <a:r>
              <a:rPr kumimoji="1" lang="en-US" altLang="ko-KR" dirty="0"/>
              <a:t>(</a:t>
            </a:r>
            <a:r>
              <a:rPr kumimoji="1" lang="ko-KR" altLang="en-US" dirty="0"/>
              <a:t>사이렌만 존재</a:t>
            </a:r>
            <a:r>
              <a:rPr kumimoji="1" lang="en-US" altLang="ko-KR" dirty="0"/>
              <a:t>)</a:t>
            </a:r>
            <a:r>
              <a:rPr kumimoji="1" lang="ko-KR" altLang="en-US" dirty="0"/>
              <a:t> </a:t>
            </a:r>
            <a:r>
              <a:rPr kumimoji="1" lang="en-US" altLang="ko-KR" dirty="0"/>
              <a:t>&gt;&gt;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youtube</a:t>
            </a:r>
            <a:r>
              <a:rPr kumimoji="1" lang="en-US" altLang="ko-KR" dirty="0"/>
              <a:t> 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ko-KR" altLang="en-US" dirty="0"/>
              <a:t>데이터세트 링크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>
                <a:hlinkClick r:id="rId2"/>
              </a:rPr>
              <a:t>https://research.google.com/audioset/dataset/fire_alarm.html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&lt;</a:t>
            </a:r>
            <a:r>
              <a:rPr kumimoji="1" lang="en-US" altLang="ko-KR" dirty="0" err="1"/>
              <a:t>Audioset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lang="en-US" altLang="ko-KR" dirty="0"/>
              <a:t>2,041,789</a:t>
            </a:r>
            <a:r>
              <a:rPr lang="ko-KR" altLang="en-US" dirty="0"/>
              <a:t> 행</a:t>
            </a:r>
            <a:r>
              <a:rPr kumimoji="1" lang="en-US" altLang="ko-KR" dirty="0"/>
              <a:t>&gt;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ko-KR" altLang="en-US" dirty="0"/>
              <a:t>유튜브 동영상과 메타데이터를 참조해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ko-KR" altLang="en-US" dirty="0"/>
              <a:t>필요한 구간만 </a:t>
            </a:r>
            <a:r>
              <a:rPr kumimoji="1" lang="ko-KR" altLang="en-US" dirty="0" err="1"/>
              <a:t>슬라이싱하고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wav(</a:t>
            </a:r>
            <a:r>
              <a:rPr kumimoji="1" lang="ko-KR" altLang="en-US" dirty="0"/>
              <a:t>음성파일</a:t>
            </a:r>
            <a:r>
              <a:rPr kumimoji="1" lang="en-US" altLang="ko-KR" dirty="0"/>
              <a:t>)</a:t>
            </a:r>
            <a:r>
              <a:rPr kumimoji="1" lang="ko-KR" altLang="en-US" dirty="0"/>
              <a:t>로 변환하여 다운 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43996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8CE96A-FB6F-1509-82C6-1E69C1C36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9424" y="282052"/>
            <a:ext cx="12013735" cy="4351338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ko-KR" altLang="en-US" sz="6400" b="1" dirty="0"/>
              <a:t>🔊 사람의 소리 </a:t>
            </a:r>
            <a:r>
              <a:rPr lang="en-US" altLang="ko-KR" sz="6400" b="1" dirty="0"/>
              <a:t>(</a:t>
            </a:r>
            <a:r>
              <a:rPr lang="en" altLang="ko-KR" sz="6400" b="1" dirty="0"/>
              <a:t>Speech &amp; Vocal Sounds)</a:t>
            </a:r>
          </a:p>
          <a:p>
            <a:pPr>
              <a:lnSpc>
                <a:spcPct val="120000"/>
              </a:lnSpc>
            </a:pPr>
            <a:r>
              <a:rPr lang="ko-KR" altLang="en-US" sz="6400" dirty="0"/>
              <a:t>말소리</a:t>
            </a:r>
            <a:r>
              <a:rPr lang="en-US" altLang="ko-KR" sz="6400" dirty="0"/>
              <a:t>, </a:t>
            </a:r>
            <a:r>
              <a:rPr lang="ko-KR" altLang="en-US" sz="6400" dirty="0"/>
              <a:t>남성 말소리</a:t>
            </a:r>
            <a:r>
              <a:rPr lang="en-US" altLang="ko-KR" sz="6400" dirty="0"/>
              <a:t>, </a:t>
            </a:r>
            <a:r>
              <a:rPr lang="ko-KR" altLang="en-US" sz="6400" dirty="0"/>
              <a:t>여성 말소리</a:t>
            </a:r>
            <a:r>
              <a:rPr lang="en-US" altLang="ko-KR" sz="6400" dirty="0"/>
              <a:t>, </a:t>
            </a:r>
            <a:r>
              <a:rPr lang="ko-KR" altLang="en-US" sz="6400" dirty="0"/>
              <a:t>아이 말소리</a:t>
            </a:r>
            <a:r>
              <a:rPr lang="en-US" altLang="ko-KR" sz="6400" dirty="0"/>
              <a:t>, </a:t>
            </a:r>
            <a:r>
              <a:rPr lang="ko-KR" altLang="en-US" sz="6400" dirty="0"/>
              <a:t>대화</a:t>
            </a:r>
            <a:r>
              <a:rPr lang="en-US" altLang="ko-KR" sz="6400" dirty="0"/>
              <a:t>, </a:t>
            </a:r>
            <a:r>
              <a:rPr lang="ko-KR" altLang="en-US" sz="6400" dirty="0"/>
              <a:t>내레이션</a:t>
            </a:r>
            <a:r>
              <a:rPr lang="en-US" altLang="ko-KR" sz="6400" dirty="0"/>
              <a:t>, </a:t>
            </a:r>
            <a:r>
              <a:rPr lang="ko-KR" altLang="en-US" sz="6400" dirty="0"/>
              <a:t>독백</a:t>
            </a:r>
            <a:r>
              <a:rPr lang="en-US" altLang="ko-KR" sz="6400" dirty="0"/>
              <a:t>, </a:t>
            </a:r>
            <a:r>
              <a:rPr lang="ko-KR" altLang="en-US" sz="6400" dirty="0"/>
              <a:t>옹알이</a:t>
            </a:r>
            <a:r>
              <a:rPr lang="en-US" altLang="ko-KR" sz="6400" dirty="0"/>
              <a:t>, </a:t>
            </a:r>
            <a:r>
              <a:rPr lang="ko-KR" altLang="en-US" sz="6400" dirty="0"/>
              <a:t>음성 합성</a:t>
            </a:r>
            <a:r>
              <a:rPr lang="en-US" altLang="ko-KR" sz="6400" dirty="0"/>
              <a:t>, </a:t>
            </a:r>
            <a:r>
              <a:rPr lang="ko-KR" altLang="en-US" sz="6400" dirty="0"/>
              <a:t>고함</a:t>
            </a:r>
            <a:r>
              <a:rPr lang="en-US" altLang="ko-KR" sz="6400" dirty="0"/>
              <a:t>, </a:t>
            </a:r>
            <a:r>
              <a:rPr lang="ko-KR" altLang="en-US" sz="6400" dirty="0"/>
              <a:t>외침</a:t>
            </a:r>
            <a:r>
              <a:rPr lang="en-US" altLang="ko-KR" sz="6400" dirty="0"/>
              <a:t>, </a:t>
            </a:r>
            <a:r>
              <a:rPr lang="ko-KR" altLang="en-US" sz="6400" dirty="0"/>
              <a:t>환호</a:t>
            </a:r>
            <a:r>
              <a:rPr lang="en-US" altLang="ko-KR" sz="6400" dirty="0"/>
              <a:t>, </a:t>
            </a:r>
            <a:r>
              <a:rPr lang="ko-KR" altLang="en-US" sz="6400" dirty="0"/>
              <a:t>소리침</a:t>
            </a:r>
            <a:r>
              <a:rPr lang="en-US" altLang="ko-KR" sz="6400" dirty="0"/>
              <a:t>, </a:t>
            </a:r>
            <a:r>
              <a:rPr lang="ko-KR" altLang="en-US" sz="6400" dirty="0"/>
              <a:t>전투의 외침</a:t>
            </a:r>
            <a:r>
              <a:rPr lang="en-US" altLang="ko-KR" sz="6400" dirty="0"/>
              <a:t>, </a:t>
            </a:r>
            <a:r>
              <a:rPr lang="ko-KR" altLang="en-US" sz="6400" dirty="0"/>
              <a:t>아이들 소리침</a:t>
            </a:r>
            <a:r>
              <a:rPr lang="en-US" altLang="ko-KR" sz="6400" dirty="0"/>
              <a:t>, </a:t>
            </a:r>
            <a:r>
              <a:rPr lang="ko-KR" altLang="en-US" sz="6400" dirty="0"/>
              <a:t>비명</a:t>
            </a:r>
            <a:r>
              <a:rPr lang="en-US" altLang="ko-KR" sz="6400" dirty="0"/>
              <a:t>, </a:t>
            </a:r>
            <a:r>
              <a:rPr lang="ko-KR" altLang="en-US" sz="6400" dirty="0"/>
              <a:t>속삭임</a:t>
            </a:r>
            <a:r>
              <a:rPr lang="en-US" altLang="ko-KR" sz="6400" dirty="0"/>
              <a:t>, </a:t>
            </a:r>
            <a:r>
              <a:rPr lang="ko-KR" altLang="en-US" sz="6400" dirty="0"/>
              <a:t>웃음</a:t>
            </a:r>
            <a:r>
              <a:rPr lang="en-US" altLang="ko-KR" sz="6400" dirty="0"/>
              <a:t>, </a:t>
            </a:r>
            <a:r>
              <a:rPr lang="ko-KR" altLang="en-US" sz="6400" dirty="0"/>
              <a:t>아기 웃음</a:t>
            </a:r>
            <a:r>
              <a:rPr lang="en-US" altLang="ko-KR" sz="6400" dirty="0"/>
              <a:t>, </a:t>
            </a:r>
            <a:r>
              <a:rPr lang="ko-KR" altLang="en-US" sz="6400" dirty="0"/>
              <a:t>킥킥 웃음</a:t>
            </a:r>
            <a:r>
              <a:rPr lang="en-US" altLang="ko-KR" sz="6400" dirty="0"/>
              <a:t>, </a:t>
            </a:r>
            <a:r>
              <a:rPr lang="ko-KR" altLang="en-US" sz="6400" dirty="0"/>
              <a:t>낄낄 웃음</a:t>
            </a:r>
            <a:r>
              <a:rPr lang="en-US" altLang="ko-KR" sz="6400" dirty="0"/>
              <a:t>, </a:t>
            </a:r>
            <a:r>
              <a:rPr lang="ko-KR" altLang="en-US" sz="6400" dirty="0"/>
              <a:t>배꼽 잡는 웃음</a:t>
            </a:r>
            <a:r>
              <a:rPr lang="en-US" altLang="ko-KR" sz="6400" dirty="0"/>
              <a:t>, </a:t>
            </a:r>
            <a:r>
              <a:rPr lang="ko-KR" altLang="en-US" sz="6400" dirty="0"/>
              <a:t>피식 웃음</a:t>
            </a:r>
            <a:r>
              <a:rPr lang="en-US" altLang="ko-KR" sz="6400" dirty="0"/>
              <a:t>, </a:t>
            </a:r>
            <a:r>
              <a:rPr lang="ko-KR" altLang="en-US" sz="6400" dirty="0"/>
              <a:t>울음</a:t>
            </a:r>
            <a:r>
              <a:rPr lang="en-US" altLang="ko-KR" sz="6400" dirty="0"/>
              <a:t>, </a:t>
            </a:r>
            <a:r>
              <a:rPr lang="ko-KR" altLang="en-US" sz="6400" dirty="0"/>
              <a:t>아기 울음</a:t>
            </a:r>
            <a:r>
              <a:rPr lang="en-US" altLang="ko-KR" sz="6400" dirty="0"/>
              <a:t>, </a:t>
            </a:r>
            <a:r>
              <a:rPr lang="ko-KR" altLang="en-US" sz="6400" dirty="0"/>
              <a:t>훌쩍임</a:t>
            </a:r>
            <a:r>
              <a:rPr lang="en-US" altLang="ko-KR" sz="6400" dirty="0"/>
              <a:t>, </a:t>
            </a:r>
            <a:r>
              <a:rPr lang="ko-KR" altLang="en-US" sz="6400" dirty="0"/>
              <a:t>통곡</a:t>
            </a:r>
            <a:r>
              <a:rPr lang="en-US" altLang="ko-KR" sz="6400" dirty="0"/>
              <a:t>, </a:t>
            </a:r>
            <a:r>
              <a:rPr lang="ko-KR" altLang="en-US" sz="6400" dirty="0"/>
              <a:t>한숨</a:t>
            </a:r>
            <a:r>
              <a:rPr lang="en-US" altLang="ko-KR" sz="6400" dirty="0"/>
              <a:t>, </a:t>
            </a:r>
            <a:r>
              <a:rPr lang="ko-KR" altLang="en-US" sz="6400" dirty="0"/>
              <a:t>노래</a:t>
            </a:r>
            <a:r>
              <a:rPr lang="en-US" altLang="ko-KR" sz="6400" dirty="0"/>
              <a:t>, </a:t>
            </a:r>
            <a:r>
              <a:rPr lang="ko-KR" altLang="en-US" sz="6400" dirty="0"/>
              <a:t>합창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요들송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챈트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만트라</a:t>
            </a:r>
            <a:r>
              <a:rPr lang="en-US" altLang="ko-KR" sz="6400" dirty="0"/>
              <a:t>, </a:t>
            </a:r>
            <a:r>
              <a:rPr lang="ko-KR" altLang="en-US" sz="6400" dirty="0"/>
              <a:t>남성 노래</a:t>
            </a:r>
            <a:r>
              <a:rPr lang="en-US" altLang="ko-KR" sz="6400" dirty="0"/>
              <a:t>, </a:t>
            </a:r>
            <a:r>
              <a:rPr lang="ko-KR" altLang="en-US" sz="6400" dirty="0"/>
              <a:t>여성 노래</a:t>
            </a:r>
            <a:r>
              <a:rPr lang="en-US" altLang="ko-KR" sz="6400" dirty="0"/>
              <a:t>, </a:t>
            </a:r>
            <a:r>
              <a:rPr lang="ko-KR" altLang="en-US" sz="6400" dirty="0"/>
              <a:t>아이 노래</a:t>
            </a:r>
            <a:r>
              <a:rPr lang="en-US" altLang="ko-KR" sz="6400" dirty="0"/>
              <a:t>, </a:t>
            </a:r>
            <a:r>
              <a:rPr lang="ko-KR" altLang="en-US" sz="6400" dirty="0"/>
              <a:t>인공 노래</a:t>
            </a:r>
            <a:r>
              <a:rPr lang="en-US" altLang="ko-KR" sz="6400" dirty="0"/>
              <a:t>, </a:t>
            </a:r>
            <a:r>
              <a:rPr lang="ko-KR" altLang="en-US" sz="6400" dirty="0"/>
              <a:t>랩</a:t>
            </a:r>
            <a:r>
              <a:rPr lang="en-US" altLang="ko-KR" sz="6400" dirty="0"/>
              <a:t>, </a:t>
            </a:r>
            <a:r>
              <a:rPr lang="ko-KR" altLang="en-US" sz="6400" dirty="0"/>
              <a:t>허밍</a:t>
            </a:r>
            <a:r>
              <a:rPr lang="en-US" altLang="ko-KR" sz="6400" dirty="0"/>
              <a:t>, </a:t>
            </a:r>
            <a:r>
              <a:rPr lang="ko-KR" altLang="en-US" sz="6400" dirty="0"/>
              <a:t>신음</a:t>
            </a:r>
            <a:r>
              <a:rPr lang="en-US" altLang="ko-KR" sz="6400" dirty="0"/>
              <a:t>, </a:t>
            </a:r>
            <a:r>
              <a:rPr lang="ko-KR" altLang="en-US" sz="6400" dirty="0"/>
              <a:t>끙끙거림</a:t>
            </a:r>
            <a:r>
              <a:rPr lang="en-US" altLang="ko-KR" sz="6400" dirty="0"/>
              <a:t>, </a:t>
            </a:r>
            <a:r>
              <a:rPr lang="ko-KR" altLang="en-US" sz="6400" dirty="0"/>
              <a:t>휘파람</a:t>
            </a:r>
            <a:r>
              <a:rPr lang="en-US" altLang="ko-KR" sz="6400" dirty="0"/>
              <a:t>, </a:t>
            </a:r>
            <a:r>
              <a:rPr lang="ko-KR" altLang="en-US" sz="6400" dirty="0"/>
              <a:t>호흡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쌕쌕거림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코골이</a:t>
            </a:r>
            <a:r>
              <a:rPr lang="en-US" altLang="ko-KR" sz="6400" dirty="0"/>
              <a:t>, </a:t>
            </a:r>
            <a:r>
              <a:rPr lang="ko-KR" altLang="en-US" sz="6400" dirty="0"/>
              <a:t>헐떡임</a:t>
            </a:r>
            <a:r>
              <a:rPr lang="en-US" altLang="ko-KR" sz="6400" dirty="0"/>
              <a:t>, </a:t>
            </a:r>
            <a:r>
              <a:rPr lang="ko-KR" altLang="en-US" sz="6400" dirty="0"/>
              <a:t>콧김</a:t>
            </a:r>
            <a:r>
              <a:rPr lang="en-US" altLang="ko-KR" sz="6400" dirty="0"/>
              <a:t>, </a:t>
            </a:r>
            <a:r>
              <a:rPr lang="ko-KR" altLang="en-US" sz="6400" dirty="0"/>
              <a:t>기침</a:t>
            </a:r>
            <a:r>
              <a:rPr lang="en-US" altLang="ko-KR" sz="6400" dirty="0"/>
              <a:t>, </a:t>
            </a:r>
            <a:r>
              <a:rPr lang="ko-KR" altLang="en-US" sz="6400" dirty="0"/>
              <a:t>목 가다듬기</a:t>
            </a:r>
            <a:r>
              <a:rPr lang="en-US" altLang="ko-KR" sz="6400" dirty="0"/>
              <a:t>, </a:t>
            </a:r>
            <a:r>
              <a:rPr lang="ko-KR" altLang="en-US" sz="6400" dirty="0"/>
              <a:t>재채기</a:t>
            </a:r>
            <a:r>
              <a:rPr lang="en-US" altLang="ko-KR" sz="6400" dirty="0"/>
              <a:t>, </a:t>
            </a:r>
            <a:r>
              <a:rPr lang="ko-KR" altLang="en-US" sz="6400" dirty="0"/>
              <a:t>킁킁거림</a:t>
            </a:r>
          </a:p>
          <a:p>
            <a:pPr>
              <a:lnSpc>
                <a:spcPct val="120000"/>
              </a:lnSpc>
            </a:pPr>
            <a:r>
              <a:rPr lang="ko-KR" altLang="en-US" sz="6400" b="1" dirty="0"/>
              <a:t>🐾 동물의 소리 </a:t>
            </a:r>
            <a:r>
              <a:rPr lang="en-US" altLang="ko-KR" sz="6400" b="1" dirty="0"/>
              <a:t>(</a:t>
            </a:r>
            <a:r>
              <a:rPr lang="en" altLang="ko-KR" sz="6400" b="1" dirty="0"/>
              <a:t>Animal Sounds)</a:t>
            </a:r>
          </a:p>
          <a:p>
            <a:pPr>
              <a:lnSpc>
                <a:spcPct val="120000"/>
              </a:lnSpc>
            </a:pPr>
            <a:r>
              <a:rPr lang="ko-KR" altLang="en-US" sz="6400" dirty="0"/>
              <a:t>개</a:t>
            </a:r>
            <a:r>
              <a:rPr lang="en-US" altLang="ko-KR" sz="6400" dirty="0"/>
              <a:t>, </a:t>
            </a:r>
            <a:r>
              <a:rPr lang="ko-KR" altLang="en-US" sz="6400" dirty="0"/>
              <a:t>짖는 소리</a:t>
            </a:r>
            <a:r>
              <a:rPr lang="en-US" altLang="ko-KR" sz="6400" dirty="0"/>
              <a:t>, </a:t>
            </a:r>
            <a:r>
              <a:rPr lang="ko-KR" altLang="en-US" sz="6400" dirty="0"/>
              <a:t>낑낑거림</a:t>
            </a:r>
            <a:r>
              <a:rPr lang="en-US" altLang="ko-KR" sz="6400" dirty="0"/>
              <a:t>, </a:t>
            </a:r>
            <a:r>
              <a:rPr lang="ko-KR" altLang="en-US" sz="6400" dirty="0"/>
              <a:t>울부짖음</a:t>
            </a:r>
            <a:r>
              <a:rPr lang="en-US" altLang="ko-KR" sz="6400" dirty="0"/>
              <a:t>, </a:t>
            </a:r>
            <a:r>
              <a:rPr lang="ko-KR" altLang="en-US" sz="6400" dirty="0"/>
              <a:t>고양이</a:t>
            </a:r>
            <a:r>
              <a:rPr lang="en-US" altLang="ko-KR" sz="6400" dirty="0"/>
              <a:t>, </a:t>
            </a:r>
            <a:r>
              <a:rPr lang="ko-KR" altLang="en-US" sz="6400" dirty="0"/>
              <a:t>야옹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갸르릉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하악질</a:t>
            </a:r>
            <a:r>
              <a:rPr lang="en-US" altLang="ko-KR" sz="6400" dirty="0"/>
              <a:t>, </a:t>
            </a:r>
            <a:r>
              <a:rPr lang="ko-KR" altLang="en-US" sz="6400" dirty="0"/>
              <a:t>가축</a:t>
            </a:r>
            <a:r>
              <a:rPr lang="en-US" altLang="ko-KR" sz="6400" dirty="0"/>
              <a:t>, </a:t>
            </a:r>
            <a:r>
              <a:rPr lang="ko-KR" altLang="en-US" sz="6400" dirty="0"/>
              <a:t>말</a:t>
            </a:r>
            <a:r>
              <a:rPr lang="en-US" altLang="ko-KR" sz="6400" dirty="0"/>
              <a:t>, </a:t>
            </a:r>
            <a:r>
              <a:rPr lang="ko-KR" altLang="en-US" sz="6400" dirty="0"/>
              <a:t>말발굽 소리</a:t>
            </a:r>
            <a:r>
              <a:rPr lang="en-US" altLang="ko-KR" sz="6400" dirty="0"/>
              <a:t>, </a:t>
            </a:r>
            <a:r>
              <a:rPr lang="ko-KR" altLang="en-US" sz="6400" dirty="0"/>
              <a:t>말 울음소리</a:t>
            </a:r>
            <a:r>
              <a:rPr lang="en-US" altLang="ko-KR" sz="6400" dirty="0"/>
              <a:t>, </a:t>
            </a:r>
            <a:r>
              <a:rPr lang="ko-KR" altLang="en-US" sz="6400" dirty="0"/>
              <a:t>소</a:t>
            </a:r>
            <a:r>
              <a:rPr lang="en-US" altLang="ko-KR" sz="6400" dirty="0"/>
              <a:t>, </a:t>
            </a:r>
            <a:r>
              <a:rPr lang="ko-KR" altLang="en-US" sz="6400" dirty="0"/>
              <a:t>음매</a:t>
            </a:r>
            <a:r>
              <a:rPr lang="en-US" altLang="ko-KR" sz="6400" dirty="0"/>
              <a:t>, </a:t>
            </a:r>
            <a:r>
              <a:rPr lang="ko-KR" altLang="en-US" sz="6400" dirty="0"/>
              <a:t>소 방울</a:t>
            </a:r>
            <a:r>
              <a:rPr lang="en-US" altLang="ko-KR" sz="6400" dirty="0"/>
              <a:t>, </a:t>
            </a:r>
            <a:r>
              <a:rPr lang="ko-KR" altLang="en-US" sz="6400" dirty="0"/>
              <a:t>돼지</a:t>
            </a:r>
            <a:r>
              <a:rPr lang="en-US" altLang="ko-KR" sz="6400" dirty="0"/>
              <a:t>, </a:t>
            </a:r>
            <a:r>
              <a:rPr lang="ko-KR" altLang="en-US" sz="6400" dirty="0"/>
              <a:t>꿀꿀</a:t>
            </a:r>
            <a:r>
              <a:rPr lang="en-US" altLang="ko-KR" sz="6400" dirty="0"/>
              <a:t>, </a:t>
            </a:r>
            <a:r>
              <a:rPr lang="ko-KR" altLang="en-US" sz="6400" dirty="0"/>
              <a:t>염소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매애</a:t>
            </a:r>
            <a:r>
              <a:rPr lang="en-US" altLang="ko-KR" sz="6400" dirty="0"/>
              <a:t>, </a:t>
            </a:r>
            <a:r>
              <a:rPr lang="ko-KR" altLang="en-US" sz="6400" dirty="0"/>
              <a:t>양</a:t>
            </a:r>
            <a:r>
              <a:rPr lang="en-US" altLang="ko-KR" sz="6400" dirty="0"/>
              <a:t>, </a:t>
            </a:r>
            <a:r>
              <a:rPr lang="ko-KR" altLang="en-US" sz="6400" dirty="0"/>
              <a:t>닭</a:t>
            </a:r>
            <a:r>
              <a:rPr lang="en-US" altLang="ko-KR" sz="6400" dirty="0"/>
              <a:t>, </a:t>
            </a:r>
            <a:r>
              <a:rPr lang="ko-KR" altLang="en-US" sz="6400" dirty="0"/>
              <a:t>꼬꼬댁</a:t>
            </a:r>
            <a:r>
              <a:rPr lang="en-US" altLang="ko-KR" sz="6400" dirty="0"/>
              <a:t>, </a:t>
            </a:r>
            <a:r>
              <a:rPr lang="ko-KR" altLang="en-US" sz="6400" dirty="0"/>
              <a:t>수탉 울음소리</a:t>
            </a:r>
            <a:r>
              <a:rPr lang="en-US" altLang="ko-KR" sz="6400" dirty="0"/>
              <a:t>, </a:t>
            </a:r>
            <a:r>
              <a:rPr lang="ko-KR" altLang="en-US" sz="6400" dirty="0"/>
              <a:t>칠면조</a:t>
            </a:r>
            <a:r>
              <a:rPr lang="en-US" altLang="ko-KR" sz="6400" dirty="0"/>
              <a:t>, </a:t>
            </a:r>
            <a:r>
              <a:rPr lang="ko-KR" altLang="en-US" sz="6400" dirty="0"/>
              <a:t>구구</a:t>
            </a:r>
            <a:r>
              <a:rPr lang="en-US" altLang="ko-KR" sz="6400" dirty="0"/>
              <a:t>, </a:t>
            </a:r>
            <a:r>
              <a:rPr lang="ko-KR" altLang="en-US" sz="6400" dirty="0"/>
              <a:t>오리</a:t>
            </a:r>
            <a:r>
              <a:rPr lang="en-US" altLang="ko-KR" sz="6400" dirty="0"/>
              <a:t>, </a:t>
            </a:r>
            <a:r>
              <a:rPr lang="ko-KR" altLang="en-US" sz="6400" dirty="0"/>
              <a:t>꽥꽥</a:t>
            </a:r>
            <a:r>
              <a:rPr lang="en-US" altLang="ko-KR" sz="6400" dirty="0"/>
              <a:t>, </a:t>
            </a:r>
            <a:r>
              <a:rPr lang="ko-KR" altLang="en-US" sz="6400" dirty="0"/>
              <a:t>거위</a:t>
            </a:r>
            <a:r>
              <a:rPr lang="en-US" altLang="ko-KR" sz="6400" dirty="0"/>
              <a:t>, </a:t>
            </a:r>
            <a:r>
              <a:rPr lang="ko-KR" altLang="en-US" sz="6400" dirty="0"/>
              <a:t>꽥</a:t>
            </a:r>
            <a:r>
              <a:rPr lang="en-US" altLang="ko-KR" sz="6400" dirty="0"/>
              <a:t>, </a:t>
            </a:r>
            <a:r>
              <a:rPr lang="ko-KR" altLang="en-US" sz="6400" dirty="0"/>
              <a:t>사자</a:t>
            </a:r>
            <a:r>
              <a:rPr lang="en-US" altLang="ko-KR" sz="6400" dirty="0"/>
              <a:t>, </a:t>
            </a:r>
            <a:r>
              <a:rPr lang="ko-KR" altLang="en-US" sz="6400" dirty="0"/>
              <a:t>호랑이</a:t>
            </a:r>
            <a:r>
              <a:rPr lang="en-US" altLang="ko-KR" sz="6400" dirty="0"/>
              <a:t>, </a:t>
            </a:r>
            <a:r>
              <a:rPr lang="ko-KR" altLang="en-US" sz="6400" dirty="0"/>
              <a:t>포효</a:t>
            </a:r>
            <a:r>
              <a:rPr lang="en-US" altLang="ko-KR" sz="6400" dirty="0"/>
              <a:t>, </a:t>
            </a:r>
            <a:r>
              <a:rPr lang="ko-KR" altLang="en-US" sz="6400" dirty="0"/>
              <a:t>새</a:t>
            </a:r>
            <a:r>
              <a:rPr lang="en-US" altLang="ko-KR" sz="6400" dirty="0"/>
              <a:t>, </a:t>
            </a:r>
            <a:r>
              <a:rPr lang="ko-KR" altLang="en-US" sz="6400" dirty="0"/>
              <a:t>지저귐</a:t>
            </a:r>
            <a:r>
              <a:rPr lang="en-US" altLang="ko-KR" sz="6400" dirty="0"/>
              <a:t>, </a:t>
            </a:r>
            <a:r>
              <a:rPr lang="ko-KR" altLang="en-US" sz="6400" dirty="0"/>
              <a:t>짹짹</a:t>
            </a:r>
            <a:r>
              <a:rPr lang="en-US" altLang="ko-KR" sz="6400" dirty="0"/>
              <a:t>, </a:t>
            </a:r>
            <a:r>
              <a:rPr lang="ko-KR" altLang="en-US" sz="6400" dirty="0"/>
              <a:t>비둘기</a:t>
            </a:r>
            <a:r>
              <a:rPr lang="en-US" altLang="ko-KR" sz="6400" dirty="0"/>
              <a:t>, </a:t>
            </a:r>
            <a:r>
              <a:rPr lang="ko-KR" altLang="en-US" sz="6400" dirty="0"/>
              <a:t>구구</a:t>
            </a:r>
            <a:r>
              <a:rPr lang="en-US" altLang="ko-KR" sz="6400" dirty="0"/>
              <a:t>, </a:t>
            </a:r>
            <a:r>
              <a:rPr lang="ko-KR" altLang="en-US" sz="6400" dirty="0"/>
              <a:t>까마귀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까악</a:t>
            </a:r>
            <a:r>
              <a:rPr lang="en-US" altLang="ko-KR" sz="6400" dirty="0"/>
              <a:t>, </a:t>
            </a:r>
            <a:r>
              <a:rPr lang="ko-KR" altLang="en-US" sz="6400" dirty="0"/>
              <a:t>올빼미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부엉</a:t>
            </a:r>
            <a:r>
              <a:rPr lang="en-US" altLang="ko-KR" sz="6400" dirty="0"/>
              <a:t>, </a:t>
            </a:r>
            <a:r>
              <a:rPr lang="ko-KR" altLang="en-US" sz="6400" dirty="0"/>
              <a:t>새 날갯짓</a:t>
            </a:r>
            <a:r>
              <a:rPr lang="en-US" altLang="ko-KR" sz="6400" dirty="0"/>
              <a:t>, </a:t>
            </a:r>
            <a:r>
              <a:rPr lang="ko-KR" altLang="en-US" sz="6400" dirty="0"/>
              <a:t>쥐</a:t>
            </a:r>
            <a:r>
              <a:rPr lang="en-US" altLang="ko-KR" sz="6400" dirty="0"/>
              <a:t>, </a:t>
            </a:r>
            <a:r>
              <a:rPr lang="ko-KR" altLang="en-US" sz="6400" dirty="0"/>
              <a:t>찍찍</a:t>
            </a:r>
            <a:r>
              <a:rPr lang="en-US" altLang="ko-KR" sz="6400" dirty="0"/>
              <a:t>, </a:t>
            </a:r>
            <a:r>
              <a:rPr lang="ko-KR" altLang="en-US" sz="6400" dirty="0"/>
              <a:t>곤충</a:t>
            </a:r>
            <a:r>
              <a:rPr lang="en-US" altLang="ko-KR" sz="6400" dirty="0"/>
              <a:t>, </a:t>
            </a:r>
            <a:r>
              <a:rPr lang="ko-KR" altLang="en-US" sz="6400" dirty="0"/>
              <a:t>귀뚜라미</a:t>
            </a:r>
            <a:r>
              <a:rPr lang="en-US" altLang="ko-KR" sz="6400" dirty="0"/>
              <a:t>, </a:t>
            </a:r>
            <a:r>
              <a:rPr lang="ko-KR" altLang="en-US" sz="6400" dirty="0"/>
              <a:t>모기</a:t>
            </a:r>
            <a:r>
              <a:rPr lang="en-US" altLang="ko-KR" sz="6400" dirty="0"/>
              <a:t>, </a:t>
            </a:r>
            <a:r>
              <a:rPr lang="ko-KR" altLang="en-US" sz="6400" dirty="0"/>
              <a:t>파리</a:t>
            </a:r>
            <a:r>
              <a:rPr lang="en-US" altLang="ko-KR" sz="6400" dirty="0"/>
              <a:t>, </a:t>
            </a:r>
            <a:r>
              <a:rPr lang="ko-KR" altLang="en-US" sz="6400" dirty="0"/>
              <a:t>윙윙</a:t>
            </a:r>
            <a:r>
              <a:rPr lang="en-US" altLang="ko-KR" sz="6400" dirty="0"/>
              <a:t>, </a:t>
            </a:r>
            <a:r>
              <a:rPr lang="ko-KR" altLang="en-US" sz="6400" dirty="0"/>
              <a:t>벌</a:t>
            </a:r>
            <a:r>
              <a:rPr lang="en-US" altLang="ko-KR" sz="6400" dirty="0"/>
              <a:t>, </a:t>
            </a:r>
            <a:r>
              <a:rPr lang="ko-KR" altLang="en-US" sz="6400" dirty="0"/>
              <a:t>개구리</a:t>
            </a:r>
            <a:r>
              <a:rPr lang="en-US" altLang="ko-KR" sz="6400" dirty="0"/>
              <a:t>, </a:t>
            </a:r>
            <a:r>
              <a:rPr lang="ko-KR" altLang="en-US" sz="6400" dirty="0"/>
              <a:t>개굴</a:t>
            </a:r>
            <a:r>
              <a:rPr lang="en-US" altLang="ko-KR" sz="6400" dirty="0"/>
              <a:t>, </a:t>
            </a:r>
            <a:r>
              <a:rPr lang="ko-KR" altLang="en-US" sz="6400" dirty="0"/>
              <a:t>뱀</a:t>
            </a:r>
            <a:r>
              <a:rPr lang="en-US" altLang="ko-KR" sz="6400" dirty="0"/>
              <a:t>, </a:t>
            </a:r>
            <a:r>
              <a:rPr lang="ko-KR" altLang="en-US" sz="6400" dirty="0"/>
              <a:t>딸랑이</a:t>
            </a:r>
            <a:r>
              <a:rPr lang="en-US" altLang="ko-KR" sz="6400" dirty="0"/>
              <a:t>, </a:t>
            </a:r>
            <a:r>
              <a:rPr lang="ko-KR" altLang="en-US" sz="6400" dirty="0"/>
              <a:t>고래 소리</a:t>
            </a:r>
          </a:p>
          <a:p>
            <a:pPr>
              <a:lnSpc>
                <a:spcPct val="120000"/>
              </a:lnSpc>
            </a:pPr>
            <a:r>
              <a:rPr lang="ko-KR" altLang="en-US" sz="6400" b="1" dirty="0"/>
              <a:t>🎵 음악 및 악기 소리 </a:t>
            </a:r>
            <a:r>
              <a:rPr lang="en-US" altLang="ko-KR" sz="6400" b="1" dirty="0"/>
              <a:t>(</a:t>
            </a:r>
            <a:r>
              <a:rPr lang="en" altLang="ko-KR" sz="6400" b="1" dirty="0"/>
              <a:t>Music &amp; Instrument Sounds)</a:t>
            </a:r>
          </a:p>
          <a:p>
            <a:pPr>
              <a:lnSpc>
                <a:spcPct val="120000"/>
              </a:lnSpc>
            </a:pPr>
            <a:r>
              <a:rPr lang="ko-KR" altLang="en-US" sz="6400" dirty="0"/>
              <a:t>기타</a:t>
            </a:r>
            <a:r>
              <a:rPr lang="en-US" altLang="ko-KR" sz="6400" dirty="0"/>
              <a:t>, </a:t>
            </a:r>
            <a:r>
              <a:rPr lang="ko-KR" altLang="en-US" sz="6400" dirty="0"/>
              <a:t>일렉트릭 기타</a:t>
            </a:r>
            <a:r>
              <a:rPr lang="en-US" altLang="ko-KR" sz="6400" dirty="0"/>
              <a:t>, </a:t>
            </a:r>
            <a:r>
              <a:rPr lang="ko-KR" altLang="en-US" sz="6400" dirty="0"/>
              <a:t>베이스 기타</a:t>
            </a:r>
            <a:r>
              <a:rPr lang="en-US" altLang="ko-KR" sz="6400" dirty="0"/>
              <a:t>, </a:t>
            </a:r>
            <a:r>
              <a:rPr lang="ko-KR" altLang="en-US" sz="6400" dirty="0"/>
              <a:t>어쿠스틱 기타</a:t>
            </a:r>
            <a:r>
              <a:rPr lang="en-US" altLang="ko-KR" sz="6400" dirty="0"/>
              <a:t>, </a:t>
            </a:r>
            <a:r>
              <a:rPr lang="ko-KR" altLang="en-US" sz="6400" dirty="0"/>
              <a:t>슬라이드 기타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밴조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시타르</a:t>
            </a:r>
            <a:r>
              <a:rPr lang="en-US" altLang="ko-KR" sz="6400" dirty="0"/>
              <a:t>, </a:t>
            </a:r>
            <a:r>
              <a:rPr lang="ko-KR" altLang="en-US" sz="6400" dirty="0"/>
              <a:t>만돌린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우쿨렐레</a:t>
            </a:r>
            <a:r>
              <a:rPr lang="en-US" altLang="ko-KR" sz="6400" dirty="0"/>
              <a:t>, </a:t>
            </a:r>
            <a:r>
              <a:rPr lang="ko-KR" altLang="en-US" sz="6400" dirty="0"/>
              <a:t>피아노</a:t>
            </a:r>
            <a:r>
              <a:rPr lang="en-US" altLang="ko-KR" sz="6400" dirty="0"/>
              <a:t>, </a:t>
            </a:r>
            <a:r>
              <a:rPr lang="ko-KR" altLang="en-US" sz="6400" dirty="0"/>
              <a:t>전자 피아노</a:t>
            </a:r>
            <a:r>
              <a:rPr lang="en-US" altLang="ko-KR" sz="6400" dirty="0"/>
              <a:t>, </a:t>
            </a:r>
            <a:r>
              <a:rPr lang="ko-KR" altLang="en-US" sz="6400" dirty="0"/>
              <a:t>오르간</a:t>
            </a:r>
            <a:r>
              <a:rPr lang="en-US" altLang="ko-KR" sz="6400" dirty="0"/>
              <a:t>, </a:t>
            </a:r>
            <a:r>
              <a:rPr lang="ko-KR" altLang="en-US" sz="6400" dirty="0"/>
              <a:t>신시사이저</a:t>
            </a:r>
            <a:r>
              <a:rPr lang="en-US" altLang="ko-KR" sz="6400" dirty="0"/>
              <a:t>, </a:t>
            </a:r>
            <a:r>
              <a:rPr lang="ko-KR" altLang="en-US" sz="6400" dirty="0"/>
              <a:t>하프시코드</a:t>
            </a:r>
            <a:r>
              <a:rPr lang="en-US" altLang="ko-KR" sz="6400" dirty="0"/>
              <a:t>, </a:t>
            </a:r>
            <a:r>
              <a:rPr lang="ko-KR" altLang="en-US" sz="6400" dirty="0"/>
              <a:t>드럼 세트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스네어</a:t>
            </a:r>
            <a:r>
              <a:rPr lang="ko-KR" altLang="en-US" sz="6400" dirty="0"/>
              <a:t> 드럼</a:t>
            </a:r>
            <a:r>
              <a:rPr lang="en-US" altLang="ko-KR" sz="6400" dirty="0"/>
              <a:t>, </a:t>
            </a:r>
            <a:r>
              <a:rPr lang="ko-KR" altLang="en-US" sz="6400" dirty="0"/>
              <a:t>베이스 드럼</a:t>
            </a:r>
            <a:r>
              <a:rPr lang="en-US" altLang="ko-KR" sz="6400" dirty="0"/>
              <a:t>, </a:t>
            </a:r>
            <a:r>
              <a:rPr lang="ko-KR" altLang="en-US" sz="6400" dirty="0"/>
              <a:t>팀파니</a:t>
            </a:r>
            <a:r>
              <a:rPr lang="en-US" altLang="ko-KR" sz="6400" dirty="0"/>
              <a:t>, </a:t>
            </a:r>
            <a:r>
              <a:rPr lang="ko-KR" altLang="en-US" sz="6400" dirty="0"/>
              <a:t>심벌즈</a:t>
            </a:r>
            <a:r>
              <a:rPr lang="en-US" altLang="ko-KR" sz="6400" dirty="0"/>
              <a:t>, </a:t>
            </a:r>
            <a:r>
              <a:rPr lang="ko-KR" altLang="en-US" sz="6400" dirty="0"/>
              <a:t>탬버린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마라카스</a:t>
            </a:r>
            <a:r>
              <a:rPr lang="en-US" altLang="ko-KR" sz="6400" dirty="0"/>
              <a:t>, </a:t>
            </a:r>
            <a:r>
              <a:rPr lang="ko-KR" altLang="en-US" sz="6400" dirty="0"/>
              <a:t>공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튜블러</a:t>
            </a:r>
            <a:r>
              <a:rPr lang="ko-KR" altLang="en-US" sz="6400" dirty="0"/>
              <a:t> 벨</a:t>
            </a:r>
            <a:r>
              <a:rPr lang="en-US" altLang="ko-KR" sz="6400" dirty="0"/>
              <a:t>, </a:t>
            </a:r>
            <a:r>
              <a:rPr lang="ko-KR" altLang="en-US" sz="6400" dirty="0"/>
              <a:t>마림바</a:t>
            </a:r>
            <a:r>
              <a:rPr lang="en-US" altLang="ko-KR" sz="6400" dirty="0"/>
              <a:t>, </a:t>
            </a:r>
            <a:r>
              <a:rPr lang="ko-KR" altLang="en-US" sz="6400" dirty="0"/>
              <a:t>실로폰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비브라폰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스틸팬</a:t>
            </a:r>
            <a:r>
              <a:rPr lang="en-US" altLang="ko-KR" sz="6400" dirty="0"/>
              <a:t>, </a:t>
            </a:r>
            <a:r>
              <a:rPr lang="ko-KR" altLang="en-US" sz="6400" dirty="0"/>
              <a:t>오케스트라</a:t>
            </a:r>
            <a:r>
              <a:rPr lang="en-US" altLang="ko-KR" sz="6400" dirty="0"/>
              <a:t>, </a:t>
            </a:r>
            <a:r>
              <a:rPr lang="ko-KR" altLang="en-US" sz="6400" dirty="0"/>
              <a:t>프렌치 호른</a:t>
            </a:r>
            <a:r>
              <a:rPr lang="en-US" altLang="ko-KR" sz="6400" dirty="0"/>
              <a:t>, </a:t>
            </a:r>
            <a:r>
              <a:rPr lang="ko-KR" altLang="en-US" sz="6400" dirty="0"/>
              <a:t>트럼펫</a:t>
            </a:r>
            <a:r>
              <a:rPr lang="en-US" altLang="ko-KR" sz="6400" dirty="0"/>
              <a:t>, </a:t>
            </a:r>
            <a:r>
              <a:rPr lang="ko-KR" altLang="en-US" sz="6400" dirty="0"/>
              <a:t>트롬본</a:t>
            </a:r>
            <a:r>
              <a:rPr lang="en-US" altLang="ko-KR" sz="6400" dirty="0"/>
              <a:t>, </a:t>
            </a:r>
            <a:r>
              <a:rPr lang="ko-KR" altLang="en-US" sz="6400" dirty="0"/>
              <a:t>바이올린</a:t>
            </a:r>
            <a:r>
              <a:rPr lang="en-US" altLang="ko-KR" sz="6400" dirty="0"/>
              <a:t>, </a:t>
            </a:r>
            <a:r>
              <a:rPr lang="ko-KR" altLang="en-US" sz="6400" dirty="0"/>
              <a:t>첼로</a:t>
            </a:r>
            <a:r>
              <a:rPr lang="en-US" altLang="ko-KR" sz="6400" dirty="0"/>
              <a:t>, </a:t>
            </a:r>
            <a:r>
              <a:rPr lang="ko-KR" altLang="en-US" sz="6400" dirty="0"/>
              <a:t>더블 베이스</a:t>
            </a:r>
            <a:r>
              <a:rPr lang="en-US" altLang="ko-KR" sz="6400" dirty="0"/>
              <a:t>, </a:t>
            </a:r>
            <a:r>
              <a:rPr lang="ko-KR" altLang="en-US" sz="6400" dirty="0"/>
              <a:t>플루트</a:t>
            </a:r>
            <a:r>
              <a:rPr lang="en-US" altLang="ko-KR" sz="6400" dirty="0"/>
              <a:t>, </a:t>
            </a:r>
            <a:r>
              <a:rPr lang="ko-KR" altLang="en-US" sz="6400" dirty="0"/>
              <a:t>색소폰</a:t>
            </a:r>
            <a:r>
              <a:rPr lang="en-US" altLang="ko-KR" sz="6400" dirty="0"/>
              <a:t>, </a:t>
            </a:r>
            <a:r>
              <a:rPr lang="ko-KR" altLang="en-US" sz="6400" dirty="0"/>
              <a:t>클라리넷</a:t>
            </a:r>
            <a:r>
              <a:rPr lang="en-US" altLang="ko-KR" sz="6400" dirty="0"/>
              <a:t>, </a:t>
            </a:r>
            <a:r>
              <a:rPr lang="ko-KR" altLang="en-US" sz="6400" dirty="0"/>
              <a:t>하프</a:t>
            </a:r>
            <a:r>
              <a:rPr lang="en-US" altLang="ko-KR" sz="6400" dirty="0"/>
              <a:t>, </a:t>
            </a:r>
            <a:r>
              <a:rPr lang="ko-KR" altLang="en-US" sz="6400" dirty="0"/>
              <a:t>종</a:t>
            </a:r>
            <a:r>
              <a:rPr lang="en-US" altLang="ko-KR" sz="6400" dirty="0"/>
              <a:t>, </a:t>
            </a:r>
            <a:r>
              <a:rPr lang="ko-KR" altLang="en-US" sz="6400" dirty="0"/>
              <a:t>교회 종</a:t>
            </a:r>
            <a:r>
              <a:rPr lang="en-US" altLang="ko-KR" sz="6400" dirty="0"/>
              <a:t>, </a:t>
            </a:r>
            <a:r>
              <a:rPr lang="ko-KR" altLang="en-US" sz="6400" dirty="0"/>
              <a:t>자전거 벨</a:t>
            </a:r>
            <a:r>
              <a:rPr lang="en-US" altLang="ko-KR" sz="6400" dirty="0"/>
              <a:t>, </a:t>
            </a:r>
            <a:r>
              <a:rPr lang="ko-KR" altLang="en-US" sz="6400" dirty="0"/>
              <a:t>튜닝 포크</a:t>
            </a:r>
            <a:r>
              <a:rPr lang="en-US" altLang="ko-KR" sz="6400" dirty="0"/>
              <a:t>, </a:t>
            </a:r>
            <a:r>
              <a:rPr lang="ko-KR" altLang="en-US" sz="6400" dirty="0"/>
              <a:t>차임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윈드</a:t>
            </a:r>
            <a:r>
              <a:rPr lang="ko-KR" altLang="en-US" sz="6400" dirty="0"/>
              <a:t> 차임</a:t>
            </a:r>
            <a:r>
              <a:rPr lang="en-US" altLang="ko-KR" sz="6400" dirty="0"/>
              <a:t>, </a:t>
            </a:r>
            <a:r>
              <a:rPr lang="ko-KR" altLang="en-US" sz="6400" dirty="0"/>
              <a:t>하모니카</a:t>
            </a:r>
            <a:r>
              <a:rPr lang="en-US" altLang="ko-KR" sz="6400" dirty="0"/>
              <a:t>, </a:t>
            </a:r>
            <a:r>
              <a:rPr lang="ko-KR" altLang="en-US" sz="6400" dirty="0"/>
              <a:t>아코디언</a:t>
            </a:r>
            <a:r>
              <a:rPr lang="en-US" altLang="ko-KR" sz="6400" dirty="0"/>
              <a:t>, </a:t>
            </a:r>
            <a:r>
              <a:rPr lang="ko-KR" altLang="en-US" sz="6400" dirty="0"/>
              <a:t>백파이프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디저리두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쇼파르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테레민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싱잉</a:t>
            </a:r>
            <a:r>
              <a:rPr lang="ko-KR" altLang="en-US" sz="6400" dirty="0"/>
              <a:t> 볼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스크래칭</a:t>
            </a:r>
            <a:endParaRPr lang="ko-KR" altLang="en-US" sz="6400" dirty="0"/>
          </a:p>
          <a:p>
            <a:pPr>
              <a:lnSpc>
                <a:spcPct val="120000"/>
              </a:lnSpc>
            </a:pPr>
            <a:r>
              <a:rPr lang="ko-KR" altLang="en-US" sz="6400" b="1" dirty="0"/>
              <a:t>🎶 음악 장르 및 분위기 </a:t>
            </a:r>
            <a:r>
              <a:rPr lang="en-US" altLang="ko-KR" sz="6400" b="1" dirty="0"/>
              <a:t>(</a:t>
            </a:r>
            <a:r>
              <a:rPr lang="en" altLang="ko-KR" sz="6400" b="1" dirty="0"/>
              <a:t>Music Genres &amp; Moods)</a:t>
            </a:r>
          </a:p>
          <a:p>
            <a:pPr>
              <a:lnSpc>
                <a:spcPct val="120000"/>
              </a:lnSpc>
            </a:pPr>
            <a:r>
              <a:rPr lang="ko-KR" altLang="en-US" sz="6400" dirty="0"/>
              <a:t>팝 음악</a:t>
            </a:r>
            <a:r>
              <a:rPr lang="en-US" altLang="ko-KR" sz="6400" dirty="0"/>
              <a:t>, </a:t>
            </a:r>
            <a:r>
              <a:rPr lang="ko-KR" altLang="en-US" sz="6400" dirty="0"/>
              <a:t>힙합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비트박싱</a:t>
            </a:r>
            <a:r>
              <a:rPr lang="en-US" altLang="ko-KR" sz="6400" dirty="0"/>
              <a:t>, </a:t>
            </a:r>
            <a:r>
              <a:rPr lang="ko-KR" altLang="en-US" sz="6400" dirty="0"/>
              <a:t>록 음악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헤비</a:t>
            </a:r>
            <a:r>
              <a:rPr lang="ko-KR" altLang="en-US" sz="6400" dirty="0"/>
              <a:t> 메탈</a:t>
            </a:r>
            <a:r>
              <a:rPr lang="en-US" altLang="ko-KR" sz="6400" dirty="0"/>
              <a:t>, </a:t>
            </a:r>
            <a:r>
              <a:rPr lang="ko-KR" altLang="en-US" sz="6400" dirty="0"/>
              <a:t>펑크 록</a:t>
            </a:r>
            <a:r>
              <a:rPr lang="en-US" altLang="ko-KR" sz="6400" dirty="0"/>
              <a:t>, </a:t>
            </a:r>
            <a:r>
              <a:rPr lang="ko-KR" altLang="en-US" sz="6400" dirty="0"/>
              <a:t>그런지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프로그레시브</a:t>
            </a:r>
            <a:r>
              <a:rPr lang="ko-KR" altLang="en-US" sz="6400" dirty="0"/>
              <a:t> 록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록앤롤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사이키델릭</a:t>
            </a:r>
            <a:r>
              <a:rPr lang="ko-KR" altLang="en-US" sz="6400" dirty="0"/>
              <a:t> 록</a:t>
            </a:r>
            <a:r>
              <a:rPr lang="en-US" altLang="ko-KR" sz="6400" dirty="0"/>
              <a:t>, </a:t>
            </a:r>
            <a:r>
              <a:rPr lang="ko-KR" altLang="en-US" sz="6400" dirty="0"/>
              <a:t>리듬 앤 블루스</a:t>
            </a:r>
            <a:r>
              <a:rPr lang="en-US" altLang="ko-KR" sz="6400" dirty="0"/>
              <a:t>, </a:t>
            </a:r>
            <a:r>
              <a:rPr lang="ko-KR" altLang="en-US" sz="6400" dirty="0"/>
              <a:t>소울 음악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레게</a:t>
            </a:r>
            <a:r>
              <a:rPr lang="en-US" altLang="ko-KR" sz="6400" dirty="0"/>
              <a:t>, </a:t>
            </a:r>
            <a:r>
              <a:rPr lang="ko-KR" altLang="en-US" sz="6400" dirty="0"/>
              <a:t>컨트리</a:t>
            </a:r>
            <a:r>
              <a:rPr lang="en-US" altLang="ko-KR" sz="6400" dirty="0"/>
              <a:t>, </a:t>
            </a:r>
            <a:r>
              <a:rPr lang="ko-KR" altLang="en-US" sz="6400" dirty="0"/>
              <a:t>스윙 음악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블루그래스</a:t>
            </a:r>
            <a:r>
              <a:rPr lang="en-US" altLang="ko-KR" sz="6400" dirty="0"/>
              <a:t>, </a:t>
            </a:r>
            <a:r>
              <a:rPr lang="ko-KR" altLang="en-US" sz="6400" dirty="0"/>
              <a:t>펑크</a:t>
            </a:r>
            <a:r>
              <a:rPr lang="en-US" altLang="ko-KR" sz="6400" dirty="0"/>
              <a:t>, </a:t>
            </a:r>
            <a:r>
              <a:rPr lang="ko-KR" altLang="en-US" sz="6400" dirty="0"/>
              <a:t>포크 음악</a:t>
            </a:r>
            <a:r>
              <a:rPr lang="en-US" altLang="ko-KR" sz="6400" dirty="0"/>
              <a:t>, </a:t>
            </a:r>
            <a:r>
              <a:rPr lang="ko-KR" altLang="en-US" sz="6400" dirty="0"/>
              <a:t>중동 음악</a:t>
            </a:r>
            <a:r>
              <a:rPr lang="en-US" altLang="ko-KR" sz="6400" dirty="0"/>
              <a:t>, </a:t>
            </a:r>
            <a:r>
              <a:rPr lang="ko-KR" altLang="en-US" sz="6400" dirty="0"/>
              <a:t>재즈</a:t>
            </a:r>
            <a:r>
              <a:rPr lang="en-US" altLang="ko-KR" sz="6400" dirty="0"/>
              <a:t>, </a:t>
            </a:r>
            <a:r>
              <a:rPr lang="ko-KR" altLang="en-US" sz="6400" dirty="0"/>
              <a:t>디스코</a:t>
            </a:r>
            <a:r>
              <a:rPr lang="en-US" altLang="ko-KR" sz="6400" dirty="0"/>
              <a:t>, </a:t>
            </a:r>
            <a:r>
              <a:rPr lang="ko-KR" altLang="en-US" sz="6400" dirty="0"/>
              <a:t>클래식 음악</a:t>
            </a:r>
            <a:r>
              <a:rPr lang="en-US" altLang="ko-KR" sz="6400" dirty="0"/>
              <a:t>, </a:t>
            </a:r>
            <a:r>
              <a:rPr lang="ko-KR" altLang="en-US" sz="6400" dirty="0"/>
              <a:t>오페라</a:t>
            </a:r>
            <a:r>
              <a:rPr lang="en-US" altLang="ko-KR" sz="6400" dirty="0"/>
              <a:t>, </a:t>
            </a:r>
            <a:r>
              <a:rPr lang="ko-KR" altLang="en-US" sz="6400" dirty="0"/>
              <a:t>전자 음악</a:t>
            </a:r>
            <a:r>
              <a:rPr lang="en-US" altLang="ko-KR" sz="6400" dirty="0"/>
              <a:t>, </a:t>
            </a:r>
            <a:r>
              <a:rPr lang="ko-KR" altLang="en-US" sz="6400" dirty="0"/>
              <a:t>하우스 음악</a:t>
            </a:r>
            <a:r>
              <a:rPr lang="en-US" altLang="ko-KR" sz="6400" dirty="0"/>
              <a:t>, </a:t>
            </a:r>
            <a:r>
              <a:rPr lang="ko-KR" altLang="en-US" sz="6400" dirty="0"/>
              <a:t>테크노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덥스텝</a:t>
            </a:r>
            <a:r>
              <a:rPr lang="en-US" altLang="ko-KR" sz="6400" dirty="0"/>
              <a:t>, </a:t>
            </a:r>
            <a:r>
              <a:rPr lang="ko-KR" altLang="en-US" sz="6400" dirty="0"/>
              <a:t>드럼 앤 베이스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일렉트로니카</a:t>
            </a:r>
            <a:r>
              <a:rPr lang="en-US" altLang="ko-KR" sz="6400" dirty="0"/>
              <a:t>, </a:t>
            </a:r>
            <a:r>
              <a:rPr lang="en" altLang="ko-KR" sz="6400" dirty="0"/>
              <a:t>EDM, </a:t>
            </a:r>
            <a:r>
              <a:rPr lang="ko-KR" altLang="en-US" sz="6400" dirty="0" err="1"/>
              <a:t>앰비언트</a:t>
            </a:r>
            <a:r>
              <a:rPr lang="ko-KR" altLang="en-US" sz="6400" dirty="0"/>
              <a:t> 음악</a:t>
            </a:r>
            <a:r>
              <a:rPr lang="en-US" altLang="ko-KR" sz="6400" dirty="0"/>
              <a:t>, </a:t>
            </a:r>
            <a:r>
              <a:rPr lang="ko-KR" altLang="en-US" sz="6400" dirty="0"/>
              <a:t>트랜스 음악</a:t>
            </a:r>
            <a:r>
              <a:rPr lang="en-US" altLang="ko-KR" sz="6400" dirty="0"/>
              <a:t>, </a:t>
            </a:r>
            <a:r>
              <a:rPr lang="ko-KR" altLang="en-US" sz="6400" dirty="0"/>
              <a:t>라틴 아메리카 음악</a:t>
            </a:r>
            <a:r>
              <a:rPr lang="en-US" altLang="ko-KR" sz="6400" dirty="0"/>
              <a:t>, </a:t>
            </a:r>
            <a:r>
              <a:rPr lang="ko-KR" altLang="en-US" sz="6400" dirty="0"/>
              <a:t>살사</a:t>
            </a:r>
            <a:r>
              <a:rPr lang="en-US" altLang="ko-KR" sz="6400" dirty="0"/>
              <a:t>, </a:t>
            </a:r>
            <a:r>
              <a:rPr lang="ko-KR" altLang="en-US" sz="6400" dirty="0"/>
              <a:t>플라멩코</a:t>
            </a:r>
            <a:r>
              <a:rPr lang="en-US" altLang="ko-KR" sz="6400" dirty="0"/>
              <a:t>, </a:t>
            </a:r>
            <a:r>
              <a:rPr lang="ko-KR" altLang="en-US" sz="6400" dirty="0"/>
              <a:t>블루스</a:t>
            </a:r>
            <a:r>
              <a:rPr lang="en-US" altLang="ko-KR" sz="6400" dirty="0"/>
              <a:t>, </a:t>
            </a:r>
            <a:r>
              <a:rPr lang="ko-KR" altLang="en-US" sz="6400" dirty="0"/>
              <a:t>어린이 음악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뉴에이지</a:t>
            </a:r>
            <a:r>
              <a:rPr lang="ko-KR" altLang="en-US" sz="6400" dirty="0"/>
              <a:t> 음악</a:t>
            </a:r>
            <a:r>
              <a:rPr lang="en-US" altLang="ko-KR" sz="6400" dirty="0"/>
              <a:t>, </a:t>
            </a:r>
            <a:r>
              <a:rPr lang="ko-KR" altLang="en-US" sz="6400" dirty="0"/>
              <a:t>보컬 음악</a:t>
            </a:r>
            <a:r>
              <a:rPr lang="en-US" altLang="ko-KR" sz="6400" dirty="0"/>
              <a:t>, </a:t>
            </a:r>
            <a:r>
              <a:rPr lang="ko-KR" altLang="en-US" sz="6400" dirty="0"/>
              <a:t>아카펠라</a:t>
            </a:r>
            <a:r>
              <a:rPr lang="en-US" altLang="ko-KR" sz="6400" dirty="0"/>
              <a:t>, </a:t>
            </a:r>
            <a:r>
              <a:rPr lang="ko-KR" altLang="en-US" sz="6400" dirty="0"/>
              <a:t>아프리카 음악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아프로비트</a:t>
            </a:r>
            <a:r>
              <a:rPr lang="en-US" altLang="ko-KR" sz="6400" dirty="0"/>
              <a:t>, </a:t>
            </a:r>
            <a:r>
              <a:rPr lang="ko-KR" altLang="en-US" sz="6400" dirty="0"/>
              <a:t>기독교 음악</a:t>
            </a:r>
            <a:r>
              <a:rPr lang="en-US" altLang="ko-KR" sz="6400" dirty="0"/>
              <a:t>, </a:t>
            </a:r>
            <a:r>
              <a:rPr lang="ko-KR" altLang="en-US" sz="6400" dirty="0"/>
              <a:t>가스펠</a:t>
            </a:r>
            <a:r>
              <a:rPr lang="en-US" altLang="ko-KR" sz="6400" dirty="0"/>
              <a:t>, </a:t>
            </a:r>
            <a:r>
              <a:rPr lang="ko-KR" altLang="en-US" sz="6400" dirty="0"/>
              <a:t>아시아 음악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카르나틱</a:t>
            </a:r>
            <a:r>
              <a:rPr lang="ko-KR" altLang="en-US" sz="6400" dirty="0"/>
              <a:t> 음악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볼리우드</a:t>
            </a:r>
            <a:r>
              <a:rPr lang="ko-KR" altLang="en-US" sz="6400" dirty="0"/>
              <a:t> 음악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스카</a:t>
            </a:r>
            <a:r>
              <a:rPr lang="en-US" altLang="ko-KR" sz="6400" dirty="0"/>
              <a:t>, </a:t>
            </a:r>
            <a:r>
              <a:rPr lang="ko-KR" altLang="en-US" sz="6400" dirty="0"/>
              <a:t>전통 음악</a:t>
            </a:r>
            <a:r>
              <a:rPr lang="en-US" altLang="ko-KR" sz="6400" dirty="0"/>
              <a:t>, </a:t>
            </a:r>
            <a:r>
              <a:rPr lang="ko-KR" altLang="en-US" sz="6400" dirty="0" err="1"/>
              <a:t>인디</a:t>
            </a:r>
            <a:r>
              <a:rPr lang="ko-KR" altLang="en-US" sz="6400" dirty="0"/>
              <a:t> 음악</a:t>
            </a:r>
            <a:r>
              <a:rPr lang="en-US" altLang="ko-KR" sz="6400" dirty="0"/>
              <a:t>, </a:t>
            </a:r>
            <a:r>
              <a:rPr lang="ko-KR" altLang="en-US" sz="6400" dirty="0"/>
              <a:t>노래</a:t>
            </a:r>
            <a:r>
              <a:rPr lang="en-US" altLang="ko-KR" sz="6400" dirty="0"/>
              <a:t>, </a:t>
            </a:r>
            <a:r>
              <a:rPr lang="ko-KR" altLang="en-US" sz="6400" dirty="0"/>
              <a:t>배경 음악</a:t>
            </a:r>
            <a:r>
              <a:rPr lang="en-US" altLang="ko-KR" sz="6400" dirty="0"/>
              <a:t>, </a:t>
            </a:r>
            <a:r>
              <a:rPr lang="ko-KR" altLang="en-US" sz="6400" dirty="0"/>
              <a:t>테마 음악</a:t>
            </a:r>
            <a:r>
              <a:rPr lang="en-US" altLang="ko-KR" sz="6400" dirty="0"/>
              <a:t>, </a:t>
            </a:r>
            <a:r>
              <a:rPr lang="ko-KR" altLang="en-US" sz="6400" dirty="0"/>
              <a:t>징글</a:t>
            </a:r>
            <a:r>
              <a:rPr lang="en-US" altLang="ko-KR" sz="6400" dirty="0"/>
              <a:t>, </a:t>
            </a:r>
            <a:r>
              <a:rPr lang="ko-KR" altLang="en-US" sz="6400" dirty="0"/>
              <a:t>사운드트랙</a:t>
            </a:r>
            <a:r>
              <a:rPr lang="en-US" altLang="ko-KR" sz="6400" dirty="0"/>
              <a:t>, </a:t>
            </a:r>
            <a:r>
              <a:rPr lang="ko-KR" altLang="en-US" sz="6400" dirty="0"/>
              <a:t>자장가</a:t>
            </a:r>
            <a:r>
              <a:rPr lang="en-US" altLang="ko-KR" sz="6400" dirty="0"/>
              <a:t>, </a:t>
            </a:r>
            <a:r>
              <a:rPr lang="ko-KR" altLang="en-US" sz="6400" dirty="0"/>
              <a:t>비디오 게임 음악</a:t>
            </a:r>
            <a:r>
              <a:rPr lang="en-US" altLang="ko-KR" sz="6400" dirty="0"/>
              <a:t>, </a:t>
            </a:r>
            <a:r>
              <a:rPr lang="ko-KR" altLang="en-US" sz="6400" dirty="0"/>
              <a:t>크리스마스 음악</a:t>
            </a:r>
            <a:r>
              <a:rPr lang="en-US" altLang="ko-KR" sz="6400" dirty="0"/>
              <a:t>, </a:t>
            </a:r>
            <a:r>
              <a:rPr lang="ko-KR" altLang="en-US" sz="6400" dirty="0"/>
              <a:t>댄스 음악</a:t>
            </a:r>
            <a:r>
              <a:rPr lang="en-US" altLang="ko-KR" sz="6400" dirty="0"/>
              <a:t>, </a:t>
            </a:r>
            <a:r>
              <a:rPr lang="ko-KR" altLang="en-US" sz="6400" dirty="0"/>
              <a:t>웨딩 음악</a:t>
            </a:r>
            <a:r>
              <a:rPr lang="en-US" altLang="ko-KR" sz="6400" dirty="0"/>
              <a:t>, </a:t>
            </a:r>
            <a:r>
              <a:rPr lang="ko-KR" altLang="en-US" sz="6400" dirty="0"/>
              <a:t>행복한 음악</a:t>
            </a:r>
            <a:r>
              <a:rPr lang="en-US" altLang="ko-KR" sz="6400" dirty="0"/>
              <a:t>, </a:t>
            </a:r>
            <a:r>
              <a:rPr lang="ko-KR" altLang="en-US" sz="6400" dirty="0"/>
              <a:t>재미있는 음악</a:t>
            </a:r>
            <a:r>
              <a:rPr lang="en-US" altLang="ko-KR" sz="6400" dirty="0"/>
              <a:t>, </a:t>
            </a:r>
            <a:r>
              <a:rPr lang="ko-KR" altLang="en-US" sz="6400" dirty="0"/>
              <a:t>슬픈 음악</a:t>
            </a:r>
            <a:r>
              <a:rPr lang="en-US" altLang="ko-KR" sz="6400" dirty="0"/>
              <a:t>, </a:t>
            </a:r>
            <a:r>
              <a:rPr lang="ko-KR" altLang="en-US" sz="6400" dirty="0"/>
              <a:t>부드러운 음악</a:t>
            </a:r>
            <a:r>
              <a:rPr lang="en-US" altLang="ko-KR" sz="6400" dirty="0"/>
              <a:t>, </a:t>
            </a:r>
            <a:r>
              <a:rPr lang="ko-KR" altLang="en-US" sz="6400" dirty="0"/>
              <a:t>신나는 음악</a:t>
            </a:r>
            <a:r>
              <a:rPr lang="en-US" altLang="ko-KR" sz="6400" dirty="0"/>
              <a:t>, </a:t>
            </a:r>
            <a:r>
              <a:rPr lang="ko-KR" altLang="en-US" sz="6400" dirty="0"/>
              <a:t>화난 음악</a:t>
            </a:r>
            <a:r>
              <a:rPr lang="en-US" altLang="ko-KR" sz="6400" dirty="0"/>
              <a:t>, </a:t>
            </a:r>
            <a:r>
              <a:rPr lang="ko-KR" altLang="en-US" sz="6400" dirty="0"/>
              <a:t>무서운 음악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2716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E0FF57-C856-7314-0296-9F7E2B9E7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693" y="72326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ko-KR" altLang="en-US" sz="4900" b="1" dirty="0"/>
              <a:t>🌿 자연 및 환경 소리 </a:t>
            </a:r>
            <a:r>
              <a:rPr lang="en-US" altLang="ko-KR" sz="4900" b="1" dirty="0"/>
              <a:t>(</a:t>
            </a:r>
            <a:r>
              <a:rPr lang="en" altLang="ko-KR" sz="4900" b="1" dirty="0"/>
              <a:t>Nature &amp; Environmental Sounds)</a:t>
            </a:r>
          </a:p>
          <a:p>
            <a:pPr>
              <a:lnSpc>
                <a:spcPct val="120000"/>
              </a:lnSpc>
            </a:pPr>
            <a:r>
              <a:rPr lang="ko-KR" altLang="en-US" sz="4900" dirty="0"/>
              <a:t>바람</a:t>
            </a:r>
            <a:r>
              <a:rPr lang="en-US" altLang="ko-KR" sz="4900" dirty="0"/>
              <a:t>, </a:t>
            </a:r>
            <a:r>
              <a:rPr lang="ko-KR" altLang="en-US" sz="4900" dirty="0"/>
              <a:t>나뭇잎 소리</a:t>
            </a:r>
            <a:r>
              <a:rPr lang="en-US" altLang="ko-KR" sz="4900" dirty="0"/>
              <a:t>, </a:t>
            </a:r>
            <a:r>
              <a:rPr lang="ko-KR" altLang="en-US" sz="4900" dirty="0"/>
              <a:t>마이크 바람 소리</a:t>
            </a:r>
            <a:r>
              <a:rPr lang="en-US" altLang="ko-KR" sz="4900" dirty="0"/>
              <a:t>, </a:t>
            </a:r>
            <a:r>
              <a:rPr lang="ko-KR" altLang="en-US" sz="4900" dirty="0"/>
              <a:t>천둥번개</a:t>
            </a:r>
            <a:r>
              <a:rPr lang="en-US" altLang="ko-KR" sz="4900" dirty="0"/>
              <a:t>, </a:t>
            </a:r>
            <a:r>
              <a:rPr lang="ko-KR" altLang="en-US" sz="4900" dirty="0"/>
              <a:t>천둥</a:t>
            </a:r>
            <a:r>
              <a:rPr lang="en-US" altLang="ko-KR" sz="4900" dirty="0"/>
              <a:t>, </a:t>
            </a:r>
            <a:r>
              <a:rPr lang="ko-KR" altLang="en-US" sz="4900" dirty="0"/>
              <a:t>비</a:t>
            </a:r>
            <a:r>
              <a:rPr lang="en-US" altLang="ko-KR" sz="4900" dirty="0"/>
              <a:t>, </a:t>
            </a:r>
            <a:r>
              <a:rPr lang="ko-KR" altLang="en-US" sz="4900" dirty="0"/>
              <a:t>빗방울</a:t>
            </a:r>
            <a:r>
              <a:rPr lang="en-US" altLang="ko-KR" sz="4900" dirty="0"/>
              <a:t>, </a:t>
            </a:r>
            <a:r>
              <a:rPr lang="ko-KR" altLang="en-US" sz="4900" dirty="0"/>
              <a:t>빗소리</a:t>
            </a:r>
            <a:r>
              <a:rPr lang="en-US" altLang="ko-KR" sz="4900" dirty="0"/>
              <a:t>, </a:t>
            </a:r>
            <a:r>
              <a:rPr lang="ko-KR" altLang="en-US" sz="4900" dirty="0"/>
              <a:t>시냇물</a:t>
            </a:r>
            <a:r>
              <a:rPr lang="en-US" altLang="ko-KR" sz="4900" dirty="0"/>
              <a:t>, </a:t>
            </a:r>
            <a:r>
              <a:rPr lang="ko-KR" altLang="en-US" sz="4900" dirty="0"/>
              <a:t>폭포</a:t>
            </a:r>
            <a:r>
              <a:rPr lang="en-US" altLang="ko-KR" sz="4900" dirty="0"/>
              <a:t>, </a:t>
            </a:r>
            <a:r>
              <a:rPr lang="ko-KR" altLang="en-US" sz="4900" dirty="0"/>
              <a:t>바다</a:t>
            </a:r>
            <a:r>
              <a:rPr lang="en-US" altLang="ko-KR" sz="4900" dirty="0"/>
              <a:t>, </a:t>
            </a:r>
            <a:r>
              <a:rPr lang="ko-KR" altLang="en-US" sz="4900" dirty="0"/>
              <a:t>파도</a:t>
            </a:r>
            <a:r>
              <a:rPr lang="en-US" altLang="ko-KR" sz="4900" dirty="0"/>
              <a:t>, </a:t>
            </a:r>
            <a:r>
              <a:rPr lang="ko-KR" altLang="en-US" sz="4900" dirty="0"/>
              <a:t>증기</a:t>
            </a:r>
            <a:r>
              <a:rPr lang="en-US" altLang="ko-KR" sz="4900" dirty="0"/>
              <a:t>, </a:t>
            </a:r>
            <a:r>
              <a:rPr lang="ko-KR" altLang="en-US" sz="4900" dirty="0"/>
              <a:t>물소리</a:t>
            </a:r>
            <a:r>
              <a:rPr lang="en-US" altLang="ko-KR" sz="4900" dirty="0"/>
              <a:t>, </a:t>
            </a:r>
            <a:r>
              <a:rPr lang="ko-KR" altLang="en-US" sz="4900" dirty="0"/>
              <a:t>불</a:t>
            </a:r>
            <a:r>
              <a:rPr lang="en-US" altLang="ko-KR" sz="4900" dirty="0"/>
              <a:t>, </a:t>
            </a:r>
            <a:r>
              <a:rPr lang="ko-KR" altLang="en-US" sz="4900" dirty="0"/>
              <a:t>타는 소리</a:t>
            </a:r>
            <a:endParaRPr lang="en-US" altLang="ko-KR" sz="4900" dirty="0"/>
          </a:p>
          <a:p>
            <a:pPr>
              <a:lnSpc>
                <a:spcPct val="120000"/>
              </a:lnSpc>
            </a:pPr>
            <a:endParaRPr lang="ko-KR" altLang="en-US" sz="4900" dirty="0"/>
          </a:p>
          <a:p>
            <a:pPr>
              <a:lnSpc>
                <a:spcPct val="120000"/>
              </a:lnSpc>
            </a:pPr>
            <a:r>
              <a:rPr lang="ko-KR" altLang="en-US" sz="4900" b="1" dirty="0"/>
              <a:t>🚗 교통 및 차량 소리 </a:t>
            </a:r>
            <a:r>
              <a:rPr lang="en-US" altLang="ko-KR" sz="4900" b="1" dirty="0"/>
              <a:t>(</a:t>
            </a:r>
            <a:r>
              <a:rPr lang="en" altLang="ko-KR" sz="4900" b="1" dirty="0"/>
              <a:t>Transportation &amp; Vehicle Sounds)</a:t>
            </a:r>
          </a:p>
          <a:p>
            <a:pPr>
              <a:lnSpc>
                <a:spcPct val="120000"/>
              </a:lnSpc>
            </a:pPr>
            <a:r>
              <a:rPr lang="ko-KR" altLang="en-US" sz="4900" dirty="0"/>
              <a:t>보트</a:t>
            </a:r>
            <a:r>
              <a:rPr lang="en-US" altLang="ko-KR" sz="4900" dirty="0"/>
              <a:t>, </a:t>
            </a:r>
            <a:r>
              <a:rPr lang="ko-KR" altLang="en-US" sz="4900" dirty="0"/>
              <a:t>요트</a:t>
            </a:r>
            <a:r>
              <a:rPr lang="en-US" altLang="ko-KR" sz="4900" dirty="0"/>
              <a:t>, </a:t>
            </a:r>
            <a:r>
              <a:rPr lang="ko-KR" altLang="en-US" sz="4900" dirty="0" err="1"/>
              <a:t>카약</a:t>
            </a:r>
            <a:r>
              <a:rPr lang="en-US" altLang="ko-KR" sz="4900" dirty="0"/>
              <a:t>, </a:t>
            </a:r>
            <a:r>
              <a:rPr lang="ko-KR" altLang="en-US" sz="4900" dirty="0"/>
              <a:t>모터보트</a:t>
            </a:r>
            <a:r>
              <a:rPr lang="en-US" altLang="ko-KR" sz="4900" dirty="0"/>
              <a:t>, </a:t>
            </a:r>
            <a:r>
              <a:rPr lang="ko-KR" altLang="en-US" sz="4900" dirty="0"/>
              <a:t>선박</a:t>
            </a:r>
            <a:r>
              <a:rPr lang="en-US" altLang="ko-KR" sz="4900" dirty="0"/>
              <a:t>, </a:t>
            </a:r>
            <a:r>
              <a:rPr lang="ko-KR" altLang="en-US" sz="4900" dirty="0"/>
              <a:t>자동차</a:t>
            </a:r>
            <a:r>
              <a:rPr lang="en-US" altLang="ko-KR" sz="4900" dirty="0"/>
              <a:t>, </a:t>
            </a:r>
            <a:r>
              <a:rPr lang="ko-KR" altLang="en-US" sz="4900" dirty="0"/>
              <a:t>자동차 경적</a:t>
            </a:r>
            <a:r>
              <a:rPr lang="en-US" altLang="ko-KR" sz="4900" dirty="0"/>
              <a:t>, </a:t>
            </a:r>
            <a:r>
              <a:rPr lang="ko-KR" altLang="en-US" sz="4900" dirty="0"/>
              <a:t>경적 소리</a:t>
            </a:r>
            <a:r>
              <a:rPr lang="en-US" altLang="ko-KR" sz="4900" dirty="0"/>
              <a:t>, </a:t>
            </a:r>
            <a:r>
              <a:rPr lang="ko-KR" altLang="en-US" sz="4900" dirty="0"/>
              <a:t>자동차 경보</a:t>
            </a:r>
            <a:r>
              <a:rPr lang="en-US" altLang="ko-KR" sz="4900" dirty="0"/>
              <a:t>, </a:t>
            </a:r>
            <a:r>
              <a:rPr lang="ko-KR" altLang="en-US" sz="4900" dirty="0"/>
              <a:t>전동 창문</a:t>
            </a:r>
            <a:r>
              <a:rPr lang="en-US" altLang="ko-KR" sz="4900" dirty="0"/>
              <a:t>, </a:t>
            </a:r>
            <a:r>
              <a:rPr lang="ko-KR" altLang="en-US" sz="4900" dirty="0"/>
              <a:t>미끄러짐</a:t>
            </a:r>
            <a:r>
              <a:rPr lang="en-US" altLang="ko-KR" sz="4900" dirty="0"/>
              <a:t>, </a:t>
            </a:r>
            <a:r>
              <a:rPr lang="ko-KR" altLang="en-US" sz="4900" dirty="0"/>
              <a:t>타이어 소리</a:t>
            </a:r>
            <a:r>
              <a:rPr lang="en-US" altLang="ko-KR" sz="4900" dirty="0"/>
              <a:t>, </a:t>
            </a:r>
            <a:r>
              <a:rPr lang="ko-KR" altLang="en-US" sz="4900" dirty="0"/>
              <a:t>자동차 지나가는 소리</a:t>
            </a:r>
            <a:r>
              <a:rPr lang="en-US" altLang="ko-KR" sz="4900" dirty="0"/>
              <a:t>, </a:t>
            </a:r>
            <a:r>
              <a:rPr lang="ko-KR" altLang="en-US" sz="4900" dirty="0" err="1"/>
              <a:t>레이스카</a:t>
            </a:r>
            <a:r>
              <a:rPr lang="en-US" altLang="ko-KR" sz="4900" dirty="0"/>
              <a:t>, </a:t>
            </a:r>
            <a:r>
              <a:rPr lang="ko-KR" altLang="en-US" sz="4900" dirty="0"/>
              <a:t>트럭</a:t>
            </a:r>
            <a:r>
              <a:rPr lang="en-US" altLang="ko-KR" sz="4900" dirty="0"/>
              <a:t>, </a:t>
            </a:r>
            <a:r>
              <a:rPr lang="ko-KR" altLang="en-US" sz="4900" dirty="0"/>
              <a:t>에어 브레이크</a:t>
            </a:r>
            <a:r>
              <a:rPr lang="en-US" altLang="ko-KR" sz="4900" dirty="0"/>
              <a:t>, </a:t>
            </a:r>
            <a:r>
              <a:rPr lang="ko-KR" altLang="en-US" sz="4900" dirty="0"/>
              <a:t>트럭 경적</a:t>
            </a:r>
            <a:r>
              <a:rPr lang="en-US" altLang="ko-KR" sz="4900" dirty="0"/>
              <a:t>, </a:t>
            </a:r>
            <a:r>
              <a:rPr lang="ko-KR" altLang="en-US" sz="4900" dirty="0"/>
              <a:t>후진 경고음</a:t>
            </a:r>
            <a:r>
              <a:rPr lang="en-US" altLang="ko-KR" sz="4900" dirty="0"/>
              <a:t>, </a:t>
            </a:r>
            <a:r>
              <a:rPr lang="ko-KR" altLang="en-US" sz="4900" dirty="0"/>
              <a:t>아이스크림 트럭</a:t>
            </a:r>
            <a:r>
              <a:rPr lang="en-US" altLang="ko-KR" sz="4900" dirty="0"/>
              <a:t>, </a:t>
            </a:r>
            <a:r>
              <a:rPr lang="ko-KR" altLang="en-US" sz="4900" dirty="0"/>
              <a:t>버스</a:t>
            </a:r>
            <a:r>
              <a:rPr lang="en-US" altLang="ko-KR" sz="4900" dirty="0"/>
              <a:t>, </a:t>
            </a:r>
            <a:r>
              <a:rPr lang="ko-KR" altLang="en-US" sz="4900" dirty="0"/>
              <a:t>경찰차 사이렌</a:t>
            </a:r>
            <a:r>
              <a:rPr lang="en-US" altLang="ko-KR" sz="4900" dirty="0"/>
              <a:t>, </a:t>
            </a:r>
            <a:r>
              <a:rPr lang="ko-KR" altLang="en-US" sz="4900" dirty="0"/>
              <a:t>구급차 사이렌</a:t>
            </a:r>
            <a:r>
              <a:rPr lang="en-US" altLang="ko-KR" sz="4900" dirty="0"/>
              <a:t>, </a:t>
            </a:r>
            <a:r>
              <a:rPr lang="ko-KR" altLang="en-US" sz="4900" dirty="0"/>
              <a:t>소방차 사이렌</a:t>
            </a:r>
            <a:r>
              <a:rPr lang="en-US" altLang="ko-KR" sz="4900" dirty="0"/>
              <a:t>, </a:t>
            </a:r>
            <a:r>
              <a:rPr lang="ko-KR" altLang="en-US" sz="4900" dirty="0"/>
              <a:t>오토바이</a:t>
            </a:r>
            <a:r>
              <a:rPr lang="en-US" altLang="ko-KR" sz="4900" dirty="0"/>
              <a:t>, </a:t>
            </a:r>
            <a:r>
              <a:rPr lang="ko-KR" altLang="en-US" sz="4900" dirty="0"/>
              <a:t>교통 소음</a:t>
            </a:r>
            <a:r>
              <a:rPr lang="en-US" altLang="ko-KR" sz="4900" dirty="0"/>
              <a:t>, </a:t>
            </a:r>
            <a:r>
              <a:rPr lang="ko-KR" altLang="en-US" sz="4900" dirty="0"/>
              <a:t>기차</a:t>
            </a:r>
            <a:r>
              <a:rPr lang="en-US" altLang="ko-KR" sz="4900" dirty="0"/>
              <a:t>, </a:t>
            </a:r>
            <a:r>
              <a:rPr lang="ko-KR" altLang="en-US" sz="4900" dirty="0"/>
              <a:t>기차 휘파람</a:t>
            </a:r>
            <a:r>
              <a:rPr lang="en-US" altLang="ko-KR" sz="4900" dirty="0"/>
              <a:t>, </a:t>
            </a:r>
            <a:r>
              <a:rPr lang="ko-KR" altLang="en-US" sz="4900" dirty="0"/>
              <a:t>기차 경적</a:t>
            </a:r>
            <a:r>
              <a:rPr lang="en-US" altLang="ko-KR" sz="4900" dirty="0"/>
              <a:t>, </a:t>
            </a:r>
            <a:r>
              <a:rPr lang="ko-KR" altLang="en-US" sz="4900" dirty="0"/>
              <a:t>지하철</a:t>
            </a:r>
            <a:r>
              <a:rPr lang="en-US" altLang="ko-KR" sz="4900" dirty="0"/>
              <a:t>, </a:t>
            </a:r>
            <a:r>
              <a:rPr lang="ko-KR" altLang="en-US" sz="4900" dirty="0"/>
              <a:t>비행기</a:t>
            </a:r>
            <a:r>
              <a:rPr lang="en-US" altLang="ko-KR" sz="4900" dirty="0"/>
              <a:t>, </a:t>
            </a:r>
            <a:r>
              <a:rPr lang="ko-KR" altLang="en-US" sz="4900" dirty="0"/>
              <a:t>제트 엔진</a:t>
            </a:r>
            <a:r>
              <a:rPr lang="en-US" altLang="ko-KR" sz="4900" dirty="0"/>
              <a:t>, </a:t>
            </a:r>
            <a:r>
              <a:rPr lang="ko-KR" altLang="en-US" sz="4900" dirty="0"/>
              <a:t>프로펠러</a:t>
            </a:r>
            <a:r>
              <a:rPr lang="en-US" altLang="ko-KR" sz="4900" dirty="0"/>
              <a:t>, </a:t>
            </a:r>
            <a:r>
              <a:rPr lang="ko-KR" altLang="en-US" sz="4900" dirty="0"/>
              <a:t>헬리콥터</a:t>
            </a:r>
            <a:r>
              <a:rPr lang="en-US" altLang="ko-KR" sz="4900" dirty="0"/>
              <a:t>, </a:t>
            </a:r>
            <a:r>
              <a:rPr lang="ko-KR" altLang="en-US" sz="4900" dirty="0"/>
              <a:t>비행기</a:t>
            </a:r>
            <a:r>
              <a:rPr lang="en-US" altLang="ko-KR" sz="4900" dirty="0"/>
              <a:t>, </a:t>
            </a:r>
            <a:r>
              <a:rPr lang="ko-KR" altLang="en-US" sz="4900" dirty="0"/>
              <a:t>자전거</a:t>
            </a:r>
            <a:r>
              <a:rPr lang="en-US" altLang="ko-KR" sz="4900" dirty="0"/>
              <a:t>, </a:t>
            </a:r>
            <a:r>
              <a:rPr lang="ko-KR" altLang="en-US" sz="4900" dirty="0"/>
              <a:t>스케이트보드</a:t>
            </a:r>
          </a:p>
          <a:p>
            <a:pPr>
              <a:lnSpc>
                <a:spcPct val="120000"/>
              </a:lnSpc>
            </a:pPr>
            <a:r>
              <a:rPr lang="ko-KR" altLang="en-US" sz="4900" b="1" dirty="0"/>
              <a:t>🛠️ 도구 및 기계 소리 </a:t>
            </a:r>
            <a:r>
              <a:rPr lang="en-US" altLang="ko-KR" sz="4900" b="1" dirty="0"/>
              <a:t>(</a:t>
            </a:r>
            <a:r>
              <a:rPr lang="en" altLang="ko-KR" sz="4900" b="1" dirty="0"/>
              <a:t>Tools &amp; Machinery Sounds)</a:t>
            </a:r>
          </a:p>
          <a:p>
            <a:pPr>
              <a:lnSpc>
                <a:spcPct val="120000"/>
              </a:lnSpc>
            </a:pPr>
            <a:r>
              <a:rPr lang="ko-KR" altLang="en-US" sz="4900" dirty="0"/>
              <a:t>엔진</a:t>
            </a:r>
            <a:r>
              <a:rPr lang="en-US" altLang="ko-KR" sz="4900" dirty="0"/>
              <a:t>, </a:t>
            </a:r>
            <a:r>
              <a:rPr lang="ko-KR" altLang="en-US" sz="4900" dirty="0"/>
              <a:t>치과 드릴</a:t>
            </a:r>
            <a:r>
              <a:rPr lang="en-US" altLang="ko-KR" sz="4900" dirty="0"/>
              <a:t>, </a:t>
            </a:r>
            <a:r>
              <a:rPr lang="ko-KR" altLang="en-US" sz="4900" dirty="0"/>
              <a:t>잔디 깎는 기계</a:t>
            </a:r>
            <a:r>
              <a:rPr lang="en-US" altLang="ko-KR" sz="4900" dirty="0"/>
              <a:t>, </a:t>
            </a:r>
            <a:r>
              <a:rPr lang="ko-KR" altLang="en-US" sz="4900" dirty="0" err="1"/>
              <a:t>전기톱</a:t>
            </a:r>
            <a:r>
              <a:rPr lang="en-US" altLang="ko-KR" sz="4900" dirty="0"/>
              <a:t>, </a:t>
            </a:r>
            <a:r>
              <a:rPr lang="ko-KR" altLang="en-US" sz="4900" dirty="0"/>
              <a:t>중형 엔진</a:t>
            </a:r>
            <a:r>
              <a:rPr lang="en-US" altLang="ko-KR" sz="4900" dirty="0"/>
              <a:t>, </a:t>
            </a:r>
            <a:r>
              <a:rPr lang="ko-KR" altLang="en-US" sz="4900" dirty="0"/>
              <a:t>대형 엔진</a:t>
            </a:r>
            <a:r>
              <a:rPr lang="en-US" altLang="ko-KR" sz="4900" dirty="0"/>
              <a:t>, </a:t>
            </a:r>
            <a:r>
              <a:rPr lang="ko-KR" altLang="en-US" sz="4900" dirty="0"/>
              <a:t>엔진 노킹</a:t>
            </a:r>
            <a:r>
              <a:rPr lang="en-US" altLang="ko-KR" sz="4900" dirty="0"/>
              <a:t>, </a:t>
            </a:r>
            <a:r>
              <a:rPr lang="ko-KR" altLang="en-US" sz="4900" dirty="0"/>
              <a:t>엔진 시동</a:t>
            </a:r>
            <a:r>
              <a:rPr lang="en-US" altLang="ko-KR" sz="4900" dirty="0"/>
              <a:t>, </a:t>
            </a:r>
            <a:r>
              <a:rPr lang="ko-KR" altLang="en-US" sz="4900" dirty="0" err="1"/>
              <a:t>공회전</a:t>
            </a:r>
            <a:r>
              <a:rPr lang="en-US" altLang="ko-KR" sz="4900" dirty="0"/>
              <a:t>, </a:t>
            </a:r>
            <a:r>
              <a:rPr lang="ko-KR" altLang="en-US" sz="4900" dirty="0"/>
              <a:t>가속</a:t>
            </a:r>
            <a:r>
              <a:rPr lang="en-US" altLang="ko-KR" sz="4900" dirty="0"/>
              <a:t>, </a:t>
            </a:r>
            <a:r>
              <a:rPr lang="ko-KR" altLang="en-US" sz="4900" dirty="0"/>
              <a:t>문</a:t>
            </a:r>
            <a:r>
              <a:rPr lang="en-US" altLang="ko-KR" sz="4900" dirty="0"/>
              <a:t>, </a:t>
            </a:r>
            <a:r>
              <a:rPr lang="ko-KR" altLang="en-US" sz="4900" dirty="0"/>
              <a:t>초인종</a:t>
            </a:r>
            <a:r>
              <a:rPr lang="en-US" altLang="ko-KR" sz="4900" dirty="0"/>
              <a:t>, </a:t>
            </a:r>
            <a:r>
              <a:rPr lang="ko-KR" altLang="en-US" sz="4900" dirty="0" err="1"/>
              <a:t>딩동</a:t>
            </a:r>
            <a:r>
              <a:rPr lang="en-US" altLang="ko-KR" sz="4900" dirty="0"/>
              <a:t>, </a:t>
            </a:r>
            <a:r>
              <a:rPr lang="ko-KR" altLang="en-US" sz="4900" dirty="0"/>
              <a:t>미닫이문</a:t>
            </a:r>
            <a:r>
              <a:rPr lang="en-US" altLang="ko-KR" sz="4900" dirty="0"/>
              <a:t>, </a:t>
            </a:r>
            <a:r>
              <a:rPr lang="ko-KR" altLang="en-US" sz="4900" dirty="0"/>
              <a:t>문 닫는 소리</a:t>
            </a:r>
            <a:r>
              <a:rPr lang="en-US" altLang="ko-KR" sz="4900" dirty="0"/>
              <a:t>, </a:t>
            </a:r>
            <a:r>
              <a:rPr lang="ko-KR" altLang="en-US" sz="4900" dirty="0"/>
              <a:t>노크</a:t>
            </a:r>
            <a:r>
              <a:rPr lang="en-US" altLang="ko-KR" sz="4900" dirty="0"/>
              <a:t>, </a:t>
            </a:r>
            <a:r>
              <a:rPr lang="ko-KR" altLang="en-US" sz="4900" dirty="0"/>
              <a:t>두드림</a:t>
            </a:r>
            <a:r>
              <a:rPr lang="en-US" altLang="ko-KR" sz="4900" dirty="0"/>
              <a:t>, </a:t>
            </a:r>
            <a:r>
              <a:rPr lang="ko-KR" altLang="en-US" sz="4900" dirty="0"/>
              <a:t>삐걱거림</a:t>
            </a:r>
            <a:r>
              <a:rPr lang="en-US" altLang="ko-KR" sz="4900" dirty="0"/>
              <a:t>, </a:t>
            </a:r>
            <a:r>
              <a:rPr lang="ko-KR" altLang="en-US" sz="4900" dirty="0"/>
              <a:t>찬장 여닫기</a:t>
            </a:r>
            <a:r>
              <a:rPr lang="en-US" altLang="ko-KR" sz="4900" dirty="0"/>
              <a:t>, </a:t>
            </a:r>
            <a:r>
              <a:rPr lang="ko-KR" altLang="en-US" sz="4900" dirty="0"/>
              <a:t>서랍 여닫기</a:t>
            </a:r>
            <a:r>
              <a:rPr lang="en-US" altLang="ko-KR" sz="4900" dirty="0"/>
              <a:t>, </a:t>
            </a:r>
            <a:r>
              <a:rPr lang="ko-KR" altLang="en-US" sz="4900" dirty="0" err="1"/>
              <a:t>식기류</a:t>
            </a:r>
            <a:r>
              <a:rPr lang="en-US" altLang="ko-KR" sz="4900" dirty="0"/>
              <a:t>, </a:t>
            </a:r>
            <a:r>
              <a:rPr lang="ko-KR" altLang="en-US" sz="4900" dirty="0"/>
              <a:t>조리도구</a:t>
            </a:r>
            <a:r>
              <a:rPr lang="en-US" altLang="ko-KR" sz="4900" dirty="0"/>
              <a:t>, </a:t>
            </a:r>
            <a:r>
              <a:rPr lang="ko-KR" altLang="en-US" sz="4900" dirty="0"/>
              <a:t>음식 자르기</a:t>
            </a:r>
            <a:r>
              <a:rPr lang="en-US" altLang="ko-KR" sz="4900" dirty="0"/>
              <a:t>, </a:t>
            </a:r>
            <a:r>
              <a:rPr lang="ko-KR" altLang="en-US" sz="4900" dirty="0"/>
              <a:t>음식 튀기기</a:t>
            </a:r>
            <a:r>
              <a:rPr lang="en-US" altLang="ko-KR" sz="4900" dirty="0"/>
              <a:t>, </a:t>
            </a:r>
            <a:r>
              <a:rPr lang="ko-KR" altLang="en-US" sz="4900" dirty="0"/>
              <a:t>전자레인지</a:t>
            </a:r>
            <a:r>
              <a:rPr lang="en-US" altLang="ko-KR" sz="4900" dirty="0"/>
              <a:t>, </a:t>
            </a:r>
            <a:r>
              <a:rPr lang="ko-KR" altLang="en-US" sz="4900" dirty="0"/>
              <a:t>믹서기</a:t>
            </a:r>
            <a:r>
              <a:rPr lang="en-US" altLang="ko-KR" sz="4900" dirty="0"/>
              <a:t>, </a:t>
            </a:r>
            <a:r>
              <a:rPr lang="ko-KR" altLang="en-US" sz="4900" dirty="0"/>
              <a:t>수도꼭지</a:t>
            </a:r>
            <a:r>
              <a:rPr lang="en-US" altLang="ko-KR" sz="4900" dirty="0"/>
              <a:t>, </a:t>
            </a:r>
            <a:r>
              <a:rPr lang="ko-KR" altLang="en-US" sz="4900" dirty="0"/>
              <a:t>싱크대</a:t>
            </a:r>
            <a:r>
              <a:rPr lang="en-US" altLang="ko-KR" sz="4900" dirty="0"/>
              <a:t>, </a:t>
            </a:r>
            <a:r>
              <a:rPr lang="ko-KR" altLang="en-US" sz="4900" dirty="0"/>
              <a:t>욕조</a:t>
            </a:r>
            <a:r>
              <a:rPr lang="en-US" altLang="ko-KR" sz="4900" dirty="0"/>
              <a:t>, </a:t>
            </a:r>
            <a:r>
              <a:rPr lang="ko-KR" altLang="en-US" sz="4900" dirty="0"/>
              <a:t>헤어 드라이어</a:t>
            </a:r>
            <a:r>
              <a:rPr lang="en-US" altLang="ko-KR" sz="4900" dirty="0"/>
              <a:t>, </a:t>
            </a:r>
            <a:r>
              <a:rPr lang="ko-KR" altLang="en-US" sz="4900" dirty="0"/>
              <a:t>변기 물내림</a:t>
            </a:r>
            <a:r>
              <a:rPr lang="en-US" altLang="ko-KR" sz="4900" dirty="0"/>
              <a:t>, </a:t>
            </a:r>
            <a:r>
              <a:rPr lang="ko-KR" altLang="en-US" sz="4900" dirty="0"/>
              <a:t>칫솔</a:t>
            </a:r>
            <a:r>
              <a:rPr lang="en-US" altLang="ko-KR" sz="4900" dirty="0"/>
              <a:t>, </a:t>
            </a:r>
            <a:r>
              <a:rPr lang="ko-KR" altLang="en-US" sz="4900" dirty="0"/>
              <a:t>전동 칫솔</a:t>
            </a:r>
            <a:r>
              <a:rPr lang="en-US" altLang="ko-KR" sz="4900" dirty="0"/>
              <a:t>, </a:t>
            </a:r>
            <a:r>
              <a:rPr lang="ko-KR" altLang="en-US" sz="4900" dirty="0"/>
              <a:t>진공 청소기</a:t>
            </a:r>
            <a:r>
              <a:rPr lang="en-US" altLang="ko-KR" sz="4900" dirty="0"/>
              <a:t>, </a:t>
            </a:r>
            <a:r>
              <a:rPr lang="ko-KR" altLang="en-US" sz="4900" dirty="0"/>
              <a:t>지퍼</a:t>
            </a:r>
            <a:r>
              <a:rPr lang="en-US" altLang="ko-KR" sz="4900" dirty="0"/>
              <a:t>, </a:t>
            </a:r>
            <a:r>
              <a:rPr lang="ko-KR" altLang="en-US" sz="4900" dirty="0"/>
              <a:t>열쇠 소리</a:t>
            </a:r>
            <a:r>
              <a:rPr lang="en-US" altLang="ko-KR" sz="4900" dirty="0"/>
              <a:t>, </a:t>
            </a:r>
            <a:r>
              <a:rPr lang="ko-KR" altLang="en-US" sz="4900" dirty="0"/>
              <a:t>동전 떨어지는 소리</a:t>
            </a:r>
            <a:r>
              <a:rPr lang="en-US" altLang="ko-KR" sz="4900" dirty="0"/>
              <a:t>, </a:t>
            </a:r>
            <a:r>
              <a:rPr lang="ko-KR" altLang="en-US" sz="4900" dirty="0"/>
              <a:t>가위</a:t>
            </a:r>
            <a:r>
              <a:rPr lang="en-US" altLang="ko-KR" sz="4900" dirty="0"/>
              <a:t>, </a:t>
            </a:r>
            <a:r>
              <a:rPr lang="ko-KR" altLang="en-US" sz="4900" dirty="0"/>
              <a:t>전기 면도기</a:t>
            </a:r>
            <a:r>
              <a:rPr lang="en-US" altLang="ko-KR" sz="4900" dirty="0"/>
              <a:t>, </a:t>
            </a:r>
            <a:r>
              <a:rPr lang="ko-KR" altLang="en-US" sz="4900" dirty="0"/>
              <a:t>카드 </a:t>
            </a:r>
            <a:r>
              <a:rPr lang="ko-KR" altLang="en-US" sz="4900" dirty="0" err="1"/>
              <a:t>셔플</a:t>
            </a:r>
            <a:r>
              <a:rPr lang="en-US" altLang="ko-KR" sz="4900" dirty="0"/>
              <a:t>, </a:t>
            </a:r>
            <a:r>
              <a:rPr lang="ko-KR" altLang="en-US" sz="4900" dirty="0"/>
              <a:t>타자</a:t>
            </a:r>
            <a:r>
              <a:rPr lang="en-US" altLang="ko-KR" sz="4900" dirty="0"/>
              <a:t>, </a:t>
            </a:r>
            <a:r>
              <a:rPr lang="ko-KR" altLang="en-US" sz="4900" dirty="0"/>
              <a:t>타자기</a:t>
            </a:r>
            <a:r>
              <a:rPr lang="en-US" altLang="ko-KR" sz="4900" dirty="0"/>
              <a:t>, </a:t>
            </a:r>
            <a:r>
              <a:rPr lang="ko-KR" altLang="en-US" sz="4900" dirty="0"/>
              <a:t>컴퓨터 키보드</a:t>
            </a:r>
            <a:r>
              <a:rPr lang="en-US" altLang="ko-KR" sz="4900" dirty="0"/>
              <a:t>, </a:t>
            </a:r>
            <a:r>
              <a:rPr lang="ko-KR" altLang="en-US" sz="4900" dirty="0"/>
              <a:t>글쓰기</a:t>
            </a:r>
          </a:p>
          <a:p>
            <a:pPr>
              <a:lnSpc>
                <a:spcPct val="120000"/>
              </a:lnSpc>
            </a:pPr>
            <a:r>
              <a:rPr lang="ko-KR" altLang="en-US" sz="4900" b="1" dirty="0"/>
              <a:t>🚨 경고 및 알람 소리 </a:t>
            </a:r>
            <a:r>
              <a:rPr lang="en-US" altLang="ko-KR" sz="4900" b="1" dirty="0"/>
              <a:t>(</a:t>
            </a:r>
            <a:r>
              <a:rPr lang="en" altLang="ko-KR" sz="4900" b="1" dirty="0"/>
              <a:t>Alarms &amp; Alert Sounds)</a:t>
            </a:r>
          </a:p>
          <a:p>
            <a:pPr>
              <a:lnSpc>
                <a:spcPct val="120000"/>
              </a:lnSpc>
            </a:pPr>
            <a:r>
              <a:rPr lang="ko-KR" altLang="en-US" sz="4900" dirty="0"/>
              <a:t>전화</a:t>
            </a:r>
            <a:r>
              <a:rPr lang="en-US" altLang="ko-KR" sz="4900" dirty="0"/>
              <a:t>, </a:t>
            </a:r>
            <a:r>
              <a:rPr lang="ko-KR" altLang="en-US" sz="4900" dirty="0"/>
              <a:t>전화 벨소리</a:t>
            </a:r>
            <a:r>
              <a:rPr lang="en-US" altLang="ko-KR" sz="4900" dirty="0"/>
              <a:t>, </a:t>
            </a:r>
            <a:r>
              <a:rPr lang="ko-KR" altLang="en-US" sz="4900" dirty="0"/>
              <a:t>벨소리</a:t>
            </a:r>
            <a:r>
              <a:rPr lang="en-US" altLang="ko-KR" sz="4900" dirty="0"/>
              <a:t>, </a:t>
            </a:r>
            <a:r>
              <a:rPr lang="ko-KR" altLang="en-US" sz="4900" dirty="0"/>
              <a:t>전화 다이얼</a:t>
            </a:r>
            <a:r>
              <a:rPr lang="en-US" altLang="ko-KR" sz="4900" dirty="0"/>
              <a:t>, </a:t>
            </a:r>
            <a:r>
              <a:rPr lang="ko-KR" altLang="en-US" sz="4900" dirty="0"/>
              <a:t>다이얼 톤</a:t>
            </a:r>
            <a:r>
              <a:rPr lang="en-US" altLang="ko-KR" sz="4900" dirty="0"/>
              <a:t>, </a:t>
            </a:r>
            <a:r>
              <a:rPr lang="ko-KR" altLang="en-US" sz="4900" dirty="0"/>
              <a:t>통화 중 신호</a:t>
            </a:r>
            <a:r>
              <a:rPr lang="en-US" altLang="ko-KR" sz="4900" dirty="0"/>
              <a:t>, </a:t>
            </a:r>
            <a:r>
              <a:rPr lang="ko-KR" altLang="en-US" sz="4900" dirty="0"/>
              <a:t>알람 시계</a:t>
            </a:r>
            <a:r>
              <a:rPr lang="en-US" altLang="ko-KR" sz="4900" dirty="0"/>
              <a:t>, </a:t>
            </a:r>
            <a:r>
              <a:rPr lang="ko-KR" altLang="en-US" sz="4900" dirty="0"/>
              <a:t>사이렌</a:t>
            </a:r>
            <a:r>
              <a:rPr lang="en-US" altLang="ko-KR" sz="4900" dirty="0"/>
              <a:t>, </a:t>
            </a:r>
            <a:r>
              <a:rPr lang="ko-KR" altLang="en-US" sz="4900" dirty="0"/>
              <a:t>민방위 사이렌</a:t>
            </a:r>
            <a:r>
              <a:rPr lang="en-US" altLang="ko-KR" sz="4900" dirty="0"/>
              <a:t>, </a:t>
            </a:r>
            <a:r>
              <a:rPr lang="ko-KR" altLang="en-US" sz="4900" dirty="0" err="1"/>
              <a:t>부저</a:t>
            </a:r>
            <a:r>
              <a:rPr lang="en-US" altLang="ko-KR" sz="4900" dirty="0"/>
              <a:t>, </a:t>
            </a:r>
            <a:r>
              <a:rPr lang="ko-KR" altLang="en-US" sz="4900" dirty="0"/>
              <a:t>연기 감지기</a:t>
            </a:r>
            <a:r>
              <a:rPr lang="en-US" altLang="ko-KR" sz="4900" dirty="0"/>
              <a:t>, </a:t>
            </a:r>
            <a:r>
              <a:rPr lang="ko-KR" altLang="en-US" sz="4900" dirty="0"/>
              <a:t>화재 경보</a:t>
            </a:r>
            <a:r>
              <a:rPr lang="en-US" altLang="ko-KR" sz="4900" dirty="0"/>
              <a:t>, </a:t>
            </a:r>
            <a:r>
              <a:rPr lang="ko-KR" altLang="en-US" sz="4900" dirty="0"/>
              <a:t>뱃고동</a:t>
            </a:r>
            <a:r>
              <a:rPr lang="en-US" altLang="ko-KR" sz="4900" dirty="0"/>
              <a:t>, </a:t>
            </a:r>
            <a:r>
              <a:rPr lang="ko-KR" altLang="en-US" sz="4900" dirty="0"/>
              <a:t>휘슬</a:t>
            </a:r>
            <a:r>
              <a:rPr lang="en-US" altLang="ko-KR" sz="4900" dirty="0"/>
              <a:t>, </a:t>
            </a:r>
            <a:r>
              <a:rPr lang="ko-KR" altLang="en-US" sz="4900" dirty="0"/>
              <a:t>증기 휘슬</a:t>
            </a:r>
          </a:p>
          <a:p>
            <a:pPr>
              <a:lnSpc>
                <a:spcPct val="120000"/>
              </a:lnSpc>
            </a:pPr>
            <a:r>
              <a:rPr lang="ko-KR" altLang="en-US" sz="4900" b="1" dirty="0"/>
              <a:t>🔧 기계 및 장치 소리 </a:t>
            </a:r>
            <a:r>
              <a:rPr lang="en-US" altLang="ko-KR" sz="4900" b="1" dirty="0"/>
              <a:t>(</a:t>
            </a:r>
            <a:r>
              <a:rPr lang="en" altLang="ko-KR" sz="4900" b="1" dirty="0"/>
              <a:t>Mechanical &amp; Device Sounds)</a:t>
            </a:r>
          </a:p>
          <a:p>
            <a:pPr>
              <a:lnSpc>
                <a:spcPct val="120000"/>
              </a:lnSpc>
            </a:pPr>
            <a:r>
              <a:rPr lang="ko-KR" altLang="en-US" sz="4900" dirty="0"/>
              <a:t>클럭</a:t>
            </a:r>
            <a:r>
              <a:rPr lang="en-US" altLang="ko-KR" sz="4900" dirty="0"/>
              <a:t>, </a:t>
            </a:r>
            <a:r>
              <a:rPr lang="ko-KR" altLang="en-US" sz="4900" dirty="0" err="1"/>
              <a:t>틱</a:t>
            </a:r>
            <a:r>
              <a:rPr lang="ko-KR" altLang="en-US" sz="4900" dirty="0"/>
              <a:t> 소리</a:t>
            </a:r>
            <a:r>
              <a:rPr lang="en-US" altLang="ko-KR" sz="4900" dirty="0"/>
              <a:t>, </a:t>
            </a:r>
            <a:r>
              <a:rPr lang="ko-KR" altLang="en-US" sz="4900" dirty="0" err="1"/>
              <a:t>틱톡</a:t>
            </a:r>
            <a:r>
              <a:rPr lang="ko-KR" altLang="en-US" sz="4900" dirty="0"/>
              <a:t> 소리</a:t>
            </a:r>
            <a:r>
              <a:rPr lang="en-US" altLang="ko-KR" sz="4900" dirty="0"/>
              <a:t>, </a:t>
            </a:r>
            <a:r>
              <a:rPr lang="ko-KR" altLang="en-US" sz="4900" dirty="0"/>
              <a:t>기어</a:t>
            </a:r>
            <a:r>
              <a:rPr lang="en-US" altLang="ko-KR" sz="4900" dirty="0"/>
              <a:t>, </a:t>
            </a:r>
            <a:r>
              <a:rPr lang="ko-KR" altLang="en-US" sz="4900" dirty="0"/>
              <a:t>도르래</a:t>
            </a:r>
            <a:r>
              <a:rPr lang="en-US" altLang="ko-KR" sz="4900" dirty="0"/>
              <a:t>, </a:t>
            </a:r>
            <a:r>
              <a:rPr lang="ko-KR" altLang="en-US" sz="4900" dirty="0"/>
              <a:t>재봉틀</a:t>
            </a:r>
            <a:r>
              <a:rPr lang="en-US" altLang="ko-KR" sz="4900" dirty="0"/>
              <a:t>, </a:t>
            </a:r>
            <a:r>
              <a:rPr lang="ko-KR" altLang="en-US" sz="4900" dirty="0"/>
              <a:t>선풍기</a:t>
            </a:r>
            <a:r>
              <a:rPr lang="en-US" altLang="ko-KR" sz="4900" dirty="0"/>
              <a:t>, </a:t>
            </a:r>
            <a:r>
              <a:rPr lang="ko-KR" altLang="en-US" sz="4900" dirty="0"/>
              <a:t>에어컨</a:t>
            </a:r>
            <a:r>
              <a:rPr lang="en-US" altLang="ko-KR" sz="4900" dirty="0"/>
              <a:t>, </a:t>
            </a:r>
            <a:r>
              <a:rPr lang="ko-KR" altLang="en-US" sz="4900" dirty="0"/>
              <a:t>계산기</a:t>
            </a:r>
            <a:r>
              <a:rPr lang="en-US" altLang="ko-KR" sz="4900" dirty="0"/>
              <a:t>, </a:t>
            </a:r>
            <a:r>
              <a:rPr lang="ko-KR" altLang="en-US" sz="4900" dirty="0"/>
              <a:t>프린터</a:t>
            </a:r>
            <a:r>
              <a:rPr lang="en-US" altLang="ko-KR" sz="4900" dirty="0"/>
              <a:t>, </a:t>
            </a:r>
            <a:r>
              <a:rPr lang="ko-KR" altLang="en-US" sz="4900" dirty="0"/>
              <a:t>카메라</a:t>
            </a:r>
            <a:r>
              <a:rPr lang="en-US" altLang="ko-KR" sz="4900" dirty="0"/>
              <a:t>, </a:t>
            </a:r>
            <a:r>
              <a:rPr lang="ko-KR" altLang="en-US" sz="4900" dirty="0"/>
              <a:t>일안 </a:t>
            </a:r>
            <a:r>
              <a:rPr lang="ko-KR" altLang="en-US" sz="4900" dirty="0" err="1"/>
              <a:t>반사식</a:t>
            </a:r>
            <a:r>
              <a:rPr lang="ko-KR" altLang="en-US" sz="4900" dirty="0"/>
              <a:t> 카메라</a:t>
            </a:r>
          </a:p>
          <a:p>
            <a:pPr>
              <a:lnSpc>
                <a:spcPct val="120000"/>
              </a:lnSpc>
            </a:pPr>
            <a:r>
              <a:rPr lang="ko-KR" altLang="en-US" sz="4900" b="1" dirty="0"/>
              <a:t>💥 폭발 및 충돌 소리 </a:t>
            </a:r>
            <a:r>
              <a:rPr lang="en-US" altLang="ko-KR" sz="4900" b="1" dirty="0"/>
              <a:t>(</a:t>
            </a:r>
            <a:r>
              <a:rPr lang="en" altLang="ko-KR" sz="4900" b="1" dirty="0"/>
              <a:t>Explosions &amp; Impact Sounds)</a:t>
            </a:r>
          </a:p>
          <a:p>
            <a:pPr>
              <a:lnSpc>
                <a:spcPct val="120000"/>
              </a:lnSpc>
            </a:pPr>
            <a:r>
              <a:rPr lang="ko-KR" altLang="en-US" sz="4900" dirty="0"/>
              <a:t>폭발</a:t>
            </a:r>
            <a:r>
              <a:rPr lang="en-US" altLang="ko-KR" sz="4900" dirty="0"/>
              <a:t>, </a:t>
            </a:r>
            <a:r>
              <a:rPr lang="ko-KR" altLang="en-US" sz="4900" dirty="0"/>
              <a:t>총소리</a:t>
            </a:r>
            <a:r>
              <a:rPr lang="en-US" altLang="ko-KR" sz="4900" dirty="0"/>
              <a:t>, </a:t>
            </a:r>
            <a:r>
              <a:rPr lang="ko-KR" altLang="en-US" sz="4900" dirty="0"/>
              <a:t>기관총</a:t>
            </a:r>
            <a:r>
              <a:rPr lang="en-US" altLang="ko-KR" sz="4900" dirty="0"/>
              <a:t>, </a:t>
            </a:r>
            <a:r>
              <a:rPr lang="ko-KR" altLang="en-US" sz="4900" dirty="0"/>
              <a:t>일제 사격</a:t>
            </a:r>
            <a:r>
              <a:rPr lang="en-US" altLang="ko-KR" sz="4900" dirty="0"/>
              <a:t>, </a:t>
            </a:r>
            <a:r>
              <a:rPr lang="ko-KR" altLang="en-US" sz="4900" dirty="0"/>
              <a:t>대포 발사</a:t>
            </a:r>
            <a:r>
              <a:rPr lang="en-US" altLang="ko-KR" sz="4900" dirty="0"/>
              <a:t>, </a:t>
            </a:r>
            <a:r>
              <a:rPr lang="ko-KR" altLang="en-US" sz="4900" dirty="0"/>
              <a:t>장난감 총</a:t>
            </a:r>
            <a:r>
              <a:rPr lang="en-US" altLang="ko-KR" sz="4900" dirty="0"/>
              <a:t>, </a:t>
            </a:r>
            <a:r>
              <a:rPr lang="ko-KR" altLang="en-US" sz="4900" dirty="0"/>
              <a:t>불꽃놀이</a:t>
            </a:r>
            <a:r>
              <a:rPr lang="en-US" altLang="ko-KR" sz="4900" dirty="0"/>
              <a:t>, </a:t>
            </a:r>
            <a:r>
              <a:rPr lang="ko-KR" altLang="en-US" sz="4900" dirty="0"/>
              <a:t>폭죽</a:t>
            </a:r>
            <a:r>
              <a:rPr lang="en-US" altLang="ko-KR" sz="4900" dirty="0"/>
              <a:t>, </a:t>
            </a:r>
            <a:r>
              <a:rPr lang="ko-KR" altLang="en-US" sz="4900" dirty="0"/>
              <a:t>터짐</a:t>
            </a:r>
            <a:r>
              <a:rPr lang="en-US" altLang="ko-KR" sz="4900" dirty="0"/>
              <a:t>, </a:t>
            </a:r>
            <a:r>
              <a:rPr lang="ko-KR" altLang="en-US" sz="4900" dirty="0"/>
              <a:t>분출</a:t>
            </a:r>
            <a:r>
              <a:rPr lang="en-US" altLang="ko-KR" sz="4900" dirty="0"/>
              <a:t>, </a:t>
            </a:r>
            <a:r>
              <a:rPr lang="ko-KR" altLang="en-US" sz="4900" dirty="0"/>
              <a:t>붐 소리</a:t>
            </a:r>
          </a:p>
          <a:p>
            <a:pPr>
              <a:lnSpc>
                <a:spcPct val="120000"/>
              </a:lnSpc>
            </a:pPr>
            <a:r>
              <a:rPr lang="ko-KR" altLang="en-US" sz="4900" b="1" dirty="0"/>
              <a:t>🧱 물체 및 재료 소리 </a:t>
            </a:r>
            <a:r>
              <a:rPr lang="en-US" altLang="ko-KR" sz="4900" b="1" dirty="0"/>
              <a:t>(</a:t>
            </a:r>
            <a:r>
              <a:rPr lang="en" altLang="ko-KR" sz="4900" b="1" dirty="0"/>
              <a:t>Objects &amp; Material Sounds)</a:t>
            </a:r>
          </a:p>
          <a:p>
            <a:pPr>
              <a:lnSpc>
                <a:spcPct val="120000"/>
              </a:lnSpc>
            </a:pPr>
            <a:r>
              <a:rPr lang="ko-KR" altLang="en-US" sz="4900" dirty="0"/>
              <a:t>나무</a:t>
            </a:r>
            <a:r>
              <a:rPr lang="en-US" altLang="ko-KR" sz="4900" dirty="0"/>
              <a:t>, </a:t>
            </a:r>
            <a:r>
              <a:rPr lang="ko-KR" altLang="en-US" sz="4900" dirty="0"/>
              <a:t>자르기</a:t>
            </a:r>
            <a:r>
              <a:rPr lang="en-US" altLang="ko-KR" sz="4900" dirty="0"/>
              <a:t>, </a:t>
            </a:r>
            <a:r>
              <a:rPr lang="ko-KR" altLang="en-US" sz="4900" dirty="0"/>
              <a:t>부서짐</a:t>
            </a:r>
            <a:r>
              <a:rPr lang="en-US" altLang="ko-KR" sz="4900" dirty="0"/>
              <a:t>, </a:t>
            </a:r>
            <a:r>
              <a:rPr lang="ko-KR" altLang="en-US" sz="4900" dirty="0"/>
              <a:t>금이 가는 소리</a:t>
            </a:r>
            <a:r>
              <a:rPr lang="en-US" altLang="ko-KR" sz="4900" dirty="0"/>
              <a:t>, </a:t>
            </a:r>
            <a:r>
              <a:rPr lang="ko-KR" altLang="en-US" sz="4900" dirty="0"/>
              <a:t>유리</a:t>
            </a:r>
            <a:r>
              <a:rPr lang="en-US" altLang="ko-KR" sz="4900" dirty="0"/>
              <a:t>, </a:t>
            </a:r>
            <a:r>
              <a:rPr lang="ko-KR" altLang="en-US" sz="4900" dirty="0"/>
              <a:t>짤랑</a:t>
            </a:r>
            <a:r>
              <a:rPr lang="en-US" altLang="ko-KR" sz="4900" dirty="0"/>
              <a:t>, </a:t>
            </a:r>
            <a:r>
              <a:rPr lang="ko-KR" altLang="en-US" sz="4900" dirty="0"/>
              <a:t>깨짐</a:t>
            </a:r>
            <a:r>
              <a:rPr lang="en-US" altLang="ko-KR" sz="4900" dirty="0"/>
              <a:t>, </a:t>
            </a:r>
            <a:r>
              <a:rPr lang="ko-KR" altLang="en-US" sz="4900" dirty="0"/>
              <a:t>액체</a:t>
            </a:r>
            <a:r>
              <a:rPr lang="en-US" altLang="ko-KR" sz="4900" dirty="0"/>
              <a:t>, </a:t>
            </a:r>
            <a:r>
              <a:rPr lang="ko-KR" altLang="en-US" sz="4900" dirty="0"/>
              <a:t>튀김</a:t>
            </a:r>
            <a:r>
              <a:rPr lang="en-US" altLang="ko-KR" sz="4900" dirty="0"/>
              <a:t>, </a:t>
            </a:r>
            <a:r>
              <a:rPr lang="ko-KR" altLang="en-US" sz="4900" dirty="0"/>
              <a:t>출렁임</a:t>
            </a:r>
            <a:r>
              <a:rPr lang="en-US" altLang="ko-KR" sz="4900" dirty="0"/>
              <a:t>, </a:t>
            </a:r>
            <a:r>
              <a:rPr lang="ko-KR" altLang="en-US" sz="4900" dirty="0"/>
              <a:t>찰박찰박</a:t>
            </a:r>
            <a:r>
              <a:rPr lang="en-US" altLang="ko-KR" sz="4900" dirty="0"/>
              <a:t>, </a:t>
            </a:r>
            <a:r>
              <a:rPr lang="ko-KR" altLang="en-US" sz="4900" dirty="0"/>
              <a:t>뚝뚝 떨어지는 소리</a:t>
            </a:r>
            <a:r>
              <a:rPr lang="en-US" altLang="ko-KR" sz="4900" dirty="0"/>
              <a:t>, </a:t>
            </a:r>
            <a:r>
              <a:rPr lang="ko-KR" altLang="en-US" sz="4900" dirty="0"/>
              <a:t>붓기</a:t>
            </a:r>
            <a:r>
              <a:rPr lang="en-US" altLang="ko-KR" sz="4900" dirty="0"/>
              <a:t>, </a:t>
            </a:r>
            <a:r>
              <a:rPr lang="ko-KR" altLang="en-US" sz="4900" dirty="0"/>
              <a:t>흘러내림</a:t>
            </a:r>
            <a:r>
              <a:rPr lang="en-US" altLang="ko-KR" sz="4900" dirty="0"/>
              <a:t>, </a:t>
            </a:r>
            <a:r>
              <a:rPr lang="ko-KR" altLang="en-US" sz="4900" dirty="0"/>
              <a:t>분출</a:t>
            </a:r>
            <a:r>
              <a:rPr lang="en-US" altLang="ko-KR" sz="4900" dirty="0"/>
              <a:t>, </a:t>
            </a:r>
            <a:r>
              <a:rPr lang="ko-KR" altLang="en-US" sz="4900" dirty="0"/>
              <a:t>채우기</a:t>
            </a:r>
            <a:r>
              <a:rPr lang="en-US" altLang="ko-KR" sz="4900" dirty="0"/>
              <a:t>, </a:t>
            </a:r>
            <a:r>
              <a:rPr lang="ko-KR" altLang="en-US" sz="4900" dirty="0"/>
              <a:t>분사</a:t>
            </a:r>
            <a:r>
              <a:rPr lang="en-US" altLang="ko-KR" sz="4900" dirty="0"/>
              <a:t>, </a:t>
            </a:r>
            <a:r>
              <a:rPr lang="ko-KR" altLang="en-US" sz="4900" dirty="0"/>
              <a:t>펌프</a:t>
            </a:r>
            <a:r>
              <a:rPr lang="en-US" altLang="ko-KR" sz="4900" dirty="0"/>
              <a:t>, </a:t>
            </a:r>
            <a:r>
              <a:rPr lang="ko-KR" altLang="en-US" sz="4900" dirty="0"/>
              <a:t>저어주기</a:t>
            </a:r>
            <a:r>
              <a:rPr lang="en-US" altLang="ko-KR" sz="4900" dirty="0"/>
              <a:t>, </a:t>
            </a:r>
            <a:r>
              <a:rPr lang="ko-KR" altLang="en-US" sz="4900" dirty="0"/>
              <a:t>끓는 소리</a:t>
            </a:r>
          </a:p>
          <a:p>
            <a:pPr>
              <a:lnSpc>
                <a:spcPct val="120000"/>
              </a:lnSpc>
            </a:pPr>
            <a:r>
              <a:rPr lang="ko-KR" altLang="en-US" sz="4900" b="1" dirty="0"/>
              <a:t>📡 기타 소리 </a:t>
            </a:r>
            <a:r>
              <a:rPr lang="en-US" altLang="ko-KR" sz="4900" b="1" dirty="0"/>
              <a:t>(</a:t>
            </a:r>
            <a:r>
              <a:rPr lang="en" altLang="ko-KR" sz="4900" b="1" dirty="0"/>
              <a:t>Miscellaneous Sounds)</a:t>
            </a:r>
          </a:p>
          <a:p>
            <a:pPr>
              <a:lnSpc>
                <a:spcPct val="120000"/>
              </a:lnSpc>
            </a:pPr>
            <a:r>
              <a:rPr lang="ko-KR" altLang="en-US" sz="4900" dirty="0"/>
              <a:t>소나</a:t>
            </a:r>
            <a:r>
              <a:rPr lang="en-US" altLang="ko-KR" sz="4900" dirty="0"/>
              <a:t>, </a:t>
            </a:r>
            <a:r>
              <a:rPr lang="ko-KR" altLang="en-US" sz="4900" dirty="0"/>
              <a:t>화살</a:t>
            </a:r>
            <a:r>
              <a:rPr lang="en-US" altLang="ko-KR" sz="4900" dirty="0"/>
              <a:t>, </a:t>
            </a:r>
            <a:r>
              <a:rPr lang="ko-KR" altLang="en-US" sz="4900" dirty="0" err="1"/>
              <a:t>슈우우</a:t>
            </a:r>
            <a:r>
              <a:rPr lang="en-US" altLang="ko-KR" sz="4900" dirty="0"/>
              <a:t>, </a:t>
            </a:r>
            <a:r>
              <a:rPr lang="ko-KR" altLang="en-US" sz="4900" dirty="0"/>
              <a:t>쿵</a:t>
            </a:r>
            <a:r>
              <a:rPr lang="en-US" altLang="ko-KR" sz="4900" dirty="0"/>
              <a:t>, </a:t>
            </a:r>
            <a:r>
              <a:rPr lang="ko-KR" altLang="en-US" sz="4900" dirty="0"/>
              <a:t>퉁</a:t>
            </a:r>
            <a:r>
              <a:rPr lang="en-US" altLang="ko-KR" sz="4900" dirty="0"/>
              <a:t>, </a:t>
            </a:r>
            <a:r>
              <a:rPr lang="ko-KR" altLang="en-US" sz="4900" dirty="0"/>
              <a:t>전자 튜너</a:t>
            </a:r>
            <a:r>
              <a:rPr lang="en-US" altLang="ko-KR" sz="4900" dirty="0"/>
              <a:t>, </a:t>
            </a:r>
            <a:r>
              <a:rPr lang="ko-KR" altLang="en-US" sz="4900" dirty="0"/>
              <a:t>효과 장치</a:t>
            </a:r>
            <a:r>
              <a:rPr lang="en-US" altLang="ko-KR" sz="4900" dirty="0"/>
              <a:t>, </a:t>
            </a:r>
            <a:r>
              <a:rPr lang="ko-KR" altLang="en-US" sz="4900" dirty="0"/>
              <a:t>코러스 효과</a:t>
            </a:r>
            <a:r>
              <a:rPr lang="en-US" altLang="ko-KR" sz="4900" dirty="0"/>
              <a:t>, </a:t>
            </a:r>
            <a:r>
              <a:rPr lang="ko-KR" altLang="en-US" sz="4900" dirty="0"/>
              <a:t>농구 드리블</a:t>
            </a:r>
            <a:r>
              <a:rPr lang="en-US" altLang="ko-KR" sz="4900" dirty="0"/>
              <a:t>, </a:t>
            </a:r>
            <a:r>
              <a:rPr lang="ko-KR" altLang="en-US" sz="4900" dirty="0"/>
              <a:t>쾅</a:t>
            </a:r>
            <a:r>
              <a:rPr lang="en-US" altLang="ko-KR" sz="4900" dirty="0"/>
              <a:t>, </a:t>
            </a:r>
            <a:r>
              <a:rPr lang="ko-KR" altLang="en-US" sz="4900" dirty="0"/>
              <a:t>찰싹</a:t>
            </a:r>
            <a:r>
              <a:rPr lang="en-US" altLang="ko-KR" sz="4900" dirty="0"/>
              <a:t>, </a:t>
            </a:r>
            <a:r>
              <a:rPr lang="ko-KR" altLang="en-US" sz="4900" dirty="0"/>
              <a:t>퍽</a:t>
            </a:r>
            <a:r>
              <a:rPr lang="en-US" altLang="ko-KR" sz="4900" dirty="0"/>
              <a:t>, </a:t>
            </a:r>
            <a:r>
              <a:rPr lang="ko-KR" altLang="en-US" sz="4900" dirty="0"/>
              <a:t>부딪침</a:t>
            </a:r>
            <a:r>
              <a:rPr lang="en-US" altLang="ko-KR" sz="4900" dirty="0"/>
              <a:t>, </a:t>
            </a:r>
            <a:r>
              <a:rPr lang="ko-KR" altLang="en-US" sz="4900" dirty="0"/>
              <a:t>깨짐</a:t>
            </a:r>
            <a:r>
              <a:rPr lang="en-US" altLang="ko-KR" sz="4900" dirty="0"/>
              <a:t>,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4473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B80380-CCDB-D1E7-A673-5A11BBF15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052" y="512426"/>
            <a:ext cx="10586720" cy="284190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kumimoji="1" lang="en-US" altLang="ko-KR" dirty="0"/>
              <a:t>Meta data</a:t>
            </a:r>
          </a:p>
          <a:p>
            <a:pPr marL="0" indent="0">
              <a:buNone/>
            </a:pPr>
            <a:r>
              <a:rPr kumimoji="1" lang="en-US" altLang="ko-KR" dirty="0">
                <a:hlinkClick r:id="rId2"/>
              </a:rPr>
              <a:t>file:///Users/minimac/Desktop/fire_classification/class_labels_indices.csv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>
                <a:hlinkClick r:id="rId3"/>
              </a:rPr>
              <a:t>file:///Users/minimac/Desktop/fire_classification/unbalanced_train_segments.csv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 err="1"/>
              <a:t>youtube</a:t>
            </a:r>
            <a:r>
              <a:rPr kumimoji="1" lang="ko-KR" altLang="en-US" dirty="0"/>
              <a:t> </a:t>
            </a:r>
            <a:r>
              <a:rPr kumimoji="1" lang="en-US" altLang="ko-KR" dirty="0"/>
              <a:t>to wav </a:t>
            </a:r>
            <a:r>
              <a:rPr kumimoji="1" lang="ko-KR" altLang="en-US" dirty="0"/>
              <a:t>변환</a:t>
            </a:r>
            <a:r>
              <a:rPr kumimoji="1" lang="en-US" altLang="ko-KR" dirty="0"/>
              <a:t> </a:t>
            </a:r>
            <a:r>
              <a:rPr kumimoji="1" lang="ko-KR" altLang="en-US" dirty="0"/>
              <a:t>및 저장 코드</a:t>
            </a:r>
            <a:r>
              <a:rPr kumimoji="1" lang="en" altLang="ko-KR" dirty="0">
                <a:hlinkClick r:id="rId4"/>
              </a:rPr>
              <a:t>file:///Users/minimac/Desktop/fire_classification/youtube_to_wav_data_collection.ipynb</a:t>
            </a:r>
            <a:endParaRPr kumimoji="1" lang="en-US" altLang="ko-KR" dirty="0"/>
          </a:p>
          <a:p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B8AA879-6D95-7DE9-3F22-ACCD502EE5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856" y="3478768"/>
            <a:ext cx="4178300" cy="2463800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39DC4D-2A0A-F350-D088-DD2766A48D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6708" y="3478768"/>
            <a:ext cx="5437332" cy="14892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C40B86-6AAF-4411-2DD5-C4DDD2931385}"/>
              </a:ext>
            </a:extLst>
          </p:cNvPr>
          <p:cNvSpPr txBox="1"/>
          <p:nvPr/>
        </p:nvSpPr>
        <p:spPr>
          <a:xfrm>
            <a:off x="1409064" y="5942568"/>
            <a:ext cx="36912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&lt;&lt;</a:t>
            </a:r>
            <a:r>
              <a:rPr lang="ko-KR" altLang="en-US" dirty="0"/>
              <a:t> </a:t>
            </a:r>
            <a:r>
              <a:rPr lang="ko-KR" altLang="en-US" dirty="0" err="1"/>
              <a:t>class_labels_indices.csv</a:t>
            </a:r>
            <a:r>
              <a:rPr lang="en-US" altLang="ko-KR" dirty="0"/>
              <a:t>&gt;&gt;</a:t>
            </a:r>
          </a:p>
          <a:p>
            <a:r>
              <a:rPr lang="ko-KR" altLang="en-US" dirty="0"/>
              <a:t>클래스마다 지정된 </a:t>
            </a:r>
            <a:r>
              <a:rPr lang="en-US" altLang="ko-KR" dirty="0"/>
              <a:t>MID</a:t>
            </a:r>
            <a:r>
              <a:rPr lang="ko-KR" altLang="en-US" dirty="0"/>
              <a:t> 존재 </a:t>
            </a:r>
            <a:endParaRPr lang="en-US" altLang="ko-KR" dirty="0"/>
          </a:p>
          <a:p>
            <a:r>
              <a:rPr lang="ko-KR" altLang="en-US" dirty="0"/>
              <a:t>이를 지정하여 추출함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8E6D56-D99F-9C54-34E4-62B34AA46B69}"/>
              </a:ext>
            </a:extLst>
          </p:cNvPr>
          <p:cNvSpPr txBox="1"/>
          <p:nvPr/>
        </p:nvSpPr>
        <p:spPr>
          <a:xfrm>
            <a:off x="5254658" y="5092496"/>
            <a:ext cx="60991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&lt;&lt;</a:t>
            </a:r>
            <a:r>
              <a:rPr lang="ko-KR" altLang="en-US" dirty="0" err="1"/>
              <a:t>balanced_train_segments.csv</a:t>
            </a:r>
            <a:r>
              <a:rPr lang="en-US" altLang="ko-KR" dirty="0"/>
              <a:t>&gt;&gt;</a:t>
            </a:r>
          </a:p>
          <a:p>
            <a:r>
              <a:rPr lang="en-US" altLang="ko-KR" dirty="0" err="1"/>
              <a:t>Start_seconds</a:t>
            </a:r>
            <a:r>
              <a:rPr lang="en-US" altLang="ko-KR" dirty="0"/>
              <a:t> ~ </a:t>
            </a:r>
            <a:r>
              <a:rPr lang="en-US" altLang="ko-KR" dirty="0" err="1"/>
              <a:t>end_seconds</a:t>
            </a:r>
            <a:r>
              <a:rPr lang="en-US" altLang="ko-KR" dirty="0"/>
              <a:t> </a:t>
            </a:r>
            <a:r>
              <a:rPr lang="ko-KR" altLang="en-US" dirty="0"/>
              <a:t>까지 잘라서 추출하고 수집</a:t>
            </a:r>
            <a:endParaRPr lang="en-US" altLang="ko-KR" dirty="0"/>
          </a:p>
          <a:p>
            <a:r>
              <a:rPr lang="en-US" altLang="ko-KR" dirty="0"/>
              <a:t>Ex ) –</a:t>
            </a:r>
            <a:r>
              <a:rPr lang="en-US" altLang="ko-KR" dirty="0" err="1"/>
              <a:t>PJHxphWEs</a:t>
            </a:r>
            <a:r>
              <a:rPr lang="en-US" altLang="ko-KR" dirty="0"/>
              <a:t> </a:t>
            </a:r>
            <a:r>
              <a:rPr lang="ko-KR" altLang="en-US" dirty="0"/>
              <a:t>는 영상의 </a:t>
            </a:r>
            <a:r>
              <a:rPr lang="en-US" altLang="ko-KR" dirty="0"/>
              <a:t>30</a:t>
            </a:r>
            <a:r>
              <a:rPr lang="ko-KR" altLang="en-US" dirty="0"/>
              <a:t>초부터 </a:t>
            </a:r>
            <a:r>
              <a:rPr lang="en-US" altLang="ko-KR" dirty="0"/>
              <a:t>40</a:t>
            </a:r>
            <a:r>
              <a:rPr lang="ko-KR" altLang="en-US" dirty="0" err="1"/>
              <a:t>초까지만</a:t>
            </a:r>
            <a:r>
              <a:rPr lang="ko-KR" altLang="en-US" dirty="0"/>
              <a:t> 두고 나머지는 </a:t>
            </a:r>
            <a:r>
              <a:rPr lang="ko-KR" altLang="en-US" dirty="0" err="1"/>
              <a:t>슬라이싱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9702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188656-324D-7E17-08C9-EDFE3A077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08" y="438027"/>
            <a:ext cx="10515600" cy="1325563"/>
          </a:xfrm>
        </p:spPr>
        <p:txBody>
          <a:bodyPr/>
          <a:lstStyle/>
          <a:p>
            <a:r>
              <a:rPr kumimoji="1" lang="ko-KR" altLang="en-US" dirty="0"/>
              <a:t>전체 파이프라인</a:t>
            </a:r>
            <a:br>
              <a:rPr kumimoji="1" lang="en-US" altLang="ko-KR" dirty="0"/>
            </a:br>
            <a:endParaRPr kumimoji="1"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1B673CB0-DED3-C90F-1BEC-88C69A56F7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7084314"/>
              </p:ext>
            </p:extLst>
          </p:nvPr>
        </p:nvGraphicFramePr>
        <p:xfrm>
          <a:off x="128208" y="1333770"/>
          <a:ext cx="108721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다이어그램 6">
            <a:extLst>
              <a:ext uri="{FF2B5EF4-FFF2-40B4-BE49-F238E27FC236}">
                <a16:creationId xmlns:a16="http://schemas.microsoft.com/office/drawing/2014/main" id="{B9C6CA25-0306-8517-9092-A4C2433EC0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1300639"/>
              </p:ext>
            </p:extLst>
          </p:nvPr>
        </p:nvGraphicFramePr>
        <p:xfrm>
          <a:off x="1868396" y="2922617"/>
          <a:ext cx="10080558" cy="5215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AE481E08-7FAC-5C1D-65CC-2B80EB6D8F1B}"/>
              </a:ext>
            </a:extLst>
          </p:cNvPr>
          <p:cNvGrpSpPr/>
          <p:nvPr/>
        </p:nvGrpSpPr>
        <p:grpSpPr>
          <a:xfrm>
            <a:off x="1449097" y="5146341"/>
            <a:ext cx="410615" cy="480342"/>
            <a:chOff x="4846592" y="2367826"/>
            <a:chExt cx="410615" cy="480342"/>
          </a:xfrm>
        </p:grpSpPr>
        <p:sp>
          <p:nvSpPr>
            <p:cNvPr id="9" name="오른쪽 화살표[R] 8">
              <a:extLst>
                <a:ext uri="{FF2B5EF4-FFF2-40B4-BE49-F238E27FC236}">
                  <a16:creationId xmlns:a16="http://schemas.microsoft.com/office/drawing/2014/main" id="{A02DC72D-DCD4-1CC4-4F0D-B83741492FF0}"/>
                </a:ext>
              </a:extLst>
            </p:cNvPr>
            <p:cNvSpPr/>
            <p:nvPr/>
          </p:nvSpPr>
          <p:spPr>
            <a:xfrm>
              <a:off x="4846592" y="2367826"/>
              <a:ext cx="410615" cy="480342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0" name="오른쪽 화살표[R] 4">
              <a:extLst>
                <a:ext uri="{FF2B5EF4-FFF2-40B4-BE49-F238E27FC236}">
                  <a16:creationId xmlns:a16="http://schemas.microsoft.com/office/drawing/2014/main" id="{1ECF890F-F278-CB11-ED7A-7420201CC2CF}"/>
                </a:ext>
              </a:extLst>
            </p:cNvPr>
            <p:cNvSpPr txBox="1"/>
            <p:nvPr/>
          </p:nvSpPr>
          <p:spPr>
            <a:xfrm>
              <a:off x="4846592" y="2463894"/>
              <a:ext cx="287431" cy="2882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6223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ko-KR" altLang="en-US" sz="1400" kern="1200"/>
            </a:p>
          </p:txBody>
        </p:sp>
      </p:grpSp>
      <p:sp>
        <p:nvSpPr>
          <p:cNvPr id="19" name="U자형 화살표[U] 18">
            <a:extLst>
              <a:ext uri="{FF2B5EF4-FFF2-40B4-BE49-F238E27FC236}">
                <a16:creationId xmlns:a16="http://schemas.microsoft.com/office/drawing/2014/main" id="{114BCD8F-AA2F-6BEC-0A4E-BB4DFE2951DF}"/>
              </a:ext>
            </a:extLst>
          </p:cNvPr>
          <p:cNvSpPr/>
          <p:nvPr/>
        </p:nvSpPr>
        <p:spPr>
          <a:xfrm rot="10800000">
            <a:off x="2332044" y="5944213"/>
            <a:ext cx="7081736" cy="796981"/>
          </a:xfrm>
          <a:prstGeom prst="uturnArrow">
            <a:avLst>
              <a:gd name="adj1" fmla="val 25000"/>
              <a:gd name="adj2" fmla="val 25000"/>
              <a:gd name="adj3" fmla="val 21021"/>
              <a:gd name="adj4" fmla="val 43750"/>
              <a:gd name="adj5" fmla="val 7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21" name="U자형 화살표[U] 20">
            <a:extLst>
              <a:ext uri="{FF2B5EF4-FFF2-40B4-BE49-F238E27FC236}">
                <a16:creationId xmlns:a16="http://schemas.microsoft.com/office/drawing/2014/main" id="{D93BA9DE-FAB6-541B-C6D6-D7D1F7997B91}"/>
              </a:ext>
            </a:extLst>
          </p:cNvPr>
          <p:cNvSpPr/>
          <p:nvPr/>
        </p:nvSpPr>
        <p:spPr>
          <a:xfrm flipH="1">
            <a:off x="1736528" y="2265265"/>
            <a:ext cx="5069840" cy="662782"/>
          </a:xfrm>
          <a:prstGeom prst="uturnArrow">
            <a:avLst>
              <a:gd name="adj1" fmla="val 26185"/>
              <a:gd name="adj2" fmla="val 25000"/>
              <a:gd name="adj3" fmla="val 25000"/>
              <a:gd name="adj4" fmla="val 43750"/>
              <a:gd name="adj5" fmla="val 7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CA2B29-9FB3-4E8C-C45F-CA0F97B7933E}"/>
              </a:ext>
            </a:extLst>
          </p:cNvPr>
          <p:cNvSpPr txBox="1"/>
          <p:nvPr/>
        </p:nvSpPr>
        <p:spPr>
          <a:xfrm>
            <a:off x="5807304" y="867847"/>
            <a:ext cx="6384696" cy="1169551"/>
          </a:xfrm>
          <a:prstGeom prst="rect">
            <a:avLst/>
          </a:prstGeom>
          <a:noFill/>
          <a:ln w="38100" cap="sq">
            <a:solidFill>
              <a:schemeClr val="tx2">
                <a:lumMod val="50000"/>
                <a:lumOff val="5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ko-KR" altLang="en-US" sz="1000" dirty="0"/>
              <a:t>지금까지 총 </a:t>
            </a:r>
            <a:r>
              <a:rPr kumimoji="1" lang="en-US" altLang="ko-KR" sz="1000" dirty="0"/>
              <a:t>4</a:t>
            </a:r>
            <a:r>
              <a:rPr kumimoji="1" lang="ko-KR" altLang="en-US" sz="1000" dirty="0"/>
              <a:t>개 클래스 검수 결과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무의미한 데이터세트 </a:t>
            </a:r>
            <a:r>
              <a:rPr kumimoji="1" lang="en-US" altLang="ko-KR" sz="1000" dirty="0"/>
              <a:t>(</a:t>
            </a:r>
            <a:r>
              <a:rPr kumimoji="1" lang="ko-KR" altLang="en-US" sz="1000" dirty="0"/>
              <a:t>해당 클래스에 </a:t>
            </a:r>
            <a:r>
              <a:rPr kumimoji="1" lang="ko-KR" altLang="en-US" sz="1000" dirty="0" err="1"/>
              <a:t>맞지않는</a:t>
            </a:r>
            <a:r>
              <a:rPr kumimoji="1" lang="ko-KR" altLang="en-US" sz="1000" dirty="0"/>
              <a:t> 음성세트 </a:t>
            </a:r>
            <a:r>
              <a:rPr kumimoji="1" lang="en-US" altLang="ko-KR" sz="1000" dirty="0"/>
              <a:t>, </a:t>
            </a:r>
            <a:r>
              <a:rPr kumimoji="1" lang="ko-KR" altLang="en-US" sz="1000" dirty="0"/>
              <a:t>알고리즘 학습에 무의미한 </a:t>
            </a:r>
            <a:r>
              <a:rPr kumimoji="1" lang="en-US" altLang="ko-KR" sz="1000" dirty="0" err="1"/>
              <a:t>mfcc</a:t>
            </a:r>
            <a:r>
              <a:rPr kumimoji="1" lang="ko-KR" altLang="en-US" sz="1000" dirty="0"/>
              <a:t> 데이터</a:t>
            </a:r>
            <a:r>
              <a:rPr kumimoji="1" lang="en-US" altLang="ko-KR" sz="1000" dirty="0"/>
              <a:t>)</a:t>
            </a:r>
            <a:r>
              <a:rPr kumimoji="1" lang="ko-KR" altLang="en-US" sz="1000" dirty="0"/>
              <a:t> </a:t>
            </a:r>
            <a:r>
              <a:rPr kumimoji="1" lang="en-US" altLang="ko-KR" sz="1000" dirty="0"/>
              <a:t>2</a:t>
            </a:r>
            <a:r>
              <a:rPr kumimoji="1" lang="ko-KR" altLang="en-US" sz="1000" dirty="0"/>
              <a:t>개 있었음 </a:t>
            </a:r>
            <a:endParaRPr kumimoji="1" lang="en-US" altLang="ko-KR" sz="1000" dirty="0"/>
          </a:p>
          <a:p>
            <a:pPr marL="285750" indent="-285750">
              <a:buFont typeface="Wingdings" pitchFamily="2" charset="2"/>
              <a:buChar char="è"/>
            </a:pPr>
            <a:r>
              <a:rPr kumimoji="1" lang="en-US" altLang="ko-KR" sz="1000" dirty="0"/>
              <a:t>Positive class[0] = </a:t>
            </a:r>
            <a:r>
              <a:rPr kumimoji="1" lang="ko-KR" altLang="en-US" sz="1000" dirty="0"/>
              <a:t>화재경보음 데이터는 검수완료 </a:t>
            </a:r>
            <a:endParaRPr kumimoji="1" lang="en-US" altLang="ko-KR" sz="1000" dirty="0"/>
          </a:p>
          <a:p>
            <a:pPr marL="285750" indent="-285750">
              <a:buFont typeface="Wingdings" pitchFamily="2" charset="2"/>
              <a:buChar char="è"/>
            </a:pPr>
            <a:r>
              <a:rPr kumimoji="1" lang="ko-KR" altLang="en-US" sz="1000" dirty="0"/>
              <a:t>나머지 일상소음 데이터 검수 더 필요 </a:t>
            </a:r>
            <a:endParaRPr kumimoji="1" lang="en-US" altLang="ko-KR" sz="1000" dirty="0"/>
          </a:p>
          <a:p>
            <a:pPr marL="285750" indent="-285750">
              <a:buFont typeface="Wingdings" pitchFamily="2" charset="2"/>
              <a:buChar char="è"/>
            </a:pPr>
            <a:r>
              <a:rPr kumimoji="1" lang="ko-KR" altLang="en-US" sz="1000" dirty="0"/>
              <a:t>무의미한 데이터일시</a:t>
            </a:r>
            <a:r>
              <a:rPr kumimoji="1" lang="en-US" altLang="ko-KR" sz="1000" dirty="0"/>
              <a:t>,</a:t>
            </a:r>
            <a:r>
              <a:rPr kumimoji="1" lang="ko-KR" altLang="en-US" sz="1000" dirty="0"/>
              <a:t> 해당 데이터의 다른 클래스 사용 </a:t>
            </a:r>
            <a:endParaRPr kumimoji="1" lang="en-US" altLang="ko-KR" sz="1000" dirty="0"/>
          </a:p>
          <a:p>
            <a:pPr marL="285750" indent="-285750">
              <a:buFont typeface="Wingdings" pitchFamily="2" charset="2"/>
              <a:buChar char="è"/>
            </a:pPr>
            <a:r>
              <a:rPr kumimoji="1" lang="ko-KR" altLang="en-US" sz="1000" dirty="0"/>
              <a:t>아예 다른 데이터 세트 다운로드</a:t>
            </a:r>
            <a:endParaRPr kumimoji="1" lang="en-US" altLang="ko-KR" sz="1000" dirty="0"/>
          </a:p>
          <a:p>
            <a:r>
              <a:rPr kumimoji="1" lang="en-US" altLang="ko-KR" sz="1000" dirty="0"/>
              <a:t>&lt;</a:t>
            </a:r>
            <a:r>
              <a:rPr kumimoji="1" lang="ko-KR" altLang="en-US" sz="1000" dirty="0"/>
              <a:t> 정확한 학습과 향후 일정을 위해 처음부터 꼼꼼한 데이터 검증 과정 필요 </a:t>
            </a:r>
            <a:r>
              <a:rPr kumimoji="1" lang="en-US" altLang="ko-KR" sz="1000" dirty="0"/>
              <a:t>–</a:t>
            </a:r>
            <a:r>
              <a:rPr kumimoji="1" lang="ko-KR" altLang="en-US" sz="1000" dirty="0"/>
              <a:t> 총 </a:t>
            </a:r>
            <a:r>
              <a:rPr kumimoji="1" lang="en-US" altLang="ko-KR" sz="1000" dirty="0"/>
              <a:t>1400</a:t>
            </a:r>
            <a:r>
              <a:rPr kumimoji="1" lang="ko-KR" altLang="en-US" sz="1000" dirty="0"/>
              <a:t>행  </a:t>
            </a:r>
            <a:r>
              <a:rPr kumimoji="1" lang="en-US" altLang="ko-KR" sz="1000" dirty="0"/>
              <a:t>&gt;</a:t>
            </a:r>
            <a:r>
              <a:rPr kumimoji="1" lang="ko-KR" altLang="en-US" sz="10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23133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329F46-D03C-C670-3BC5-6BD3598C7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데이터셋 구성 전략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C9ACC0F-F98D-9BE6-BB3F-625AE6A40F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0459903"/>
              </p:ext>
            </p:extLst>
          </p:nvPr>
        </p:nvGraphicFramePr>
        <p:xfrm>
          <a:off x="838200" y="1825625"/>
          <a:ext cx="10515597" cy="459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05170046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19243003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4029544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Positive (</a:t>
                      </a:r>
                      <a:r>
                        <a:rPr lang="ko-KR" altLang="en-US" dirty="0"/>
                        <a:t>화재경보음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Negative (</a:t>
                      </a:r>
                      <a:r>
                        <a:rPr lang="ko-KR" altLang="en-US" dirty="0"/>
                        <a:t>일상소음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966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train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500</a:t>
                      </a:r>
                      <a:r>
                        <a:rPr lang="ko-KR" altLang="en-US" dirty="0"/>
                        <a:t>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500</a:t>
                      </a:r>
                      <a:r>
                        <a:rPr lang="ko-KR" altLang="en-US" dirty="0"/>
                        <a:t>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210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validation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105</a:t>
                      </a:r>
                      <a:r>
                        <a:rPr lang="ko-KR" altLang="en-US" dirty="0"/>
                        <a:t>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105</a:t>
                      </a:r>
                      <a:r>
                        <a:rPr lang="ko-KR" altLang="en-US" dirty="0"/>
                        <a:t>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941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test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105</a:t>
                      </a:r>
                      <a:r>
                        <a:rPr lang="ko-KR" altLang="en-US" dirty="0"/>
                        <a:t>개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105</a:t>
                      </a:r>
                      <a:r>
                        <a:rPr lang="ko-KR" altLang="en-US" dirty="0"/>
                        <a:t>개</a:t>
                      </a:r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 err="1"/>
                        <a:t>Train,val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에</a:t>
                      </a:r>
                      <a:r>
                        <a:rPr lang="ko-KR" altLang="en-US" dirty="0"/>
                        <a:t> 쓰인 데이터 클래스를 제외한 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아예 다른 클래스 데이터 수집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화재경보음과 비슷한 소리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-&gt;</a:t>
                      </a:r>
                      <a:r>
                        <a:rPr lang="ko-KR" altLang="en-US" dirty="0"/>
                        <a:t>알람 등의 반복적인 </a:t>
                      </a:r>
                      <a:r>
                        <a:rPr lang="ko-KR" altLang="en-US" dirty="0" err="1"/>
                        <a:t>음성셋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)</a:t>
                      </a:r>
                    </a:p>
                    <a:p>
                      <a:pPr latinLnBrk="1"/>
                      <a:r>
                        <a:rPr lang="en-US" altLang="ko-KR" b="0" dirty="0" err="1"/>
                        <a:t>Bc</a:t>
                      </a:r>
                      <a:r>
                        <a:rPr lang="en-US" altLang="ko-KR" b="0" dirty="0"/>
                        <a:t> </a:t>
                      </a:r>
                      <a:r>
                        <a:rPr lang="ko-KR" altLang="en-US" b="0" dirty="0"/>
                        <a:t>테스트 데이터는 훈련셋에서 본 적 없는 상황을 가정해서 모델의 일반화 성능 평가 위함  </a:t>
                      </a:r>
                      <a:endParaRPr lang="en-US" altLang="ko-KR" b="0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059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합계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710</a:t>
                      </a:r>
                      <a:r>
                        <a:rPr lang="ko-KR" altLang="en-US" dirty="0"/>
                        <a:t>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710</a:t>
                      </a:r>
                      <a:r>
                        <a:rPr lang="ko-KR" altLang="en-US" dirty="0"/>
                        <a:t>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727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7127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D8E74-8F98-C7CE-68C3-23B1E6F2C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1440" y="175939"/>
            <a:ext cx="12415520" cy="1325563"/>
          </a:xfrm>
        </p:spPr>
        <p:txBody>
          <a:bodyPr/>
          <a:lstStyle/>
          <a:p>
            <a:r>
              <a:rPr kumimoji="1" lang="ko-KR" altLang="en-US" dirty="0"/>
              <a:t>데이터 구성</a:t>
            </a:r>
            <a:r>
              <a:rPr kumimoji="1" lang="en-US" altLang="ko-KR" dirty="0"/>
              <a:t>_positive class[0]</a:t>
            </a:r>
            <a:r>
              <a:rPr kumimoji="1" lang="ko-KR" altLang="en-US" dirty="0"/>
              <a:t> </a:t>
            </a:r>
            <a:r>
              <a:rPr kumimoji="1" lang="en-US" altLang="ko-KR" dirty="0"/>
              <a:t>=</a:t>
            </a:r>
            <a:r>
              <a:rPr kumimoji="1" lang="ko-KR" altLang="en-US" dirty="0"/>
              <a:t> 실제화재경보음 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2C9C71-F8F7-B99D-B19A-BB05D0721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952" y="1384190"/>
            <a:ext cx="10515600" cy="48743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ko-KR" dirty="0"/>
              <a:t>Balanced train dataset :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여러데이터</a:t>
            </a:r>
            <a:r>
              <a:rPr kumimoji="1" lang="ko-KR" altLang="en-US" dirty="0"/>
              <a:t> 중 </a:t>
            </a:r>
            <a:r>
              <a:rPr kumimoji="1" lang="en-US" altLang="ko-KR" dirty="0"/>
              <a:t>fire alarm 60</a:t>
            </a:r>
            <a:r>
              <a:rPr kumimoji="1" lang="ko-KR" altLang="en-US" dirty="0"/>
              <a:t>개 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Unbalanced train dataset :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여러데이터</a:t>
            </a:r>
            <a:r>
              <a:rPr kumimoji="1" lang="ko-KR" altLang="en-US" dirty="0"/>
              <a:t> 중 </a:t>
            </a:r>
            <a:r>
              <a:rPr kumimoji="1" lang="en-US" altLang="ko-KR" dirty="0"/>
              <a:t>fire alarm 801</a:t>
            </a:r>
            <a:r>
              <a:rPr kumimoji="1" lang="ko-KR" altLang="en-US" dirty="0"/>
              <a:t> 개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ko-KR" altLang="en-US" dirty="0"/>
              <a:t>두개의 데이터 합해서 화재 경보기음</a:t>
            </a:r>
            <a:r>
              <a:rPr kumimoji="1" lang="en-US" altLang="ko-KR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[</a:t>
            </a:r>
            <a:r>
              <a:rPr lang="en" altLang="ko-KR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TARGET_CLASS_MID = "/m/0c3f7m”</a:t>
            </a:r>
            <a:r>
              <a:rPr lang="en-US" altLang="ko-KR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]</a:t>
            </a:r>
          </a:p>
          <a:p>
            <a:pPr marL="0" indent="0">
              <a:buNone/>
            </a:pPr>
            <a:r>
              <a:rPr kumimoji="1" lang="en-US" altLang="ko-KR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&gt;&gt;</a:t>
            </a:r>
            <a:r>
              <a:rPr kumimoji="1" lang="ko-KR" alt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kumimoji="1" lang="ko-KR" altLang="en-US" dirty="0"/>
              <a:t>총 </a:t>
            </a:r>
            <a:r>
              <a:rPr kumimoji="1" lang="en-US" altLang="ko-KR" dirty="0"/>
              <a:t>60+654</a:t>
            </a:r>
            <a:r>
              <a:rPr kumimoji="1" lang="ko-KR" altLang="en-US" dirty="0"/>
              <a:t>개 수집 </a:t>
            </a:r>
            <a:r>
              <a:rPr kumimoji="1" lang="en-US" altLang="ko-KR" dirty="0"/>
              <a:t>=</a:t>
            </a:r>
            <a:r>
              <a:rPr kumimoji="1" lang="ko-KR" altLang="en-US" dirty="0"/>
              <a:t> </a:t>
            </a:r>
            <a:r>
              <a:rPr kumimoji="1" lang="en-US" altLang="ko-KR" dirty="0"/>
              <a:t>714</a:t>
            </a:r>
            <a:r>
              <a:rPr kumimoji="1" lang="ko-KR" altLang="en-US" dirty="0"/>
              <a:t>개  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(</a:t>
            </a:r>
            <a:r>
              <a:rPr kumimoji="1" lang="ko-KR" altLang="en-US" dirty="0"/>
              <a:t>누락된 나머지는 링크가 비공개로 </a:t>
            </a:r>
            <a:r>
              <a:rPr kumimoji="1" lang="ko-KR" altLang="en-US" dirty="0" err="1"/>
              <a:t>바꼈거나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여러이유로</a:t>
            </a:r>
            <a:r>
              <a:rPr kumimoji="1" lang="ko-KR" altLang="en-US" dirty="0"/>
              <a:t> 다운로드 안 됨</a:t>
            </a:r>
            <a:r>
              <a:rPr kumimoji="1" lang="en-US" altLang="ko-KR" dirty="0"/>
              <a:t>)</a:t>
            </a:r>
            <a:r>
              <a:rPr kumimoji="1" lang="ko-KR" altLang="en-US" dirty="0"/>
              <a:t>  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-&gt;</a:t>
            </a:r>
            <a:r>
              <a:rPr kumimoji="1" lang="ko-KR" altLang="en-US" dirty="0"/>
              <a:t> 이를 추후 학습을 위해 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ko-KR" altLang="en-US" dirty="0"/>
              <a:t>      </a:t>
            </a:r>
            <a:r>
              <a:rPr kumimoji="1" lang="en-US" altLang="ko-KR" dirty="0"/>
              <a:t>train(70%) / </a:t>
            </a:r>
            <a:r>
              <a:rPr kumimoji="1" lang="en-US" altLang="ko-KR" dirty="0" err="1"/>
              <a:t>val</a:t>
            </a:r>
            <a:r>
              <a:rPr kumimoji="1" lang="en-US" altLang="ko-KR" dirty="0"/>
              <a:t>(15%) / test(15%) </a:t>
            </a:r>
            <a:r>
              <a:rPr kumimoji="1" lang="ko-KR" altLang="en-US" dirty="0"/>
              <a:t>셋으로 분할 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8124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0A4996-EC31-D185-0553-DD83EBDA9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365125"/>
            <a:ext cx="11805920" cy="1325563"/>
          </a:xfrm>
        </p:spPr>
        <p:txBody>
          <a:bodyPr>
            <a:normAutofit fontScale="90000"/>
          </a:bodyPr>
          <a:lstStyle/>
          <a:p>
            <a:r>
              <a:rPr kumimoji="1" lang="ko-KR" altLang="en-US" dirty="0"/>
              <a:t>데이터 구성</a:t>
            </a:r>
            <a:r>
              <a:rPr kumimoji="1" lang="en-US" altLang="ko-KR" dirty="0"/>
              <a:t>_negative class[1]</a:t>
            </a:r>
            <a:r>
              <a:rPr kumimoji="1" lang="ko-KR" altLang="en-US" dirty="0"/>
              <a:t> </a:t>
            </a:r>
            <a:br>
              <a:rPr kumimoji="1" lang="en-US" altLang="ko-KR" dirty="0"/>
            </a:br>
            <a:r>
              <a:rPr kumimoji="1" lang="ko-KR" altLang="en-US" dirty="0"/>
              <a:t>                    </a:t>
            </a:r>
            <a:r>
              <a:rPr kumimoji="1" lang="en-US" altLang="ko-KR" dirty="0"/>
              <a:t>=</a:t>
            </a:r>
            <a:r>
              <a:rPr kumimoji="1" lang="ko-KR" altLang="en-US" dirty="0"/>
              <a:t> 화재경보음이 아닌 일상소음 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CFD7B5-7522-61D2-DD40-9DC364687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건물내부에서 발생할 수 있는 소음만 추출하여 데이터 수집 </a:t>
            </a:r>
            <a:endParaRPr kumimoji="1" lang="en-US" altLang="ko-KR" dirty="0"/>
          </a:p>
          <a:p>
            <a:endParaRPr kumimoji="1"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0B366BD-96CE-F656-8A4D-DC645DECD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880368"/>
              </p:ext>
            </p:extLst>
          </p:nvPr>
        </p:nvGraphicFramePr>
        <p:xfrm>
          <a:off x="838200" y="2565417"/>
          <a:ext cx="10195561" cy="3309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119">
                  <a:extLst>
                    <a:ext uri="{9D8B030D-6E8A-4147-A177-3AD203B41FA5}">
                      <a16:colId xmlns:a16="http://schemas.microsoft.com/office/drawing/2014/main" val="2665094487"/>
                    </a:ext>
                  </a:extLst>
                </a:gridCol>
                <a:gridCol w="2235119">
                  <a:extLst>
                    <a:ext uri="{9D8B030D-6E8A-4147-A177-3AD203B41FA5}">
                      <a16:colId xmlns:a16="http://schemas.microsoft.com/office/drawing/2014/main" val="617533237"/>
                    </a:ext>
                  </a:extLst>
                </a:gridCol>
                <a:gridCol w="2235119">
                  <a:extLst>
                    <a:ext uri="{9D8B030D-6E8A-4147-A177-3AD203B41FA5}">
                      <a16:colId xmlns:a16="http://schemas.microsoft.com/office/drawing/2014/main" val="3959751827"/>
                    </a:ext>
                  </a:extLst>
                </a:gridCol>
                <a:gridCol w="3490204">
                  <a:extLst>
                    <a:ext uri="{9D8B030D-6E8A-4147-A177-3AD203B41FA5}">
                      <a16:colId xmlns:a16="http://schemas.microsoft.com/office/drawing/2014/main" val="542155389"/>
                    </a:ext>
                  </a:extLst>
                </a:gridCol>
              </a:tblGrid>
              <a:tr h="63801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클래스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행 개수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수집할 행 개수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MID (</a:t>
                      </a:r>
                      <a:r>
                        <a:rPr lang="ko-KR" altLang="en-US" dirty="0"/>
                        <a:t>데이터에서 지정한 </a:t>
                      </a:r>
                      <a:r>
                        <a:rPr lang="en-US" altLang="ko-KR" dirty="0"/>
                        <a:t>id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237249"/>
                  </a:ext>
                </a:extLst>
              </a:tr>
              <a:tr h="55843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trike="sngStrike" dirty="0" err="1"/>
                        <a:t>걷는소리</a:t>
                      </a:r>
                      <a:endParaRPr lang="ko-KR" altLang="en-US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trike="sngStrike" dirty="0"/>
                        <a:t> </a:t>
                      </a:r>
                      <a:r>
                        <a:rPr lang="en-US" altLang="ko-KR" strike="sngStrike" dirty="0"/>
                        <a:t>1563</a:t>
                      </a:r>
                      <a:r>
                        <a:rPr lang="ko-KR" altLang="en-US" strike="sngStrike" dirty="0"/>
                        <a:t>행</a:t>
                      </a:r>
                    </a:p>
                    <a:p>
                      <a:pPr latinLnBrk="1"/>
                      <a:endParaRPr lang="ko-KR" altLang="en-US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trike="sngStrike" dirty="0"/>
                        <a:t>151</a:t>
                      </a:r>
                      <a:r>
                        <a:rPr lang="ko-KR" altLang="en-US" strike="sngStrike" dirty="0"/>
                        <a:t>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trike="sngStrike" dirty="0"/>
                        <a:t>/m/07pbtc8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156561"/>
                  </a:ext>
                </a:extLst>
              </a:tr>
              <a:tr h="55843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사람말소리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외국어</a:t>
                      </a:r>
                      <a:r>
                        <a:rPr lang="en-US" altLang="ko-KR" dirty="0"/>
                        <a:t>)</a:t>
                      </a:r>
                    </a:p>
                    <a:p>
                      <a:pPr latinLnBrk="1"/>
                      <a:r>
                        <a:rPr lang="en-US" altLang="ko-KR" dirty="0"/>
                        <a:t>[</a:t>
                      </a:r>
                      <a:r>
                        <a:rPr lang="ko-KR" altLang="en-US" dirty="0"/>
                        <a:t>추후 한국어 추가 예정</a:t>
                      </a:r>
                      <a:r>
                        <a:rPr lang="en-US" altLang="ko-KR" dirty="0"/>
                        <a:t>]</a:t>
                      </a:r>
                      <a:r>
                        <a:rPr lang="ko-KR" alt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999421</a:t>
                      </a: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행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151</a:t>
                      </a:r>
                      <a:r>
                        <a:rPr lang="ko-KR" altLang="en-US" dirty="0"/>
                        <a:t>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/m/09x0r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6887014"/>
                  </a:ext>
                </a:extLst>
              </a:tr>
              <a:tr h="55843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문 여닫는 소리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/m/02dgv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4805640"/>
                  </a:ext>
                </a:extLst>
              </a:tr>
              <a:tr h="55843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배경음악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/m/04rlf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275053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48B3ABE-E1D4-12BD-A8F4-3BF44105CA85}"/>
              </a:ext>
            </a:extLst>
          </p:cNvPr>
          <p:cNvSpPr txBox="1"/>
          <p:nvPr/>
        </p:nvSpPr>
        <p:spPr>
          <a:xfrm>
            <a:off x="775728" y="6123543"/>
            <a:ext cx="6293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클래스 수 비율</a:t>
            </a:r>
            <a:r>
              <a:rPr lang="en-US" altLang="ko-KR" dirty="0"/>
              <a:t>: 1:1 (710:710</a:t>
            </a:r>
            <a:r>
              <a:rPr lang="en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74923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7CDFC7-4C60-8C89-D6F4-C2138691C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모델 성능 평가 기준 </a:t>
            </a:r>
          </a:p>
        </p:txBody>
      </p:sp>
      <p:pic>
        <p:nvPicPr>
          <p:cNvPr id="4" name="Picture 2" descr="Confusion Matrix, Precision, and Recall ...">
            <a:extLst>
              <a:ext uri="{FF2B5EF4-FFF2-40B4-BE49-F238E27FC236}">
                <a16:creationId xmlns:a16="http://schemas.microsoft.com/office/drawing/2014/main" id="{D7A0BDAE-2486-C321-3609-5FA6AA99FE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40" r="15847" b="46778"/>
          <a:stretch>
            <a:fillRect/>
          </a:stretch>
        </p:blipFill>
        <p:spPr bwMode="auto">
          <a:xfrm>
            <a:off x="296426" y="1294721"/>
            <a:ext cx="4151390" cy="2134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91982233-C970-BC20-884C-73AF5C674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3200" y="1854055"/>
            <a:ext cx="8266396" cy="4351338"/>
          </a:xfrm>
        </p:spPr>
        <p:txBody>
          <a:bodyPr/>
          <a:lstStyle/>
          <a:p>
            <a:r>
              <a:rPr lang="en" altLang="ko-KR" sz="2000" b="1" dirty="0"/>
              <a:t>TP (True Positive)</a:t>
            </a:r>
            <a:r>
              <a:rPr lang="en" altLang="ko-KR" sz="2000" dirty="0"/>
              <a:t>: </a:t>
            </a:r>
            <a:r>
              <a:rPr lang="ko-KR" altLang="en-US" sz="2000" dirty="0"/>
              <a:t>실제 경보음을 경보음으로 맞게 탐지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→ ✔️ 목표</a:t>
            </a:r>
            <a:r>
              <a:rPr lang="en-US" altLang="ko-KR" sz="2000" dirty="0"/>
              <a:t>!</a:t>
            </a:r>
          </a:p>
          <a:p>
            <a:r>
              <a:rPr lang="en" altLang="ko-KR" sz="2000" b="1" dirty="0"/>
              <a:t>TN (True Negative)</a:t>
            </a:r>
            <a:r>
              <a:rPr lang="en" altLang="ko-KR" sz="2000" dirty="0"/>
              <a:t>: </a:t>
            </a:r>
            <a:r>
              <a:rPr lang="ko-KR" altLang="en-US" sz="2000" dirty="0"/>
              <a:t>실제 일반 소음을 일반 소음으로 맞게 무시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→ 🟢 정상</a:t>
            </a:r>
          </a:p>
          <a:p>
            <a:r>
              <a:rPr lang="en" altLang="ko-KR" sz="2000" b="1" dirty="0"/>
              <a:t>FP (False Positive)</a:t>
            </a:r>
            <a:r>
              <a:rPr lang="en" altLang="ko-KR" sz="2000" dirty="0"/>
              <a:t>: </a:t>
            </a:r>
            <a:r>
              <a:rPr lang="ko-KR" altLang="en-US" sz="2000" dirty="0"/>
              <a:t>일반 소음을 경보음으로 잘못 탐지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→ ⚠️ </a:t>
            </a:r>
            <a:r>
              <a:rPr lang="ko-KR" altLang="en-US" sz="2000" dirty="0" err="1"/>
              <a:t>오탐</a:t>
            </a:r>
            <a:r>
              <a:rPr lang="en-US" altLang="ko-KR" sz="2000" dirty="0"/>
              <a:t>, </a:t>
            </a:r>
            <a:r>
              <a:rPr lang="ko-KR" altLang="en-US" sz="2000" dirty="0"/>
              <a:t>허용 가능</a:t>
            </a:r>
          </a:p>
          <a:p>
            <a:r>
              <a:rPr lang="en" altLang="ko-KR" sz="2000" b="1" dirty="0"/>
              <a:t>FN (False Negative)</a:t>
            </a:r>
            <a:r>
              <a:rPr lang="en" altLang="ko-KR" sz="2000" dirty="0"/>
              <a:t>: </a:t>
            </a:r>
            <a:r>
              <a:rPr lang="ko-KR" altLang="en-US" sz="2000" dirty="0"/>
              <a:t>경보음을 일반 소음으로 놓침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→ ❌ 위험</a:t>
            </a:r>
            <a:r>
              <a:rPr lang="en-US" altLang="ko-KR" sz="2000" dirty="0"/>
              <a:t>! </a:t>
            </a:r>
            <a:r>
              <a:rPr lang="ko-KR" altLang="en-US" sz="2000" dirty="0"/>
              <a:t>반드시 줄여야 함</a:t>
            </a:r>
          </a:p>
          <a:p>
            <a:endParaRPr lang="ko-KR" altLang="en-US" dirty="0"/>
          </a:p>
        </p:txBody>
      </p:sp>
      <p:pic>
        <p:nvPicPr>
          <p:cNvPr id="8" name="Picture 2" descr="Confusion Matrix, Precision, and Recall ...">
            <a:extLst>
              <a:ext uri="{FF2B5EF4-FFF2-40B4-BE49-F238E27FC236}">
                <a16:creationId xmlns:a16="http://schemas.microsoft.com/office/drawing/2014/main" id="{7DED4C9B-B87B-32A6-AFF6-7603AE547A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40" t="71018" r="15847"/>
          <a:stretch>
            <a:fillRect/>
          </a:stretch>
        </p:blipFill>
        <p:spPr bwMode="auto">
          <a:xfrm>
            <a:off x="77654" y="3429000"/>
            <a:ext cx="4044296" cy="1132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AF7CDD-EC48-FD09-90CE-3DCEA88FFC99}"/>
              </a:ext>
            </a:extLst>
          </p:cNvPr>
          <p:cNvSpPr txBox="1"/>
          <p:nvPr/>
        </p:nvSpPr>
        <p:spPr>
          <a:xfrm>
            <a:off x="162291" y="5060146"/>
            <a:ext cx="61042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다양한 환경의 일반 소리를 학습시켜야 </a:t>
            </a:r>
            <a:endParaRPr lang="en-US" altLang="ko-KR" dirty="0"/>
          </a:p>
          <a:p>
            <a:r>
              <a:rPr lang="ko-KR" altLang="en-US" b="1" dirty="0" err="1"/>
              <a:t>오탐</a:t>
            </a:r>
            <a:r>
              <a:rPr lang="en-US" altLang="ko-KR" b="1" dirty="0"/>
              <a:t>(</a:t>
            </a:r>
            <a:r>
              <a:rPr lang="en" altLang="ko-KR" b="1" dirty="0"/>
              <a:t>FP)</a:t>
            </a:r>
            <a:r>
              <a:rPr lang="ko-KR" altLang="en-US" b="1" dirty="0"/>
              <a:t>을 줄이고 </a:t>
            </a:r>
            <a:r>
              <a:rPr lang="en" altLang="ko-KR" b="1" dirty="0"/>
              <a:t>TP</a:t>
            </a:r>
            <a:r>
              <a:rPr lang="ko-KR" altLang="en-US" b="1" dirty="0"/>
              <a:t>는 유지 가능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338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62EF7A-23DF-FB8F-B84A-34F8EAE2C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검증 데이터 구성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A74642-53D0-0D6B-CAEF-EBEAE6D41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ko-KR" altLang="en-US" dirty="0"/>
              <a:t>목적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lang="ko-KR" altLang="en-US" dirty="0"/>
              <a:t>모델이 학습 중에 잘 일반화되고 있는지 실시간으로 평가</a:t>
            </a:r>
            <a:endParaRPr lang="en-US" altLang="ko-KR" dirty="0"/>
          </a:p>
          <a:p>
            <a:pPr marL="0" indent="0">
              <a:buNone/>
            </a:pPr>
            <a:r>
              <a:rPr kumimoji="1" lang="ko-KR" altLang="en-US" dirty="0"/>
              <a:t>사용 시점 </a:t>
            </a:r>
            <a:r>
              <a:rPr kumimoji="1" lang="en-US" altLang="ko-KR" dirty="0"/>
              <a:t>:</a:t>
            </a:r>
            <a:r>
              <a:rPr kumimoji="1" lang="ko-KR" altLang="en-US" dirty="0"/>
              <a:t> 모델 학습동안 매 </a:t>
            </a:r>
            <a:r>
              <a:rPr kumimoji="1" lang="en-US" altLang="ko-KR" dirty="0"/>
              <a:t>epoch </a:t>
            </a:r>
            <a:r>
              <a:rPr kumimoji="1" lang="ko-KR" altLang="en-US" dirty="0"/>
              <a:t>마다 </a:t>
            </a:r>
            <a:endParaRPr kumimoji="1" lang="en-US" altLang="ko-KR" dirty="0"/>
          </a:p>
          <a:p>
            <a:pPr marL="0" indent="0">
              <a:buNone/>
            </a:pP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BEC1B8E-481E-9144-72E8-D775A61DE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69" y="3027405"/>
            <a:ext cx="9541837" cy="250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303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1AA988-7A75-FCF3-1ABD-0E0683550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테스트 데이터 구성 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8F719E5C-504D-E538-5746-A9375D0727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7218502"/>
              </p:ext>
            </p:extLst>
          </p:nvPr>
        </p:nvGraphicFramePr>
        <p:xfrm>
          <a:off x="254540" y="2886937"/>
          <a:ext cx="8072337" cy="27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0779">
                  <a:extLst>
                    <a:ext uri="{9D8B030D-6E8A-4147-A177-3AD203B41FA5}">
                      <a16:colId xmlns:a16="http://schemas.microsoft.com/office/drawing/2014/main" val="3582551580"/>
                    </a:ext>
                  </a:extLst>
                </a:gridCol>
                <a:gridCol w="2690779">
                  <a:extLst>
                    <a:ext uri="{9D8B030D-6E8A-4147-A177-3AD203B41FA5}">
                      <a16:colId xmlns:a16="http://schemas.microsoft.com/office/drawing/2014/main" val="4150842707"/>
                    </a:ext>
                  </a:extLst>
                </a:gridCol>
                <a:gridCol w="2690779">
                  <a:extLst>
                    <a:ext uri="{9D8B030D-6E8A-4147-A177-3AD203B41FA5}">
                      <a16:colId xmlns:a16="http://schemas.microsoft.com/office/drawing/2014/main" val="15816509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dirty="0"/>
                        <a:t>샘플 종류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개수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5129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화재경보음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양성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</a:t>
                      </a:r>
                      <a:r>
                        <a:rPr lang="ko-KR" altLang="en-US" dirty="0"/>
                        <a:t>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실제 </a:t>
                      </a:r>
                      <a:r>
                        <a:rPr lang="ko-KR" altLang="en-US" dirty="0" err="1"/>
                        <a:t>알람소리</a:t>
                      </a:r>
                      <a:r>
                        <a:rPr lang="ko-KR" alt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533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일반소음 </a:t>
                      </a:r>
                      <a:r>
                        <a:rPr lang="en-US" altLang="ko-KR" dirty="0"/>
                        <a:t>1(</a:t>
                      </a:r>
                      <a:r>
                        <a:rPr lang="ko-KR" altLang="en-US" dirty="0"/>
                        <a:t>벨소리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35</a:t>
                      </a:r>
                      <a:r>
                        <a:rPr lang="ko-KR" altLang="en-US" dirty="0"/>
                        <a:t>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비슷한 패턴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387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일반소음 </a:t>
                      </a:r>
                      <a:r>
                        <a:rPr lang="en-US" altLang="ko-KR" dirty="0"/>
                        <a:t>2(</a:t>
                      </a:r>
                      <a:r>
                        <a:rPr lang="ko-KR" altLang="en-US" dirty="0"/>
                        <a:t>기계음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35</a:t>
                      </a:r>
                      <a:r>
                        <a:rPr lang="ko-KR" altLang="en-US" dirty="0"/>
                        <a:t>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경보음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처럼</a:t>
                      </a:r>
                      <a:r>
                        <a:rPr lang="ko-KR" altLang="en-US" dirty="0"/>
                        <a:t> 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날카로운 음 포함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92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일반소음 </a:t>
                      </a:r>
                      <a:r>
                        <a:rPr lang="en-US" altLang="ko-KR" dirty="0"/>
                        <a:t>3(</a:t>
                      </a:r>
                      <a:r>
                        <a:rPr lang="ko-KR" altLang="en-US" dirty="0"/>
                        <a:t>무작위 실내 소리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</a:t>
                      </a:r>
                      <a:r>
                        <a:rPr lang="ko-KR" altLang="en-US" dirty="0"/>
                        <a:t>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걷는소리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물소리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65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200</a:t>
                      </a:r>
                      <a:r>
                        <a:rPr lang="ko-KR" altLang="en-US" dirty="0"/>
                        <a:t>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1:1</a:t>
                      </a:r>
                      <a:r>
                        <a:rPr lang="ko-KR" altLang="en-US" dirty="0"/>
                        <a:t> 비율 유지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84402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B76BE5-A08E-73B8-7E8D-5344AF044EB0}"/>
              </a:ext>
            </a:extLst>
          </p:cNvPr>
          <p:cNvSpPr txBox="1"/>
          <p:nvPr/>
        </p:nvSpPr>
        <p:spPr>
          <a:xfrm>
            <a:off x="254540" y="1690688"/>
            <a:ext cx="84030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Train ,test 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쓰이지 않았던 새로운 클래스 사용 </a:t>
            </a:r>
            <a:endParaRPr kumimoji="1" lang="en-US" altLang="ko-KR" dirty="0"/>
          </a:p>
          <a:p>
            <a:r>
              <a:rPr kumimoji="1" lang="ko-KR" altLang="en-US" dirty="0"/>
              <a:t>목적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lang="ko-KR" altLang="en-US" dirty="0"/>
              <a:t>학습이 </a:t>
            </a:r>
            <a:r>
              <a:rPr lang="ko-KR" altLang="en-US" b="1" dirty="0"/>
              <a:t>완전히 끝난 후</a:t>
            </a:r>
            <a:r>
              <a:rPr lang="en-US" altLang="ko-KR" dirty="0"/>
              <a:t>, </a:t>
            </a:r>
            <a:r>
              <a:rPr lang="ko-KR" altLang="en-US" b="1" dirty="0"/>
              <a:t>모델의 진짜 성능</a:t>
            </a:r>
            <a:r>
              <a:rPr lang="ko-KR" altLang="en-US" dirty="0"/>
              <a:t>을 확인하는 </a:t>
            </a:r>
            <a:r>
              <a:rPr lang="ko-KR" altLang="en-US" b="1" dirty="0"/>
              <a:t>최종 평가용</a:t>
            </a:r>
            <a:endParaRPr lang="en-US" altLang="ko-KR" b="1" dirty="0"/>
          </a:p>
          <a:p>
            <a:r>
              <a:rPr kumimoji="1" lang="ko-KR" altLang="en-US" b="1" dirty="0"/>
              <a:t>사용시점</a:t>
            </a:r>
            <a:r>
              <a:rPr kumimoji="1" lang="en-US" altLang="ko-KR" b="1" dirty="0"/>
              <a:t>. :</a:t>
            </a:r>
            <a:r>
              <a:rPr kumimoji="1" lang="ko-KR" altLang="en-US" b="1" dirty="0"/>
              <a:t> 훈련 끝난 후 딱 한 번 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1216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CCD675-95ED-9FAE-503C-557BA5B10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047" y="160337"/>
            <a:ext cx="12655378" cy="1325563"/>
          </a:xfrm>
        </p:spPr>
        <p:txBody>
          <a:bodyPr>
            <a:normAutofit/>
          </a:bodyPr>
          <a:lstStyle/>
          <a:p>
            <a:r>
              <a:rPr kumimoji="1" lang="ko-KR" altLang="en-US" sz="3500" dirty="0"/>
              <a:t>알고리즘 선택 </a:t>
            </a:r>
            <a:br>
              <a:rPr kumimoji="1" lang="en-US" altLang="ko-KR" sz="3000" dirty="0"/>
            </a:br>
            <a:r>
              <a:rPr kumimoji="1" lang="ko-KR" altLang="en-US" sz="2000" dirty="0" err="1"/>
              <a:t>음성특징벡터를</a:t>
            </a:r>
            <a:r>
              <a:rPr kumimoji="1" lang="ko-KR" altLang="en-US" sz="2000" dirty="0"/>
              <a:t> </a:t>
            </a:r>
            <a:r>
              <a:rPr kumimoji="1" lang="ko-KR" altLang="en-US" sz="2000" dirty="0" err="1"/>
              <a:t>입력으로하는</a:t>
            </a:r>
            <a:r>
              <a:rPr kumimoji="1" lang="ko-KR" altLang="en-US" sz="2000" dirty="0"/>
              <a:t> 알고리즘</a:t>
            </a:r>
            <a:r>
              <a:rPr kumimoji="1" lang="en-US" altLang="ko-KR" sz="2000" dirty="0"/>
              <a:t>VS </a:t>
            </a:r>
            <a:r>
              <a:rPr kumimoji="1" lang="ko-KR" altLang="en-US" sz="2000" dirty="0" err="1"/>
              <a:t>스펙트로그램을</a:t>
            </a:r>
            <a:r>
              <a:rPr kumimoji="1" lang="ko-KR" altLang="en-US" sz="2000" dirty="0"/>
              <a:t> </a:t>
            </a:r>
            <a:r>
              <a:rPr kumimoji="1" lang="ko-KR" altLang="en-US" sz="2000" dirty="0" err="1"/>
              <a:t>입력으로한</a:t>
            </a:r>
            <a:r>
              <a:rPr kumimoji="1" lang="en-US" altLang="ko-KR" sz="2000" dirty="0"/>
              <a:t> CNN </a:t>
            </a:r>
            <a:endParaRPr kumimoji="1" lang="ko-KR" altLang="en-US" sz="20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A8B51BF-FCA1-497E-0252-E8859E558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047" y="2141537"/>
            <a:ext cx="10515600" cy="4351338"/>
          </a:xfrm>
        </p:spPr>
        <p:txBody>
          <a:bodyPr>
            <a:normAutofit/>
          </a:bodyPr>
          <a:lstStyle/>
          <a:p>
            <a:r>
              <a:rPr lang="ko-KR" altLang="en-US" sz="2500" dirty="0"/>
              <a:t>둘 다 동일한 방법으로 변환되나 최종 </a:t>
            </a:r>
            <a:endParaRPr lang="en-US" altLang="ko-KR" sz="2500" dirty="0"/>
          </a:p>
          <a:p>
            <a:r>
              <a:rPr lang="ko-KR" altLang="en-US" sz="2500" dirty="0"/>
              <a:t>프레임 분할 </a:t>
            </a:r>
            <a:r>
              <a:rPr lang="en-US" altLang="ko-KR" sz="2500" dirty="0"/>
              <a:t>(</a:t>
            </a:r>
            <a:r>
              <a:rPr lang="en" altLang="ko-KR" sz="2500" dirty="0"/>
              <a:t>Framing)</a:t>
            </a:r>
          </a:p>
          <a:p>
            <a:r>
              <a:rPr lang="ko-KR" altLang="en-US" sz="2500" dirty="0" err="1"/>
              <a:t>윈도잉</a:t>
            </a:r>
            <a:r>
              <a:rPr lang="ko-KR" altLang="en-US" sz="2500" dirty="0"/>
              <a:t> </a:t>
            </a:r>
            <a:r>
              <a:rPr lang="en-US" altLang="ko-KR" sz="2500" dirty="0"/>
              <a:t>(</a:t>
            </a:r>
            <a:r>
              <a:rPr lang="en" altLang="ko-KR" sz="2500" dirty="0"/>
              <a:t>Windowing)</a:t>
            </a:r>
          </a:p>
          <a:p>
            <a:r>
              <a:rPr lang="en" altLang="ko-KR" sz="2500" dirty="0"/>
              <a:t>FFT (Fast Fourier Transform)</a:t>
            </a:r>
          </a:p>
          <a:p>
            <a:r>
              <a:rPr lang="en" altLang="ko-KR" sz="2500" dirty="0"/>
              <a:t>Mel </a:t>
            </a:r>
            <a:r>
              <a:rPr lang="ko-KR" altLang="en-US" sz="2500" dirty="0"/>
              <a:t>필터뱅크 적용 </a:t>
            </a:r>
            <a:r>
              <a:rPr lang="en-US" altLang="ko-KR" sz="2500" dirty="0"/>
              <a:t>(</a:t>
            </a:r>
            <a:r>
              <a:rPr lang="en" altLang="ko-KR" sz="2500" dirty="0"/>
              <a:t>Mel </a:t>
            </a:r>
            <a:r>
              <a:rPr lang="en" altLang="ko-KR" sz="2500" dirty="0" err="1"/>
              <a:t>Filterbank</a:t>
            </a:r>
            <a:r>
              <a:rPr lang="en" altLang="ko-KR" sz="2500" dirty="0"/>
              <a:t>)</a:t>
            </a:r>
            <a:br>
              <a:rPr lang="en" altLang="ko-KR" sz="2500" dirty="0"/>
            </a:br>
            <a:r>
              <a:rPr lang="en" altLang="ko-KR" sz="2500" dirty="0"/>
              <a:t>→ </a:t>
            </a:r>
            <a:r>
              <a:rPr lang="ko-KR" altLang="en-US" sz="2500" dirty="0"/>
              <a:t>이 단계까지는 둘 다 동일</a:t>
            </a:r>
            <a:endParaRPr lang="en-US" altLang="ko-KR" sz="2500" dirty="0"/>
          </a:p>
          <a:p>
            <a:r>
              <a:rPr lang="en-US" altLang="ko-KR" sz="2500" dirty="0"/>
              <a:t>-&gt;</a:t>
            </a:r>
            <a:r>
              <a:rPr lang="ko-KR" altLang="en-US" sz="2500" dirty="0"/>
              <a:t> 추후 벡터나 </a:t>
            </a:r>
            <a:endParaRPr lang="en-US" altLang="ko-KR" sz="2500" dirty="0"/>
          </a:p>
          <a:p>
            <a:r>
              <a:rPr lang="ko-KR" altLang="en-US" sz="2500" dirty="0"/>
              <a:t>이미지로 변환함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03262A3-899E-835C-FA12-1F7514F31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534" y="1485900"/>
            <a:ext cx="5588000" cy="19431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F80E926-1BC6-D828-1A3F-EF2CAC984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534" y="3615385"/>
            <a:ext cx="5588000" cy="287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90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B822D9-03B9-AB35-5EE7-CEEDE6DF0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0956"/>
            <a:ext cx="10515600" cy="1325563"/>
          </a:xfrm>
        </p:spPr>
        <p:txBody>
          <a:bodyPr/>
          <a:lstStyle/>
          <a:p>
            <a:r>
              <a:rPr kumimoji="1" lang="ko-KR" altLang="en-US" dirty="0" err="1"/>
              <a:t>입력값</a:t>
            </a:r>
            <a:r>
              <a:rPr kumimoji="1" lang="ko-KR" altLang="en-US" dirty="0"/>
              <a:t> 및 알고리즘 선택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F3E7F0E6-3E18-4060-587A-4F3233E71B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8679561"/>
              </p:ext>
            </p:extLst>
          </p:nvPr>
        </p:nvGraphicFramePr>
        <p:xfrm>
          <a:off x="0" y="1436519"/>
          <a:ext cx="12192000" cy="524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1872">
                  <a:extLst>
                    <a:ext uri="{9D8B030D-6E8A-4147-A177-3AD203B41FA5}">
                      <a16:colId xmlns:a16="http://schemas.microsoft.com/office/drawing/2014/main" val="551258166"/>
                    </a:ext>
                  </a:extLst>
                </a:gridCol>
                <a:gridCol w="4805464">
                  <a:extLst>
                    <a:ext uri="{9D8B030D-6E8A-4147-A177-3AD203B41FA5}">
                      <a16:colId xmlns:a16="http://schemas.microsoft.com/office/drawing/2014/main" val="2757241740"/>
                    </a:ext>
                  </a:extLst>
                </a:gridCol>
                <a:gridCol w="6024664">
                  <a:extLst>
                    <a:ext uri="{9D8B030D-6E8A-4147-A177-3AD203B41FA5}">
                      <a16:colId xmlns:a16="http://schemas.microsoft.com/office/drawing/2014/main" val="181940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MFCC</a:t>
                      </a:r>
                      <a:r>
                        <a:rPr lang="ko-KR" altLang="en-US" dirty="0" err="1"/>
                        <a:t>를</a:t>
                      </a:r>
                      <a:r>
                        <a:rPr lang="ko-KR" altLang="en-US" dirty="0"/>
                        <a:t> 입력으로 하는 타 알고리즘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[Log-Mel Spectrogram]</a:t>
                      </a:r>
                      <a:r>
                        <a:rPr lang="ko-KR" altLang="en-US" dirty="0"/>
                        <a:t> 을 입력으로 하는 </a:t>
                      </a:r>
                      <a:r>
                        <a:rPr lang="en-US" altLang="ko-KR" dirty="0" err="1"/>
                        <a:t>cnn</a:t>
                      </a:r>
                      <a:r>
                        <a:rPr lang="en-US" altLang="ko-KR" dirty="0"/>
                        <a:t>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745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개요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사람 귀의 주파수 인식 특성을 반영한 </a:t>
                      </a:r>
                      <a:r>
                        <a:rPr lang="ko-KR" altLang="en-US" b="1" dirty="0"/>
                        <a:t>음향 특징 벡터</a:t>
                      </a:r>
                      <a:endParaRPr lang="ko-KR" altLang="en-US" dirty="0"/>
                    </a:p>
                    <a:p>
                      <a:r>
                        <a:rPr lang="ko-KR" altLang="en-US" b="1" dirty="0"/>
                        <a:t>시간에 따라 변화하는 주파수 패턴</a:t>
                      </a:r>
                      <a:r>
                        <a:rPr lang="ko-KR" altLang="en-US" dirty="0"/>
                        <a:t>을 요약</a:t>
                      </a:r>
                    </a:p>
                    <a:p>
                      <a:pPr latinLnBrk="1"/>
                      <a:r>
                        <a:rPr lang="ko-KR" altLang="en-US" dirty="0"/>
                        <a:t>오디오를 </a:t>
                      </a:r>
                      <a:r>
                        <a:rPr lang="en-US" altLang="ko-KR" b="1" dirty="0"/>
                        <a:t>25</a:t>
                      </a:r>
                      <a:r>
                        <a:rPr lang="en" altLang="ko-KR" b="1" dirty="0" err="1"/>
                        <a:t>ms</a:t>
                      </a:r>
                      <a:r>
                        <a:rPr lang="en" altLang="ko-KR" b="1" dirty="0"/>
                        <a:t> </a:t>
                      </a:r>
                      <a:r>
                        <a:rPr lang="ko-KR" altLang="en-US" b="1" dirty="0"/>
                        <a:t>단위로 자르고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각 구간에서 </a:t>
                      </a:r>
                      <a:r>
                        <a:rPr lang="en-US" altLang="ko-KR" dirty="0"/>
                        <a:t>13~20</a:t>
                      </a:r>
                      <a:r>
                        <a:rPr lang="ko-KR" altLang="en-US" dirty="0"/>
                        <a:t>개 계수를 추출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주파수 요약 계수 벡터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오디오를 시간</a:t>
                      </a:r>
                      <a:r>
                        <a:rPr lang="en-US" altLang="ko-KR" b="1" dirty="0"/>
                        <a:t>-</a:t>
                      </a:r>
                      <a:r>
                        <a:rPr lang="ko-KR" altLang="en-US" b="1" dirty="0"/>
                        <a:t>주파수 영역에서 시각화한 이미지</a:t>
                      </a:r>
                      <a:endParaRPr lang="ko-KR" altLang="en-US" dirty="0"/>
                    </a:p>
                    <a:p>
                      <a:r>
                        <a:rPr lang="ko-KR" altLang="en-US" dirty="0"/>
                        <a:t>사람이 소리를 듣는 방식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멜 스케일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을 반영해 </a:t>
                      </a:r>
                      <a:r>
                        <a:rPr lang="ko-KR" altLang="en-US" b="1" dirty="0"/>
                        <a:t>더 정교하게 소리의 패턴을 표현</a:t>
                      </a:r>
                      <a:r>
                        <a:rPr lang="ko-KR" altLang="en-US" dirty="0"/>
                        <a:t>함</a:t>
                      </a:r>
                    </a:p>
                    <a:p>
                      <a:r>
                        <a:rPr lang="en" altLang="ko-KR" dirty="0"/>
                        <a:t>CNN</a:t>
                      </a:r>
                      <a:r>
                        <a:rPr lang="ko-KR" altLang="en-US" dirty="0"/>
                        <a:t>이 이미지 패턴을 처리하듯 </a:t>
                      </a:r>
                      <a:r>
                        <a:rPr lang="ko-KR" altLang="en-US" b="1" dirty="0"/>
                        <a:t>소리의 패턴을 분석</a:t>
                      </a:r>
                      <a:endParaRPr lang="en-US" altLang="ko-KR" b="1" dirty="0"/>
                    </a:p>
                    <a:p>
                      <a:r>
                        <a:rPr lang="ko-KR" altLang="en-US" dirty="0"/>
                        <a:t>시간</a:t>
                      </a:r>
                      <a:r>
                        <a:rPr lang="en-US" altLang="ko-KR" dirty="0"/>
                        <a:t>-</a:t>
                      </a:r>
                      <a:r>
                        <a:rPr lang="ko-KR" altLang="en-US" dirty="0"/>
                        <a:t>주파수 분포 이미지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913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입력형태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1D </a:t>
                      </a:r>
                      <a:r>
                        <a:rPr lang="ko-KR" altLang="en-US" dirty="0"/>
                        <a:t>벡터 </a:t>
                      </a:r>
                      <a:r>
                        <a:rPr lang="en" altLang="ko-KR" dirty="0"/>
                        <a:t>(13, T) </a:t>
                      </a:r>
                      <a:r>
                        <a:rPr lang="ko-KR" altLang="en-US" dirty="0"/>
                        <a:t>벡터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ko-KR" dirty="0"/>
                        <a:t>(64, T) </a:t>
                      </a:r>
                      <a:r>
                        <a:rPr lang="ko-KR" altLang="en-US" dirty="0"/>
                        <a:t>이미지</a:t>
                      </a:r>
                      <a:endParaRPr lang="en-US" altLang="ko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0786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연산량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적음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경량 디바이스 적합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많음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고성능 장비 필요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608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정보보존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요약됨 → 일부 손실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i="1" dirty="0"/>
                        <a:t>고해상도 유지</a:t>
                      </a:r>
                      <a:r>
                        <a:rPr lang="en-US" altLang="ko-KR" i="1" dirty="0"/>
                        <a:t>, </a:t>
                      </a:r>
                      <a:r>
                        <a:rPr lang="ko-KR" altLang="en-US" i="1" dirty="0"/>
                        <a:t>시간</a:t>
                      </a:r>
                      <a:r>
                        <a:rPr lang="en-US" altLang="ko-KR" i="1" dirty="0"/>
                        <a:t>/</a:t>
                      </a:r>
                      <a:r>
                        <a:rPr lang="ko-KR" altLang="en-US" i="1" dirty="0"/>
                        <a:t>주파수 모두 보</a:t>
                      </a:r>
                      <a:r>
                        <a:rPr lang="ko-KR" altLang="en-US" dirty="0"/>
                        <a:t>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5143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분류성능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중간 수준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빠름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높음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더 정확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9194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모델 크기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작음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큼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경량화 필요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0931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적용환경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Jetson Nano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데스크탑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서버급</a:t>
                      </a:r>
                      <a:r>
                        <a:rPr lang="ko-KR" altLang="en-US" dirty="0"/>
                        <a:t> 학습 환경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9025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반복구조 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표현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요약되므로 잃어버릴 수 있음</a:t>
                      </a:r>
                      <a:endParaRPr lang="en-US" altLang="ko-KR" dirty="0"/>
                    </a:p>
                    <a:p>
                      <a:pPr marL="285750" indent="-285750" latinLnBrk="1">
                        <a:buFont typeface="Wingdings" pitchFamily="2" charset="2"/>
                        <a:buChar char="è"/>
                      </a:pPr>
                      <a:r>
                        <a:rPr lang="ko-KR" altLang="en-US" dirty="0"/>
                        <a:t>경보음과 같은 </a:t>
                      </a:r>
                      <a:r>
                        <a:rPr lang="ko-KR" altLang="en-US" dirty="0" err="1"/>
                        <a:t>반복적인패턴</a:t>
                      </a:r>
                      <a:r>
                        <a:rPr lang="ko-KR" altLang="en-US" dirty="0"/>
                        <a:t> 분류에 약함</a:t>
                      </a:r>
                      <a:r>
                        <a:rPr lang="en-US" altLang="ko-KR" dirty="0"/>
                        <a:t>,</a:t>
                      </a:r>
                    </a:p>
                    <a:p>
                      <a:pPr marL="285750" indent="-285750" latinLnBrk="1">
                        <a:buFont typeface="Wingdings" pitchFamily="2" charset="2"/>
                        <a:buChar char="è"/>
                      </a:pPr>
                      <a:r>
                        <a:rPr lang="ko-KR" altLang="en-US" dirty="0"/>
                        <a:t>실제 논문에서는 일상소음 분류정도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이미지로 반복을 직접 표현 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-&gt;</a:t>
                      </a:r>
                      <a:r>
                        <a:rPr lang="ko-KR" altLang="en-US" dirty="0"/>
                        <a:t>  실제논문에서 </a:t>
                      </a:r>
                      <a:r>
                        <a:rPr lang="ko-KR" altLang="en-US" dirty="0" err="1"/>
                        <a:t>경보음</a:t>
                      </a:r>
                      <a:r>
                        <a:rPr lang="ko-KR" altLang="en-US" dirty="0"/>
                        <a:t> 분류에 </a:t>
                      </a:r>
                      <a:r>
                        <a:rPr lang="en-US" altLang="ko-KR" dirty="0" err="1"/>
                        <a:t>cnn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많이 쓰임</a:t>
                      </a:r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254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0229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C0A83E-CCC7-5745-C0F9-9415289D3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모델 선택 기준과 향후 연구 방향성  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A2B6BA85-9922-0D6A-3DB2-59C801FCE4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0602650"/>
              </p:ext>
            </p:extLst>
          </p:nvPr>
        </p:nvGraphicFramePr>
        <p:xfrm>
          <a:off x="838200" y="2514600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4682640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9133688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31630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기준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MFCC </a:t>
                      </a:r>
                      <a:r>
                        <a:rPr lang="ko-KR" altLang="en-US" dirty="0"/>
                        <a:t>방식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/>
                        <a:t>CNN (Log-Mel) </a:t>
                      </a:r>
                      <a:r>
                        <a:rPr lang="ko-KR" altLang="en-US"/>
                        <a:t>방식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456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💻 </a:t>
                      </a:r>
                      <a:r>
                        <a:rPr lang="en" b="1"/>
                        <a:t>Jetson Nano </a:t>
                      </a:r>
                      <a:r>
                        <a:rPr lang="ko-KR" altLang="en-US" b="1"/>
                        <a:t>성능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적합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가볍고 빠름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무거움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최적화 필요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377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🎯 </a:t>
                      </a:r>
                      <a:r>
                        <a:rPr lang="ko-KR" altLang="en-US" b="1" dirty="0"/>
                        <a:t>탐지 성능 </a:t>
                      </a:r>
                      <a:r>
                        <a:rPr lang="en-US" altLang="ko-KR" b="1" dirty="0"/>
                        <a:t>(</a:t>
                      </a:r>
                      <a:r>
                        <a:rPr lang="ko-KR" altLang="en-US" b="1" dirty="0"/>
                        <a:t>정확도</a:t>
                      </a:r>
                      <a:r>
                        <a:rPr lang="en-US" altLang="ko-KR" b="1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중간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더 뛰어남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특히 반복 경보음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221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⚡ </a:t>
                      </a:r>
                      <a:r>
                        <a:rPr lang="ko-KR" altLang="en-US" b="1"/>
                        <a:t>실시간성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매우 우수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최적화 없이 느릴 수 있음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244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📦 모델 크기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작음 </a:t>
                      </a:r>
                      <a:r>
                        <a:rPr lang="en-US" altLang="ko-KR" dirty="0"/>
                        <a:t>(100~200</a:t>
                      </a:r>
                      <a:r>
                        <a:rPr lang="en" dirty="0"/>
                        <a:t>KB </a:t>
                      </a:r>
                      <a:r>
                        <a:rPr lang="ko-KR" altLang="en-US" dirty="0"/>
                        <a:t>가능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큼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수 </a:t>
                      </a:r>
                      <a:r>
                        <a:rPr lang="en" dirty="0"/>
                        <a:t>MB~</a:t>
                      </a:r>
                      <a:r>
                        <a:rPr lang="ko-KR" altLang="en-US" dirty="0"/>
                        <a:t>수십 </a:t>
                      </a:r>
                      <a:r>
                        <a:rPr lang="en" dirty="0"/>
                        <a:t>MB)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5446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CB915F3-BE3D-3640-2AC7-7CC7B0D2143A}"/>
              </a:ext>
            </a:extLst>
          </p:cNvPr>
          <p:cNvSpPr txBox="1"/>
          <p:nvPr/>
        </p:nvSpPr>
        <p:spPr>
          <a:xfrm>
            <a:off x="970280" y="4897120"/>
            <a:ext cx="11292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/>
              <a:t>Mfcc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인풋으로 하여 먼저 진행하고 계속된 </a:t>
            </a:r>
            <a:r>
              <a:rPr kumimoji="1" lang="ko-KR" altLang="en-US" dirty="0" err="1"/>
              <a:t>리파인에도</a:t>
            </a:r>
            <a:r>
              <a:rPr kumimoji="1" lang="ko-KR" altLang="en-US" dirty="0"/>
              <a:t>  성능이 부진할 시에 </a:t>
            </a:r>
            <a:endParaRPr kumimoji="1" lang="en-US" altLang="ko-KR" dirty="0"/>
          </a:p>
          <a:p>
            <a:r>
              <a:rPr kumimoji="1" lang="ko-KR" altLang="en-US" dirty="0"/>
              <a:t>                                               </a:t>
            </a:r>
            <a:r>
              <a:rPr kumimoji="1" lang="en-US" altLang="ko-KR" dirty="0"/>
              <a:t>yolo </a:t>
            </a:r>
            <a:r>
              <a:rPr kumimoji="1" lang="ko-KR" altLang="en-US" dirty="0"/>
              <a:t>와 자율주행을 후 메모리 여유 있으면  딥러닝 방식 고려 </a:t>
            </a:r>
          </a:p>
        </p:txBody>
      </p:sp>
    </p:spTree>
    <p:extLst>
      <p:ext uri="{BB962C8B-B14F-4D97-AF65-F5344CB8AC3E}">
        <p14:creationId xmlns:p14="http://schemas.microsoft.com/office/powerpoint/2010/main" val="1070784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EED814-943D-241F-26A6-BBEC09766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MFCC </a:t>
            </a:r>
            <a:r>
              <a:rPr kumimoji="1" lang="ko-KR" altLang="en-US" dirty="0"/>
              <a:t>추출결과 검증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55B7F3-A808-95EE-C853-1CC63ACAD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49000" cy="4351338"/>
          </a:xfrm>
        </p:spPr>
        <p:txBody>
          <a:bodyPr/>
          <a:lstStyle/>
          <a:p>
            <a:r>
              <a:rPr kumimoji="1" lang="ko-KR" altLang="en-US" dirty="0"/>
              <a:t>애초부터 데이터가 해당 클래스에 맞는 데이터인지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변환한 </a:t>
            </a:r>
            <a:r>
              <a:rPr kumimoji="1" lang="en-US" altLang="ko-KR" dirty="0"/>
              <a:t>MFCC </a:t>
            </a:r>
            <a:r>
              <a:rPr kumimoji="1" lang="ko-KR" altLang="en-US" dirty="0"/>
              <a:t>데이터가 분류하기에 적합한 유의미한 변환인지 검증필요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 err="1"/>
              <a:t>Mfcc</a:t>
            </a:r>
            <a:r>
              <a:rPr kumimoji="1" lang="ko-KR" altLang="en-US" dirty="0"/>
              <a:t> 변환과정 및 시각화 코드 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>
                <a:hlinkClick r:id="rId2"/>
              </a:rPr>
              <a:t>wav_to_mfcc.ipynb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84604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211C2FB3-F529-3432-5F08-3A7FD38672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440" y="1038291"/>
            <a:ext cx="7670869" cy="31559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1D3C45C-60D1-1E23-D4B1-56D4BFDA8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235" y="4173603"/>
            <a:ext cx="5410200" cy="2684397"/>
          </a:xfrm>
          <a:prstGeom prst="rect">
            <a:avLst/>
          </a:prstGeom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C2BABE98-E727-4426-7A9B-5281728DE2E2}"/>
              </a:ext>
            </a:extLst>
          </p:cNvPr>
          <p:cNvSpPr txBox="1">
            <a:spLocks/>
          </p:cNvSpPr>
          <p:nvPr/>
        </p:nvSpPr>
        <p:spPr>
          <a:xfrm>
            <a:off x="345440" y="1303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R" dirty="0"/>
              <a:t>MFCC </a:t>
            </a:r>
            <a:r>
              <a:rPr kumimoji="1" lang="ko-KR" altLang="en-US" dirty="0"/>
              <a:t>추출결과 검증</a:t>
            </a:r>
            <a:r>
              <a:rPr kumimoji="1" lang="en-US" altLang="ko-KR" dirty="0"/>
              <a:t> – </a:t>
            </a:r>
            <a:r>
              <a:rPr kumimoji="1" lang="ko-KR" altLang="en-US" dirty="0"/>
              <a:t>화재경보음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C1ECFFB-544C-AB33-F794-BE4C6B0D6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767" y="4194241"/>
            <a:ext cx="2589595" cy="186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5764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9A57D-C0F3-6999-4A08-25133DD79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5B71A5-A839-6917-2F66-427BFE259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" y="90488"/>
            <a:ext cx="12115800" cy="1325563"/>
          </a:xfrm>
        </p:spPr>
        <p:txBody>
          <a:bodyPr/>
          <a:lstStyle/>
          <a:p>
            <a:r>
              <a:rPr kumimoji="1" lang="en-US" altLang="ko-KR" dirty="0"/>
              <a:t>MFCC </a:t>
            </a:r>
            <a:r>
              <a:rPr kumimoji="1" lang="ko-KR" altLang="en-US" dirty="0"/>
              <a:t>추출결과 검증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일상소음 </a:t>
            </a:r>
            <a:r>
              <a:rPr kumimoji="1" lang="en-US" altLang="ko-KR" dirty="0"/>
              <a:t>(</a:t>
            </a:r>
            <a:r>
              <a:rPr kumimoji="1" lang="ko-KR" altLang="en-US" dirty="0" err="1"/>
              <a:t>말하는소리</a:t>
            </a:r>
            <a:r>
              <a:rPr kumimoji="1" lang="ko-KR" altLang="en-US" dirty="0"/>
              <a:t> </a:t>
            </a:r>
            <a:r>
              <a:rPr kumimoji="1" lang="en-US" altLang="ko-KR" dirty="0"/>
              <a:t>)</a:t>
            </a:r>
            <a:r>
              <a:rPr kumimoji="1" lang="ko-KR" altLang="en-US" dirty="0"/>
              <a:t>  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4D82728C-30D9-BB51-3E91-94A53CCBF2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68364"/>
            <a:ext cx="8674100" cy="35687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CD0687F-F03E-212B-BDAA-F17444906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4539909"/>
            <a:ext cx="2747090" cy="197707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9A8FBBE-5A33-3105-826A-3C083D4324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8679" y="4288560"/>
            <a:ext cx="5753101" cy="2478136"/>
          </a:xfrm>
          <a:prstGeom prst="rect">
            <a:avLst/>
          </a:prstGeom>
        </p:spPr>
      </p:pic>
      <p:cxnSp>
        <p:nvCxnSpPr>
          <p:cNvPr id="7" name="직선 연결선[R] 6">
            <a:extLst>
              <a:ext uri="{FF2B5EF4-FFF2-40B4-BE49-F238E27FC236}">
                <a16:creationId xmlns:a16="http://schemas.microsoft.com/office/drawing/2014/main" id="{ADC15337-AA0F-0010-F796-867500758494}"/>
              </a:ext>
            </a:extLst>
          </p:cNvPr>
          <p:cNvCxnSpPr>
            <a:cxnSpLocks/>
          </p:cNvCxnSpPr>
          <p:nvPr/>
        </p:nvCxnSpPr>
        <p:spPr>
          <a:xfrm>
            <a:off x="487680" y="2499360"/>
            <a:ext cx="75793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193C46-DFBF-C68E-C0A2-3C7574AB5C52}"/>
              </a:ext>
            </a:extLst>
          </p:cNvPr>
          <p:cNvSpPr txBox="1"/>
          <p:nvPr/>
        </p:nvSpPr>
        <p:spPr>
          <a:xfrm>
            <a:off x="9336405" y="2008483"/>
            <a:ext cx="2428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추후 검증 기준 다른 논문 더 참고할 예정 </a:t>
            </a:r>
          </a:p>
        </p:txBody>
      </p:sp>
    </p:spTree>
    <p:extLst>
      <p:ext uri="{BB962C8B-B14F-4D97-AF65-F5344CB8AC3E}">
        <p14:creationId xmlns:p14="http://schemas.microsoft.com/office/powerpoint/2010/main" val="706807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948</TotalTime>
  <Words>2162</Words>
  <Application>Microsoft Macintosh PowerPoint</Application>
  <PresentationFormat>와이드스크린</PresentationFormat>
  <Paragraphs>227</Paragraphs>
  <Slides>18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Arial</vt:lpstr>
      <vt:lpstr>Wingdings</vt:lpstr>
      <vt:lpstr>Office 테마</vt:lpstr>
      <vt:lpstr>재난경보음 분류 알고리즘  진행상황 </vt:lpstr>
      <vt:lpstr>수집한 데이터세트</vt:lpstr>
      <vt:lpstr>PowerPoint 프레젠테이션</vt:lpstr>
      <vt:lpstr>PowerPoint 프레젠테이션</vt:lpstr>
      <vt:lpstr>PowerPoint 프레젠테이션</vt:lpstr>
      <vt:lpstr>전체 파이프라인 </vt:lpstr>
      <vt:lpstr>데이터셋 구성 전략</vt:lpstr>
      <vt:lpstr>데이터 구성_positive class[0] = 실제화재경보음  </vt:lpstr>
      <vt:lpstr>데이터 구성_negative class[1]                      = 화재경보음이 아닌 일상소음  </vt:lpstr>
      <vt:lpstr>모델 성능 평가 기준 </vt:lpstr>
      <vt:lpstr>검증 데이터 구성 </vt:lpstr>
      <vt:lpstr>테스트 데이터 구성 </vt:lpstr>
      <vt:lpstr>알고리즘 선택  음성특징벡터를 입력으로하는 알고리즘VS 스펙트로그램을 입력으로한 CNN </vt:lpstr>
      <vt:lpstr>입력값 및 알고리즘 선택</vt:lpstr>
      <vt:lpstr>모델 선택 기준과 향후 연구 방향성  </vt:lpstr>
      <vt:lpstr>MFCC 추출결과 검증</vt:lpstr>
      <vt:lpstr>PowerPoint 프레젠테이션</vt:lpstr>
      <vt:lpstr>MFCC 추출결과 검증 – 일상소음 (말하는소리 )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안유민</dc:creator>
  <cp:keywords/>
  <dc:description/>
  <cp:lastModifiedBy>안유민</cp:lastModifiedBy>
  <cp:revision>3</cp:revision>
  <dcterms:created xsi:type="dcterms:W3CDTF">2025-05-22T17:19:51Z</dcterms:created>
  <dcterms:modified xsi:type="dcterms:W3CDTF">2025-06-19T10:40:55Z</dcterms:modified>
  <cp:category/>
</cp:coreProperties>
</file>