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5" r:id="rId7"/>
    <p:sldId id="266" r:id="rId8"/>
    <p:sldId id="260" r:id="rId9"/>
    <p:sldId id="263" r:id="rId10"/>
    <p:sldId id="262" r:id="rId11"/>
    <p:sldId id="264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46"/>
    <p:restoredTop sz="94695"/>
  </p:normalViewPr>
  <p:slideViewPr>
    <p:cSldViewPr snapToGrid="0">
      <p:cViewPr varScale="1">
        <p:scale>
          <a:sx n="73" d="100"/>
          <a:sy n="73" d="100"/>
        </p:scale>
        <p:origin x="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DADCA-A202-9742-A8C0-B53C0B56AEFE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9EE0F-2F52-1D4F-BDC0-B9EF94768C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53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9EE0F-2F52-1D4F-BDC0-B9EF94768C2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2645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9EE0F-2F52-1D4F-BDC0-B9EF94768C2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8426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1B219-E2AF-40AC-1D93-1686F8438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7887E9-FF29-F249-7F4C-DF90B2DB4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2EEF6D-B6A4-A903-5423-7C4B05A8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8B8BD1-2CDC-AED7-E35F-E918B813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FB657E-6D00-BECB-C780-A473D487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679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C75BA8-0B31-C4DB-0CF5-A44B3D85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F9FB17-B963-BD1C-1040-98CE5B5EF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463D6-44AF-1E58-4C81-46B976E8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EE1AE-EC4E-290D-95C4-B4E36061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0AE7E-F78D-DD6D-0810-53849303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915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A480D-D695-9E55-3388-D9621B5D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8E5D50-F1E4-3856-5CC3-AF7F74C72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0C76B-72C4-5BE2-9081-4C5D5203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B29C4D-D4BA-8545-3303-661A4243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27A8E-E2E7-298C-B360-F1803579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7658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2BB72-20EA-E8E5-C5C0-D8D8EF8C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C18FB9-F419-4EA9-0993-A20592A58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55D465-761A-D1A0-3B37-835B732F7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A7F183-5620-5ED6-011B-FE822573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473AC-8767-77D4-3569-6DB9E5536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A789E0-D399-CCEB-2A69-B2040E2A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535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F1B93-4909-B14D-370E-676ECB5A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EFD80-51FC-4AA3-12A5-3D18755D9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3DDC33-5454-B8A3-770F-5EF9C5E87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1C2727-978E-632C-5764-DE92580D0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763B34-267D-803C-9032-47F496CEC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848ECA-31BC-5629-60D4-CF5B16B4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C1CEA3-AC1E-813A-3897-E7A94A87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B61526-E525-8AB0-C2F2-209ADD04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103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DDE52-C5A3-B7ED-6B6B-8BF66278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311BAD-E758-0059-7909-1AD5E0E9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C32C12-E1AC-A63B-FF6C-85E4D891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4A53EA-A4AC-F8C8-6531-B8839A4B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523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020690-6946-4390-4157-818C0E1A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CBE7CB-1689-3209-DA7A-D05C186C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526EF-734D-6ED6-83E5-791D48AA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0100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29FB0-9A5F-00F3-140B-650D0CA3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339DE-F0C9-BD46-3D1E-50B7FA91E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CFDFBE-5CEA-E64E-B819-8858BA889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1C6E6C-F3A0-FFA9-DDA3-8F90B497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19BD38-A474-0C46-A95C-7F142778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E35A11-206A-8B98-B5F8-4CBCCBC9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309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37BE2-A859-2CF8-754E-8F1147BA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6F00E-80B3-0B03-B243-F17413DDB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E3B8D-4D0E-DF6D-8B8D-54E6AE905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AF0A9-2A89-B562-DB14-CF16939EF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1A5120-030A-388B-60AE-45061F15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6B95E0-FFF6-1F69-C3B3-DD057CE8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545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F62DD-6DC6-1F84-BED8-E64FC36D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6C7A40-01FE-58E7-6D22-6BBF01D2E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A3801-98D1-7658-26AB-A7433EC2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7CAB51-B291-745D-3591-0E91D804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A15C6-185A-6DC9-DF3C-F78C1DA6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658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82E1C4-CD19-7003-EE20-0E6170182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394A22-5931-2475-D46A-CCB0F507E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3D025-3B16-8A60-763B-0B32C12F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69E00-6FE4-A1D8-9A90-4D3E3528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912613-9649-C7AE-5CD0-E9705B3E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396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331A75-7964-9F07-8CF9-B36E9388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2BA42B-9F33-67D6-0281-B1EC5747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449BC-EEE1-4E39-7CE7-271947355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987B0-E676-C141-9EB6-591258306D74}" type="datetimeFigureOut">
              <a:rPr kumimoji="1" lang="ko-KR" altLang="en-US" smtClean="0"/>
              <a:t>2025. 8. 26.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BC1A19-1236-258C-2F43-2522ABA56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4EC7D0-7F1A-D9E9-B9EF-9D7BE29BC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4D884-8579-4240-8031-2BEEB4743C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733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5F4D8-99DF-B530-718E-6EA91F062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046" y="519248"/>
            <a:ext cx="10249711" cy="2387600"/>
          </a:xfrm>
        </p:spPr>
        <p:txBody>
          <a:bodyPr/>
          <a:lstStyle/>
          <a:p>
            <a:r>
              <a:rPr kumimoji="1" lang="ko-KR" altLang="en-US" b="1" dirty="0"/>
              <a:t>딥러닝 기반 재난경보음 분류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D7FC68-EC1F-5369-7E9D-F91F7774F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7953"/>
            <a:ext cx="9144000" cy="1655762"/>
          </a:xfrm>
        </p:spPr>
        <p:txBody>
          <a:bodyPr/>
          <a:lstStyle/>
          <a:p>
            <a:r>
              <a:rPr kumimoji="1" lang="en-US" altLang="ko-KR" dirty="0"/>
              <a:t>AI </a:t>
            </a:r>
            <a:r>
              <a:rPr kumimoji="1" lang="ko-KR" altLang="en-US" dirty="0"/>
              <a:t>정보공학과 안유민</a:t>
            </a:r>
          </a:p>
        </p:txBody>
      </p:sp>
    </p:spTree>
    <p:extLst>
      <p:ext uri="{BB962C8B-B14F-4D97-AF65-F5344CB8AC3E}">
        <p14:creationId xmlns:p14="http://schemas.microsoft.com/office/powerpoint/2010/main" val="348215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2F18D-7FE5-B22C-265B-6AC93F29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개념 및 기술 개요 </a:t>
            </a:r>
            <a:r>
              <a:rPr kumimoji="1" lang="en-US" altLang="ko-KR" b="1" dirty="0"/>
              <a:t> 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BA79C4-FFE3-F230-8F27-E9BC419DC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/>
              <a:t>딥러닝 </a:t>
            </a:r>
            <a:r>
              <a:rPr lang="en-US" altLang="ko-KR" b="1" dirty="0"/>
              <a:t>&amp; </a:t>
            </a:r>
            <a:r>
              <a:rPr lang="en" altLang="ko-KR" b="1" dirty="0"/>
              <a:t>CNN </a:t>
            </a:r>
            <a:r>
              <a:rPr lang="ko-KR" altLang="en-US" b="1" dirty="0"/>
              <a:t>개요</a:t>
            </a:r>
          </a:p>
          <a:p>
            <a:r>
              <a:rPr lang="ko-KR" altLang="en-US" dirty="0"/>
              <a:t>딥러닝</a:t>
            </a:r>
            <a:r>
              <a:rPr lang="en-US" altLang="ko-KR" dirty="0"/>
              <a:t>(</a:t>
            </a:r>
            <a:r>
              <a:rPr lang="en" altLang="ko-KR" dirty="0"/>
              <a:t>Deep Learning)</a:t>
            </a:r>
            <a:r>
              <a:rPr lang="ko-KR" altLang="en-US" dirty="0"/>
              <a:t>은 인간의 뇌 신경망 구조를 모방한 인공 신경망 기반 기계학습 기술</a:t>
            </a:r>
          </a:p>
          <a:p>
            <a:r>
              <a:rPr lang="en" altLang="ko-KR" dirty="0"/>
              <a:t>CNN(Convolutional Neural Network)</a:t>
            </a:r>
            <a:r>
              <a:rPr lang="ko-KR" altLang="en-US" dirty="0"/>
              <a:t>은 이미지 또는 </a:t>
            </a:r>
            <a:r>
              <a:rPr lang="en-US" altLang="ko-KR" dirty="0"/>
              <a:t>2</a:t>
            </a:r>
            <a:r>
              <a:rPr lang="en" altLang="ko-KR" dirty="0"/>
              <a:t>D </a:t>
            </a:r>
            <a:r>
              <a:rPr lang="ko-KR" altLang="en-US" dirty="0"/>
              <a:t>데이터에 최적화된 딥러닝 </a:t>
            </a:r>
            <a:r>
              <a:rPr lang="ko-KR" altLang="en-US" dirty="0" err="1"/>
              <a:t>모델로입력된</a:t>
            </a:r>
            <a:r>
              <a:rPr lang="ko-KR" altLang="en-US" dirty="0"/>
              <a:t> 이미지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ko-KR" altLang="en-US" dirty="0" err="1"/>
              <a:t>스펙트로그램</a:t>
            </a:r>
            <a:r>
              <a:rPr lang="en-US" altLang="ko-KR" dirty="0"/>
              <a:t>)</a:t>
            </a:r>
            <a:r>
              <a:rPr lang="ko-KR" altLang="en-US" dirty="0"/>
              <a:t>의 특징을 자동으로 추출하여 분류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01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D1C0F-E993-AFED-05CC-969670BE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전체흐름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6AAB1-02A2-3275-67BE-2A9BA4BC4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[</a:t>
            </a:r>
            <a:r>
              <a:rPr kumimoji="1" lang="ko-KR" altLang="en-US" dirty="0"/>
              <a:t>노트북 마이크 입력</a:t>
            </a:r>
            <a:r>
              <a:rPr kumimoji="1" lang="en-US" altLang="ko-KR" dirty="0"/>
              <a:t>] </a:t>
            </a:r>
          </a:p>
          <a:p>
            <a:pPr marL="0" indent="0">
              <a:buNone/>
            </a:pPr>
            <a:r>
              <a:rPr kumimoji="1" lang="en-US" altLang="ko-KR" dirty="0"/>
              <a:t>→ [</a:t>
            </a:r>
            <a:r>
              <a:rPr kumimoji="1" lang="ko-KR" altLang="en-US" dirty="0"/>
              <a:t>실시간 음성 수집</a:t>
            </a:r>
            <a:r>
              <a:rPr kumimoji="1" lang="en-US" altLang="ko-KR" dirty="0"/>
              <a:t>] </a:t>
            </a:r>
          </a:p>
          <a:p>
            <a:pPr marL="0" indent="0">
              <a:buNone/>
            </a:pPr>
            <a:r>
              <a:rPr kumimoji="1" lang="en-US" altLang="ko-KR" dirty="0"/>
              <a:t>→ [</a:t>
            </a:r>
            <a:r>
              <a:rPr kumimoji="1" lang="en" altLang="ko-KR" dirty="0"/>
              <a:t>Log-Mel Spectrogram </a:t>
            </a:r>
            <a:r>
              <a:rPr kumimoji="1" lang="ko-KR" altLang="en-US" dirty="0"/>
              <a:t>변환</a:t>
            </a:r>
            <a:r>
              <a:rPr kumimoji="1" lang="en-US" altLang="ko-KR" dirty="0"/>
              <a:t>]</a:t>
            </a:r>
          </a:p>
          <a:p>
            <a:pPr marL="0" indent="0">
              <a:buNone/>
            </a:pPr>
            <a:r>
              <a:rPr kumimoji="1" lang="en-US" altLang="ko-KR" dirty="0"/>
              <a:t>→ [</a:t>
            </a:r>
            <a:r>
              <a:rPr kumimoji="1" lang="en" altLang="ko-KR" dirty="0"/>
              <a:t>CNN </a:t>
            </a:r>
            <a:r>
              <a:rPr kumimoji="1" lang="ko-KR" altLang="en-US" dirty="0"/>
              <a:t>모델 </a:t>
            </a:r>
            <a:r>
              <a:rPr kumimoji="1" lang="en-US" altLang="ko-KR" dirty="0"/>
              <a:t>(</a:t>
            </a:r>
            <a:r>
              <a:rPr kumimoji="1" lang="en" altLang="ko-KR" dirty="0"/>
              <a:t>MobileNetV2)] </a:t>
            </a:r>
          </a:p>
          <a:p>
            <a:pPr marL="0" indent="0">
              <a:buNone/>
            </a:pPr>
            <a:r>
              <a:rPr kumimoji="1" lang="en" altLang="ko-KR" dirty="0"/>
              <a:t>→ [</a:t>
            </a:r>
            <a:r>
              <a:rPr kumimoji="1" lang="ko-KR" altLang="en-US" dirty="0" err="1"/>
              <a:t>일상음</a:t>
            </a:r>
            <a:r>
              <a:rPr kumimoji="1" lang="ko-KR" altLang="en-US" dirty="0"/>
              <a:t> </a:t>
            </a:r>
            <a:r>
              <a:rPr kumimoji="1" lang="en-US" altLang="ko-KR" dirty="0"/>
              <a:t>/ </a:t>
            </a:r>
            <a:r>
              <a:rPr kumimoji="1" lang="ko-KR" altLang="en-US" dirty="0" err="1"/>
              <a:t>경보음</a:t>
            </a:r>
            <a:r>
              <a:rPr kumimoji="1" lang="ko-KR" altLang="en-US" dirty="0"/>
              <a:t> 분류 출력</a:t>
            </a:r>
            <a:r>
              <a:rPr kumimoji="1" lang="en-US" altLang="ko-KR" dirty="0"/>
              <a:t>]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41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91B59-7465-33AD-A170-A38FDE8F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실험 시스템 구성 및 방식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F99DB1-F36F-B8FA-B2A6-1F42034A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2268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실시간 마이크로 음성을 수집하여 </a:t>
            </a:r>
            <a:r>
              <a:rPr lang="en" altLang="ko-KR" dirty="0" err="1"/>
              <a:t>librosa</a:t>
            </a:r>
            <a:r>
              <a:rPr lang="ko-KR" altLang="en-US" dirty="0" err="1"/>
              <a:t>를</a:t>
            </a:r>
            <a:r>
              <a:rPr lang="ko-KR" altLang="en-US" dirty="0"/>
              <a:t> 이용해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" altLang="ko-KR" b="1" dirty="0"/>
              <a:t>log-mel </a:t>
            </a:r>
            <a:r>
              <a:rPr lang="ko-KR" altLang="en-US" b="1" dirty="0" err="1"/>
              <a:t>스펙트로그램</a:t>
            </a:r>
            <a:r>
              <a:rPr lang="ko-KR" altLang="en-US" dirty="0" err="1"/>
              <a:t>으로</a:t>
            </a:r>
            <a:r>
              <a:rPr lang="ko-KR" altLang="en-US" dirty="0"/>
              <a:t> 변환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채널 이미지</a:t>
            </a:r>
            <a:r>
              <a:rPr lang="en-US" altLang="ko-KR" dirty="0"/>
              <a:t>(64</a:t>
            </a:r>
            <a:r>
              <a:rPr lang="en" altLang="ko-KR" dirty="0" err="1"/>
              <a:t>xT</a:t>
            </a:r>
            <a:r>
              <a:rPr lang="en" altLang="ko-KR" dirty="0"/>
              <a:t>)</a:t>
            </a:r>
            <a:r>
              <a:rPr lang="ko-KR" altLang="en-US" dirty="0"/>
              <a:t>의 입력을 </a:t>
            </a:r>
            <a:r>
              <a:rPr lang="en" altLang="ko-KR" dirty="0"/>
              <a:t>CNN</a:t>
            </a:r>
            <a:r>
              <a:rPr lang="ko-KR" altLang="en-US" dirty="0" err="1"/>
              <a:t>에</a:t>
            </a:r>
            <a:r>
              <a:rPr lang="ko-KR" altLang="en-US" dirty="0"/>
              <a:t> 주입</a:t>
            </a:r>
          </a:p>
          <a:p>
            <a:r>
              <a:rPr lang="en" altLang="ko-KR" dirty="0"/>
              <a:t>CNN</a:t>
            </a:r>
            <a:r>
              <a:rPr lang="ko-KR" altLang="en-US" dirty="0"/>
              <a:t>은 입력된 </a:t>
            </a:r>
            <a:r>
              <a:rPr lang="ko-KR" altLang="en-US" dirty="0" err="1"/>
              <a:t>스펙트로그램을</a:t>
            </a:r>
            <a:r>
              <a:rPr lang="ko-KR" altLang="en-US" dirty="0"/>
              <a:t> 통해 </a:t>
            </a:r>
            <a:r>
              <a:rPr lang="en-US" altLang="ko-KR" dirty="0"/>
              <a:t>[</a:t>
            </a:r>
            <a:r>
              <a:rPr lang="ko-KR" altLang="en-US" dirty="0" err="1"/>
              <a:t>일상음</a:t>
            </a:r>
            <a:r>
              <a:rPr lang="en-US" altLang="ko-KR" dirty="0"/>
              <a:t> / </a:t>
            </a:r>
            <a:r>
              <a:rPr lang="ko-KR" altLang="en-US" dirty="0" err="1"/>
              <a:t>경보음</a:t>
            </a:r>
            <a:r>
              <a:rPr lang="en-US" altLang="ko-KR" dirty="0"/>
              <a:t>]</a:t>
            </a:r>
            <a:r>
              <a:rPr lang="ko-KR" altLang="en-US" dirty="0" err="1"/>
              <a:t>으로</a:t>
            </a:r>
            <a:r>
              <a:rPr lang="ko-KR" altLang="en-US" dirty="0"/>
              <a:t> 분류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95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7A825-DC57-9842-F7EB-5450F896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실험 과정 및 </a:t>
            </a:r>
            <a:r>
              <a:rPr kumimoji="1" lang="ko-KR" altLang="en-US" b="1" dirty="0" err="1"/>
              <a:t>하이퍼파라미터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9F333-C1D2-2840-CF2E-F4477B04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데이터</a:t>
            </a:r>
            <a:r>
              <a:rPr lang="en-US" altLang="ko-KR" dirty="0"/>
              <a:t>: </a:t>
            </a:r>
            <a:r>
              <a:rPr lang="ko-KR" altLang="en-US" dirty="0" err="1"/>
              <a:t>샘플링레이트</a:t>
            </a:r>
            <a:r>
              <a:rPr lang="ko-KR" altLang="en-US" dirty="0"/>
              <a:t> </a:t>
            </a:r>
            <a:r>
              <a:rPr lang="en-US" altLang="ko-KR" dirty="0"/>
              <a:t>22050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-&gt;</a:t>
            </a:r>
            <a:r>
              <a:rPr lang="ko-KR" altLang="en-US" dirty="0"/>
              <a:t> 초당 </a:t>
            </a:r>
            <a:r>
              <a:rPr lang="en-US" altLang="ko-KR" dirty="0"/>
              <a:t>22,050</a:t>
            </a:r>
            <a:r>
              <a:rPr lang="ko-KR" altLang="en-US" dirty="0"/>
              <a:t>개의 음성 데이터를 </a:t>
            </a:r>
            <a:r>
              <a:rPr lang="ko-KR" altLang="en-US" dirty="0" err="1"/>
              <a:t>읽어들이는</a:t>
            </a:r>
            <a:r>
              <a:rPr lang="ko-KR" altLang="en-US" dirty="0"/>
              <a:t> 설정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" altLang="ko-KR" dirty="0" err="1"/>
              <a:t>n_mels</a:t>
            </a:r>
            <a:r>
              <a:rPr lang="en" altLang="ko-KR" dirty="0"/>
              <a:t>=64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-&gt;</a:t>
            </a:r>
            <a:r>
              <a:rPr lang="ko-KR" altLang="en-US" dirty="0"/>
              <a:t>소리를 </a:t>
            </a:r>
            <a:r>
              <a:rPr lang="en-US" altLang="ko-KR" dirty="0"/>
              <a:t>64</a:t>
            </a:r>
            <a:r>
              <a:rPr lang="ko-KR" altLang="en-US" dirty="0"/>
              <a:t>개의 </a:t>
            </a:r>
            <a:r>
              <a:rPr lang="en" altLang="ko-KR" dirty="0"/>
              <a:t>Mel </a:t>
            </a:r>
            <a:r>
              <a:rPr lang="ko-KR" altLang="en-US" dirty="0"/>
              <a:t>주파수 대역으로 나누어 시각화한 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" altLang="ko-KR" dirty="0"/>
              <a:t>log-mel spectrogram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" altLang="ko-KR" dirty="0" err="1"/>
              <a:t>hop_length</a:t>
            </a:r>
            <a:r>
              <a:rPr lang="en" altLang="ko-KR" dirty="0"/>
              <a:t>=512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-&gt;</a:t>
            </a:r>
            <a:r>
              <a:rPr lang="ko-KR" altLang="en-US" dirty="0" err="1"/>
              <a:t>스펙트로그램</a:t>
            </a:r>
            <a:r>
              <a:rPr lang="ko-KR" altLang="en-US" dirty="0"/>
              <a:t> 생성 시 프레임 간 간격</a:t>
            </a:r>
            <a:r>
              <a:rPr lang="en-US" altLang="ko-KR" dirty="0"/>
              <a:t>. </a:t>
            </a:r>
            <a:r>
              <a:rPr lang="ko-KR" altLang="en-US" dirty="0"/>
              <a:t>값이 작을수록 시간 해상도가 높아지지만 </a:t>
            </a:r>
            <a:r>
              <a:rPr lang="ko-KR" altLang="en-US" dirty="0" err="1"/>
              <a:t>계산량도</a:t>
            </a:r>
            <a:r>
              <a:rPr lang="ko-KR" altLang="en-US" dirty="0"/>
              <a:t> 증가함 </a:t>
            </a:r>
            <a:endParaRPr lang="en" altLang="ko-KR" dirty="0"/>
          </a:p>
          <a:p>
            <a:pPr>
              <a:lnSpc>
                <a:spcPct val="100000"/>
              </a:lnSpc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30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BA90A-6846-4AF7-CBB5-C81B352F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실험과정 및 </a:t>
            </a:r>
            <a:r>
              <a:rPr kumimoji="1" lang="ko-KR" altLang="en-US" b="1" dirty="0" err="1"/>
              <a:t>하이퍼파라미터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07CE1-DDA0-A30D-F05F-51EF66D2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698"/>
            <a:ext cx="10515600" cy="463026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입력 형태</a:t>
            </a:r>
            <a:r>
              <a:rPr lang="en-US" altLang="ko-KR" dirty="0"/>
              <a:t>: (1, 64, </a:t>
            </a:r>
            <a:r>
              <a:rPr lang="en" altLang="ko-KR" dirty="0"/>
              <a:t>T) (1</a:t>
            </a:r>
            <a:r>
              <a:rPr lang="ko-KR" altLang="en-US" dirty="0"/>
              <a:t>채널 </a:t>
            </a:r>
            <a:r>
              <a:rPr lang="en" altLang="ko-KR" dirty="0"/>
              <a:t>log-mel)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-&gt;</a:t>
            </a:r>
            <a:r>
              <a:rPr lang="ko-KR" altLang="en-US" dirty="0"/>
              <a:t>모델에 들어가는 데이터는 </a:t>
            </a:r>
            <a:r>
              <a:rPr lang="en-US" altLang="ko-KR" dirty="0"/>
              <a:t>1</a:t>
            </a:r>
            <a:r>
              <a:rPr lang="ko-KR" altLang="en-US" dirty="0"/>
              <a:t>채널의 </a:t>
            </a:r>
            <a:r>
              <a:rPr lang="en-US" altLang="ko-KR" dirty="0"/>
              <a:t>(</a:t>
            </a:r>
            <a:r>
              <a:rPr lang="ko-KR" altLang="en-US" dirty="0"/>
              <a:t>세로</a:t>
            </a:r>
            <a:r>
              <a:rPr lang="en-US" altLang="ko-KR" dirty="0"/>
              <a:t>=64</a:t>
            </a:r>
            <a:r>
              <a:rPr lang="ko-KR" altLang="en-US" dirty="0"/>
              <a:t>개의 주파수</a:t>
            </a:r>
            <a:r>
              <a:rPr lang="en-US" altLang="ko-KR" dirty="0"/>
              <a:t>, </a:t>
            </a:r>
            <a:r>
              <a:rPr lang="ko-KR" altLang="en-US" dirty="0"/>
              <a:t>가로</a:t>
            </a:r>
            <a:r>
              <a:rPr lang="en-US" altLang="ko-KR" dirty="0"/>
              <a:t>=</a:t>
            </a:r>
            <a:r>
              <a:rPr lang="en" altLang="ko-KR" dirty="0"/>
              <a:t>T </a:t>
            </a:r>
            <a:r>
              <a:rPr lang="ko-KR" altLang="en-US" dirty="0"/>
              <a:t>프레임</a:t>
            </a:r>
            <a:r>
              <a:rPr lang="en-US" altLang="ko-KR" dirty="0"/>
              <a:t>)</a:t>
            </a:r>
            <a:r>
              <a:rPr lang="ko-KR" altLang="en-US" dirty="0"/>
              <a:t> 형태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마치 소리를 시각화한 이미지를 </a:t>
            </a:r>
            <a:r>
              <a:rPr lang="en" altLang="ko-KR" dirty="0"/>
              <a:t>CNN</a:t>
            </a:r>
            <a:r>
              <a:rPr lang="ko-KR" altLang="en-US" dirty="0"/>
              <a:t>이 </a:t>
            </a:r>
            <a:r>
              <a:rPr lang="ko-KR" altLang="en-US" dirty="0" err="1"/>
              <a:t>입력받아</a:t>
            </a:r>
            <a:r>
              <a:rPr lang="ko-KR" altLang="en-US" dirty="0"/>
              <a:t> 분석하는 것과 유사함 </a:t>
            </a:r>
            <a:endParaRPr lang="en" altLang="ko-KR" dirty="0"/>
          </a:p>
          <a:p>
            <a:pPr>
              <a:lnSpc>
                <a:spcPct val="120000"/>
              </a:lnSpc>
            </a:pPr>
            <a:r>
              <a:rPr lang="en" altLang="ko-KR" dirty="0"/>
              <a:t>Optimizer: Adam</a:t>
            </a:r>
          </a:p>
          <a:p>
            <a:pPr>
              <a:lnSpc>
                <a:spcPct val="120000"/>
              </a:lnSpc>
            </a:pPr>
            <a:r>
              <a:rPr lang="en" altLang="ko-KR" dirty="0"/>
              <a:t>Epoch: </a:t>
            </a:r>
            <a:r>
              <a:rPr lang="ko-KR" altLang="en-US" dirty="0"/>
              <a:t>최대 </a:t>
            </a:r>
            <a:r>
              <a:rPr lang="en-US" altLang="ko-KR" dirty="0"/>
              <a:t>30, </a:t>
            </a:r>
            <a:r>
              <a:rPr lang="en" altLang="ko-KR" dirty="0"/>
              <a:t>Early Stopping </a:t>
            </a:r>
            <a:r>
              <a:rPr lang="ko-KR" altLang="en-US" dirty="0"/>
              <a:t>적용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하이퍼파라미터</a:t>
            </a:r>
            <a:r>
              <a:rPr lang="ko-KR" altLang="en-US" dirty="0"/>
              <a:t> 그리드 탐색 </a:t>
            </a:r>
            <a:r>
              <a:rPr lang="en-US" altLang="ko-KR" dirty="0"/>
              <a:t>(</a:t>
            </a:r>
            <a:r>
              <a:rPr lang="en" altLang="ko-KR" dirty="0"/>
              <a:t>Dropout, </a:t>
            </a:r>
            <a:r>
              <a:rPr lang="en" altLang="ko-KR" dirty="0" err="1"/>
              <a:t>pos_weight</a:t>
            </a:r>
            <a:r>
              <a:rPr lang="en" altLang="ko-KR" dirty="0"/>
              <a:t>, </a:t>
            </a:r>
            <a:r>
              <a:rPr lang="en" altLang="ko-KR" dirty="0" err="1"/>
              <a:t>lr</a:t>
            </a:r>
            <a:r>
              <a:rPr lang="en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모델별</a:t>
            </a:r>
            <a:r>
              <a:rPr lang="ko-KR" altLang="en-US" dirty="0"/>
              <a:t> 혼동 행렬 </a:t>
            </a:r>
            <a:r>
              <a:rPr lang="en-US" altLang="ko-KR" dirty="0"/>
              <a:t>+ </a:t>
            </a:r>
            <a:r>
              <a:rPr lang="ko-KR" altLang="en-US" dirty="0" err="1"/>
              <a:t>재난음</a:t>
            </a:r>
            <a:r>
              <a:rPr lang="ko-KR" altLang="en-US" dirty="0"/>
              <a:t> 탐지에 중요한 지표인 </a:t>
            </a:r>
            <a:r>
              <a:rPr lang="en" altLang="ko-KR" dirty="0"/>
              <a:t>recall </a:t>
            </a:r>
            <a:r>
              <a:rPr lang="ko-KR" altLang="en-US" dirty="0"/>
              <a:t>값 비교</a:t>
            </a:r>
            <a:r>
              <a:rPr lang="en-US" altLang="ko-KR" dirty="0"/>
              <a:t>,</a:t>
            </a:r>
            <a:r>
              <a:rPr lang="ko-KR" altLang="en-US" dirty="0"/>
              <a:t> 정확도 뿐 아니라 놓치지 않는 능력</a:t>
            </a:r>
            <a:r>
              <a:rPr lang="en-US" altLang="ko-KR" dirty="0"/>
              <a:t>(</a:t>
            </a:r>
            <a:r>
              <a:rPr lang="en" altLang="ko-KR" dirty="0"/>
              <a:t>FN </a:t>
            </a:r>
            <a:r>
              <a:rPr lang="ko-KR" altLang="en-US" dirty="0"/>
              <a:t>최소화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기준으로 모델을 선정함 </a:t>
            </a:r>
          </a:p>
          <a:p>
            <a:pPr>
              <a:lnSpc>
                <a:spcPct val="120000"/>
              </a:lnSpc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833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FB262-BE38-C1BD-E6F3-84F185B4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05" y="33792"/>
            <a:ext cx="12287655" cy="1325563"/>
          </a:xfrm>
        </p:spPr>
        <p:txBody>
          <a:bodyPr/>
          <a:lstStyle/>
          <a:p>
            <a:r>
              <a:rPr kumimoji="1" lang="ko-KR" altLang="en-US" b="1" dirty="0"/>
              <a:t>음성데이터 </a:t>
            </a:r>
            <a:r>
              <a:rPr kumimoji="1" lang="en-US" altLang="ko-KR" b="1" dirty="0"/>
              <a:t>-&gt;Log-mel</a:t>
            </a:r>
            <a:r>
              <a:rPr kumimoji="1" lang="ko-KR" altLang="en-US" b="1" dirty="0"/>
              <a:t> </a:t>
            </a:r>
            <a:r>
              <a:rPr kumimoji="1" lang="en-US" altLang="ko-KR" b="1" dirty="0" err="1"/>
              <a:t>spectogram</a:t>
            </a:r>
            <a:r>
              <a:rPr kumimoji="1" lang="ko-KR" altLang="en-US" b="1" dirty="0"/>
              <a:t> 변환결과 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7EF4268-317E-F65D-453B-23AB716CA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310" y="1468332"/>
            <a:ext cx="5207284" cy="22545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9CF081-7B50-4258-9C02-D64614625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09" y="3896756"/>
            <a:ext cx="5207285" cy="22545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24B3A02-3FD0-8E2D-E14F-DA4CEF5FA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734" y="1468332"/>
            <a:ext cx="5207285" cy="22545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A63D88-A41A-7A1D-B5DB-757AA89B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733" y="3896756"/>
            <a:ext cx="5207285" cy="22545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B2742B-9692-1230-C6B1-6212D23892E1}"/>
              </a:ext>
            </a:extLst>
          </p:cNvPr>
          <p:cNvSpPr txBox="1"/>
          <p:nvPr/>
        </p:nvSpPr>
        <p:spPr>
          <a:xfrm>
            <a:off x="1573254" y="6325180"/>
            <a:ext cx="32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&lt;TRUE </a:t>
            </a:r>
            <a:r>
              <a:rPr kumimoji="1" lang="ko-KR" altLang="en-US" dirty="0" err="1"/>
              <a:t>경보음</a:t>
            </a:r>
            <a:r>
              <a:rPr kumimoji="1" lang="ko-KR" altLang="en-US" dirty="0"/>
              <a:t> 변환결과 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75357-12D7-71F6-9A9F-74580ADC8DD6}"/>
              </a:ext>
            </a:extLst>
          </p:cNvPr>
          <p:cNvSpPr txBox="1"/>
          <p:nvPr/>
        </p:nvSpPr>
        <p:spPr>
          <a:xfrm>
            <a:off x="7320678" y="6260315"/>
            <a:ext cx="32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&lt;FALSE </a:t>
            </a:r>
            <a:r>
              <a:rPr kumimoji="1" lang="ko-KR" altLang="en-US" dirty="0"/>
              <a:t>일상소음 변환결과 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172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18B21-4FB2-06B8-ED04-74522198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성능 비교 및 결과요약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85DBC9-6F9E-C616-ED25-77893DEC5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pPr marL="0" indent="0">
              <a:buNone/>
            </a:pPr>
            <a:endParaRPr lang="ko-KR" altLang="en-US" b="1" dirty="0"/>
          </a:p>
          <a:p>
            <a:pPr marL="0" indent="0">
              <a:buNone/>
            </a:pPr>
            <a:endParaRPr kumimoji="1"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9CE967-4F06-444D-1D75-604E1EDBE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399601"/>
              </p:ext>
            </p:extLst>
          </p:nvPr>
        </p:nvGraphicFramePr>
        <p:xfrm>
          <a:off x="838200" y="1825625"/>
          <a:ext cx="10515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160215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50496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56105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3731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모델명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Test Acc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모델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22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MobileNetV2 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0.954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0.925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4.5MB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318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EfficientNet-Lite0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0.938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0.908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16MB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366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BiggerDepthwise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0.732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0.892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0.2MB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73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/>
                        <a:t>LightCNN</a:t>
                      </a:r>
                      <a:endParaRPr lang="e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0.754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0.783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0.1MB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01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2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B922-ED0E-EFAA-4894-D553BD42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최종사용 모델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4EB2C7-E206-7F37-7BD1-626AB85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b="1" dirty="0"/>
              <a:t>MobileNetV2 (0.5×)</a:t>
            </a:r>
            <a:endParaRPr lang="en" altLang="ko-KR" dirty="0"/>
          </a:p>
          <a:p>
            <a:r>
              <a:rPr lang="ko-KR" altLang="en-US" dirty="0"/>
              <a:t>모델 크기 </a:t>
            </a:r>
            <a:r>
              <a:rPr lang="en-US" altLang="ko-KR" dirty="0"/>
              <a:t>4.5</a:t>
            </a:r>
            <a:r>
              <a:rPr lang="en" altLang="ko-KR" dirty="0"/>
              <a:t>MB</a:t>
            </a:r>
            <a:r>
              <a:rPr lang="ko-KR" altLang="en-US" dirty="0"/>
              <a:t>로 </a:t>
            </a:r>
            <a:r>
              <a:rPr lang="ko-KR" altLang="en-US" dirty="0" err="1"/>
              <a:t>드론</a:t>
            </a:r>
            <a:r>
              <a:rPr lang="en-US" altLang="ko-KR" dirty="0"/>
              <a:t>/</a:t>
            </a:r>
            <a:r>
              <a:rPr lang="ko-KR" altLang="en-US" dirty="0" err="1"/>
              <a:t>엣지</a:t>
            </a:r>
            <a:r>
              <a:rPr lang="ko-KR" altLang="en-US" dirty="0"/>
              <a:t> 디바이스 환경에 적합</a:t>
            </a:r>
          </a:p>
          <a:p>
            <a:r>
              <a:rPr lang="en" altLang="ko-KR" dirty="0"/>
              <a:t>Test Accuracy 92.5%</a:t>
            </a:r>
            <a:r>
              <a:rPr lang="ko-KR" altLang="en-US" dirty="0"/>
              <a:t>로 높은 일반화 성능 확보</a:t>
            </a:r>
          </a:p>
          <a:p>
            <a:r>
              <a:rPr lang="ko-KR" altLang="en-US" dirty="0"/>
              <a:t>실시간 추론이 가능하며</a:t>
            </a:r>
            <a:r>
              <a:rPr lang="en-US" altLang="ko-KR" dirty="0"/>
              <a:t>, </a:t>
            </a:r>
            <a:r>
              <a:rPr lang="ko-KR" altLang="en-US" dirty="0"/>
              <a:t>추론 속도도 우수</a:t>
            </a:r>
          </a:p>
          <a:p>
            <a:r>
              <a:rPr lang="ko-KR" altLang="en-US" dirty="0"/>
              <a:t>비교 모델</a:t>
            </a:r>
            <a:r>
              <a:rPr lang="en-US" altLang="ko-KR" dirty="0"/>
              <a:t>(</a:t>
            </a:r>
            <a:r>
              <a:rPr lang="en" altLang="ko-KR" dirty="0" err="1"/>
              <a:t>EfficientNet</a:t>
            </a:r>
            <a:r>
              <a:rPr lang="en" altLang="ko-KR" dirty="0"/>
              <a:t>, BiggerDepthwise)</a:t>
            </a:r>
            <a:r>
              <a:rPr lang="ko-KR" altLang="en-US" dirty="0" err="1"/>
              <a:t>에</a:t>
            </a:r>
            <a:r>
              <a:rPr lang="ko-KR" altLang="en-US" dirty="0"/>
              <a:t> 비해 전체 시스템 통합성 고려 시 가장 현실적인 선택</a:t>
            </a:r>
            <a:endParaRPr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20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52DE4-A9DC-5D36-ABE4-C7313E85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66" y="355398"/>
            <a:ext cx="10515600" cy="1325563"/>
          </a:xfrm>
        </p:spPr>
        <p:txBody>
          <a:bodyPr/>
          <a:lstStyle/>
          <a:p>
            <a:r>
              <a:rPr lang="ko-KR" altLang="en-US" b="1" dirty="0"/>
              <a:t>📊 최종 모델의 테스트 결과 </a:t>
            </a:r>
            <a:r>
              <a:rPr lang="en-US" altLang="ko-KR" b="1" dirty="0"/>
              <a:t>– </a:t>
            </a:r>
            <a:r>
              <a:rPr lang="ko-KR" altLang="en-US" b="1" dirty="0"/>
              <a:t>혼동 행렬</a:t>
            </a:r>
            <a:endParaRPr kumimoji="1" lang="ko-KR" altLang="en-US" b="1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11D12F0-BFB1-F199-E66F-31F978317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966" y="1835352"/>
            <a:ext cx="5588034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476C08-0DAF-A278-0360-CDA372E3992F}"/>
              </a:ext>
            </a:extLst>
          </p:cNvPr>
          <p:cNvSpPr txBox="1"/>
          <p:nvPr/>
        </p:nvSpPr>
        <p:spPr>
          <a:xfrm>
            <a:off x="6096000" y="1835352"/>
            <a:ext cx="61068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MobileNetV2 </a:t>
            </a:r>
            <a:r>
              <a:rPr lang="ko-KR" altLang="en-US" dirty="0"/>
              <a:t>모델이 테스트 데이터셋에 대해 수행한 </a:t>
            </a:r>
            <a:endParaRPr lang="en-US" altLang="ko-KR" dirty="0"/>
          </a:p>
          <a:p>
            <a:r>
              <a:rPr lang="ko-KR" altLang="en-US" b="1" dirty="0"/>
              <a:t>이진 분류 결과의 혼동 행렬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총 </a:t>
            </a:r>
            <a:r>
              <a:rPr lang="en-US" altLang="ko-KR" dirty="0"/>
              <a:t>120</a:t>
            </a:r>
            <a:r>
              <a:rPr lang="ko-KR" altLang="en-US" dirty="0"/>
              <a:t>개의 샘플 중에서</a:t>
            </a:r>
            <a:r>
              <a:rPr lang="en-US" altLang="ko-KR" dirty="0"/>
              <a:t>:</a:t>
            </a:r>
          </a:p>
          <a:p>
            <a:pPr lvl="1"/>
            <a:r>
              <a:rPr lang="en" altLang="ko-KR" dirty="0"/>
              <a:t>True Positive (</a:t>
            </a:r>
            <a:r>
              <a:rPr lang="ko-KR" altLang="en-US" dirty="0"/>
              <a:t>정상적으로 재난음을 탐지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62</a:t>
            </a:r>
            <a:r>
              <a:rPr lang="ko-KR" altLang="en-US" dirty="0"/>
              <a:t>건</a:t>
            </a:r>
          </a:p>
          <a:p>
            <a:pPr lvl="1"/>
            <a:r>
              <a:rPr lang="en" altLang="ko-KR" dirty="0"/>
              <a:t>True Negative (</a:t>
            </a:r>
            <a:r>
              <a:rPr lang="ko-KR" altLang="en-US" dirty="0"/>
              <a:t>정상음을 정상으로 예측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48</a:t>
            </a:r>
            <a:r>
              <a:rPr lang="ko-KR" altLang="en-US" dirty="0"/>
              <a:t>건</a:t>
            </a:r>
          </a:p>
          <a:p>
            <a:pPr lvl="1"/>
            <a:r>
              <a:rPr lang="en" altLang="ko-KR" dirty="0"/>
              <a:t>False Positive (</a:t>
            </a:r>
            <a:r>
              <a:rPr lang="ko-KR" altLang="en-US" dirty="0"/>
              <a:t>정상음을 재난음으로 </a:t>
            </a:r>
            <a:r>
              <a:rPr lang="ko-KR" altLang="en-US" dirty="0" err="1"/>
              <a:t>오탐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7</a:t>
            </a:r>
            <a:r>
              <a:rPr lang="ko-KR" altLang="en-US" dirty="0"/>
              <a:t>건</a:t>
            </a:r>
          </a:p>
          <a:p>
            <a:pPr lvl="1"/>
            <a:r>
              <a:rPr lang="en" altLang="ko-KR" dirty="0"/>
              <a:t>False Negative (</a:t>
            </a:r>
            <a:r>
              <a:rPr lang="ko-KR" altLang="en-US" dirty="0"/>
              <a:t>재난음을 놓친 경우</a:t>
            </a:r>
            <a:r>
              <a:rPr lang="en-US" altLang="ko-KR" dirty="0"/>
              <a:t>)</a:t>
            </a:r>
            <a:r>
              <a:rPr lang="ko-KR" altLang="en-US" dirty="0"/>
              <a:t> → 단 </a:t>
            </a:r>
            <a:r>
              <a:rPr lang="en-US" altLang="ko-KR" dirty="0"/>
              <a:t>3</a:t>
            </a:r>
            <a:r>
              <a:rPr lang="ko-KR" altLang="en-US" dirty="0"/>
              <a:t>건</a:t>
            </a:r>
          </a:p>
          <a:p>
            <a:r>
              <a:rPr lang="ko-KR" altLang="en-US" dirty="0"/>
              <a:t>전체 </a:t>
            </a:r>
            <a:r>
              <a:rPr lang="ko-KR" altLang="en-US" b="1" dirty="0"/>
              <a:t>정확도는 약 </a:t>
            </a:r>
            <a:r>
              <a:rPr lang="en-US" altLang="ko-KR" b="1" dirty="0"/>
              <a:t>91.6%</a:t>
            </a:r>
            <a:r>
              <a:rPr lang="en-US" altLang="ko-KR" dirty="0"/>
              <a:t>, </a:t>
            </a:r>
            <a:r>
              <a:rPr lang="en" altLang="ko-KR" dirty="0"/>
              <a:t>positive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ko-KR" altLang="en-US" dirty="0" err="1"/>
              <a:t>재난음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" altLang="ko-KR" dirty="0"/>
              <a:t>recall</a:t>
            </a:r>
            <a:r>
              <a:rPr lang="ko-KR" altLang="en-US" dirty="0"/>
              <a:t>은 약 </a:t>
            </a:r>
            <a:r>
              <a:rPr lang="en-US" altLang="ko-KR" dirty="0"/>
              <a:t>95.4%</a:t>
            </a:r>
            <a:r>
              <a:rPr lang="ko-KR" altLang="en-US" dirty="0"/>
              <a:t>로 매우 우수함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재난음에 대한 누락</a:t>
            </a:r>
            <a:r>
              <a:rPr lang="en-US" altLang="ko-KR" dirty="0"/>
              <a:t>(</a:t>
            </a:r>
            <a:r>
              <a:rPr lang="en" altLang="ko-KR" dirty="0"/>
              <a:t>FN)</a:t>
            </a:r>
            <a:r>
              <a:rPr lang="ko-KR" altLang="en-US" dirty="0"/>
              <a:t>이 거의 없어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실제 적용 환경에서 안정성이 높다고 판단됨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459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9B9BF-6D02-3D26-4325-C7D2ED210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52" y="349589"/>
            <a:ext cx="11822348" cy="1325563"/>
          </a:xfrm>
        </p:spPr>
        <p:txBody>
          <a:bodyPr/>
          <a:lstStyle/>
          <a:p>
            <a:r>
              <a:rPr lang="ko-KR" altLang="en-US" b="1" dirty="0"/>
              <a:t>📉 학습 곡선 </a:t>
            </a:r>
            <a:r>
              <a:rPr lang="en-US" altLang="ko-KR" b="1" dirty="0"/>
              <a:t>– </a:t>
            </a:r>
            <a:r>
              <a:rPr lang="en" altLang="ko-KR" b="1" dirty="0"/>
              <a:t>Train / Validation Loss </a:t>
            </a:r>
            <a:r>
              <a:rPr lang="ko-KR" altLang="en-US" b="1" dirty="0"/>
              <a:t>변화</a:t>
            </a:r>
            <a:endParaRPr kumimoji="1" lang="ko-KR" altLang="en-US" b="1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3D67873-3431-16D5-8B6B-02FF5A849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47888"/>
            <a:ext cx="5602922" cy="3697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BD6191-823D-6109-2394-7FB280D4237C}"/>
              </a:ext>
            </a:extLst>
          </p:cNvPr>
          <p:cNvSpPr txBox="1"/>
          <p:nvPr/>
        </p:nvSpPr>
        <p:spPr>
          <a:xfrm>
            <a:off x="5602922" y="2274388"/>
            <a:ext cx="4838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훈련 손실</a:t>
            </a:r>
            <a:r>
              <a:rPr lang="en-US" altLang="ko-KR" dirty="0"/>
              <a:t>(</a:t>
            </a:r>
            <a:r>
              <a:rPr lang="en" altLang="ko-KR" dirty="0" err="1"/>
              <a:t>train_loss</a:t>
            </a:r>
            <a:r>
              <a:rPr lang="en" altLang="ko-KR" dirty="0"/>
              <a:t>)</a:t>
            </a:r>
            <a:r>
              <a:rPr lang="ko-KR" altLang="en-US" dirty="0"/>
              <a:t>과 검증 손실</a:t>
            </a:r>
            <a:r>
              <a:rPr lang="en-US" altLang="ko-KR" dirty="0"/>
              <a:t>(</a:t>
            </a:r>
            <a:r>
              <a:rPr lang="en" altLang="ko-KR" dirty="0" err="1"/>
              <a:t>val_loss</a:t>
            </a:r>
            <a:r>
              <a:rPr lang="en" altLang="ko-KR" dirty="0"/>
              <a:t>)</a:t>
            </a:r>
            <a:r>
              <a:rPr lang="ko-KR" altLang="en-US" dirty="0"/>
              <a:t>의 </a:t>
            </a:r>
            <a:endParaRPr lang="en-US" altLang="ko-KR" dirty="0"/>
          </a:p>
          <a:p>
            <a:r>
              <a:rPr lang="ko-KR" altLang="en-US" dirty="0" err="1"/>
              <a:t>에폭</a:t>
            </a:r>
            <a:r>
              <a:rPr lang="en-US" altLang="ko-KR" dirty="0"/>
              <a:t>(</a:t>
            </a:r>
            <a:r>
              <a:rPr lang="en" altLang="ko-KR" dirty="0"/>
              <a:t>epoch)</a:t>
            </a:r>
            <a:r>
              <a:rPr lang="ko-KR" altLang="en-US" dirty="0"/>
              <a:t>별 감소 추이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ADA63-4B52-6A43-CF86-54EB9A4715AC}"/>
              </a:ext>
            </a:extLst>
          </p:cNvPr>
          <p:cNvSpPr txBox="1"/>
          <p:nvPr/>
        </p:nvSpPr>
        <p:spPr>
          <a:xfrm>
            <a:off x="5602922" y="3047218"/>
            <a:ext cx="6892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훈련</a:t>
            </a:r>
            <a:r>
              <a:rPr lang="en-US" altLang="ko-KR" b="1" dirty="0"/>
              <a:t>/</a:t>
            </a:r>
            <a:r>
              <a:rPr lang="ko-KR" altLang="en-US" b="1" dirty="0"/>
              <a:t>검증 손실이 모두 안정적으로 감소</a:t>
            </a:r>
            <a:endParaRPr lang="en-US" altLang="ko-KR" b="1" dirty="0"/>
          </a:p>
          <a:p>
            <a:pPr>
              <a:buNone/>
            </a:pPr>
            <a:r>
              <a:rPr lang="en" altLang="ko-KR" b="1" dirty="0" err="1"/>
              <a:t>val_loss</a:t>
            </a:r>
            <a:r>
              <a:rPr lang="ko-KR" altLang="en-US" b="1" dirty="0"/>
              <a:t>는 꾸준히 낮은 수준을 유지</a:t>
            </a:r>
            <a:r>
              <a:rPr lang="ko-KR" altLang="en-US" dirty="0"/>
              <a:t>하며 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모델의 일반화 능력이 유지됨을 확인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불안정한 진동 없이 학습이 잘 되었음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997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1A390-F9EE-22F3-9F3B-2EF0C49B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58" y="92751"/>
            <a:ext cx="10515600" cy="1325563"/>
          </a:xfrm>
        </p:spPr>
        <p:txBody>
          <a:bodyPr/>
          <a:lstStyle/>
          <a:p>
            <a:r>
              <a:rPr kumimoji="1" lang="ko-KR" altLang="en-US" b="1" dirty="0"/>
              <a:t>데모영상 </a:t>
            </a:r>
          </a:p>
        </p:txBody>
      </p:sp>
      <p:pic>
        <p:nvPicPr>
          <p:cNvPr id="4" name="데모_0088232F-7447-4FF0-A01B-B59BCAA5E547.mp4">
            <a:hlinkClick r:id="" action="ppaction://media"/>
            <a:extLst>
              <a:ext uri="{FF2B5EF4-FFF2-40B4-BE49-F238E27FC236}">
                <a16:creationId xmlns:a16="http://schemas.microsoft.com/office/drawing/2014/main" id="{6FD2BFBD-192F-1D92-3634-8388DF4A4F7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3993" y="1193863"/>
            <a:ext cx="9084013" cy="5109642"/>
          </a:xfrm>
        </p:spPr>
      </p:pic>
    </p:spTree>
    <p:extLst>
      <p:ext uri="{BB962C8B-B14F-4D97-AF65-F5344CB8AC3E}">
        <p14:creationId xmlns:p14="http://schemas.microsoft.com/office/powerpoint/2010/main" val="3877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538</Words>
  <Application>Microsoft Macintosh PowerPoint</Application>
  <PresentationFormat>와이드스크린</PresentationFormat>
  <Paragraphs>91</Paragraphs>
  <Slides>12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딥러닝 기반 재난경보음 분류 </vt:lpstr>
      <vt:lpstr>개념 및 기술 개요  </vt:lpstr>
      <vt:lpstr>전체흐름</vt:lpstr>
      <vt:lpstr>실험 시스템 구성 및 방식</vt:lpstr>
      <vt:lpstr>실험 과정 및 하이퍼파라미터</vt:lpstr>
      <vt:lpstr>실험과정 및 하이퍼파라미터</vt:lpstr>
      <vt:lpstr>음성데이터 -&gt;Log-mel spectogram 변환결과 </vt:lpstr>
      <vt:lpstr>성능 비교 및 결과요약 </vt:lpstr>
      <vt:lpstr>최종사용 모델</vt:lpstr>
      <vt:lpstr>📊 최종 모델의 테스트 결과 – 혼동 행렬</vt:lpstr>
      <vt:lpstr>📉 학습 곡선 – Train / Validation Loss 변화</vt:lpstr>
      <vt:lpstr>데모영상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안유민</dc:creator>
  <cp:keywords/>
  <dc:description/>
  <cp:lastModifiedBy>안유민</cp:lastModifiedBy>
  <cp:revision>2</cp:revision>
  <dcterms:created xsi:type="dcterms:W3CDTF">2025-08-26T09:55:18Z</dcterms:created>
  <dcterms:modified xsi:type="dcterms:W3CDTF">2025-08-26T11:52:43Z</dcterms:modified>
  <cp:category/>
</cp:coreProperties>
</file>