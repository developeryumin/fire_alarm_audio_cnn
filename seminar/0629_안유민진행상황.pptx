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63" r:id="rId5"/>
    <p:sldId id="259" r:id="rId6"/>
    <p:sldId id="266" r:id="rId7"/>
    <p:sldId id="260" r:id="rId8"/>
    <p:sldId id="271" r:id="rId9"/>
    <p:sldId id="273" r:id="rId10"/>
    <p:sldId id="267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50"/>
    <p:restoredTop sz="94719"/>
  </p:normalViewPr>
  <p:slideViewPr>
    <p:cSldViewPr snapToGrid="0">
      <p:cViewPr varScale="1">
        <p:scale>
          <a:sx n="152" d="100"/>
          <a:sy n="152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6585C-0213-AC46-8861-2D4048191487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E2693-C332-8B4A-92BB-B6B9D35F7EF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70303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8E2693-C332-8B4A-92BB-B6B9D35F7EF7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45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DFA65-3A1D-4A32-AC51-DAC0495E9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42219D-DF0F-C88C-C7EE-D6BB67DE2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A9D3B2-CEF8-A758-71D0-2BDE7046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CE3777-461D-5424-C2E4-87EC481B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3B117-33F3-3DFB-0708-822EFE7E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549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623BE-9ED1-C47C-C333-D47B5E05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B819AB-65B2-6FEF-29BF-9B3695F53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4ED680-130C-B303-D03E-D592E565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50CAE-7078-EC29-26E9-04559ED8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3EC7A-6252-0521-4133-FA85CD359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895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552F-7785-196D-D0B0-E6B7AB97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39B2CE-DB90-F95E-5A46-EF130CCC1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327ACE-6800-EA2A-E1A8-EA95DEF9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11F8D5-46E2-60E8-2F08-1479D9D8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08B15-17A6-D98E-3867-E6E7A4C0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1918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4E257-5DAF-8B5C-8509-880BB8A6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858D84-E793-5ED0-5D1B-0FF058166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ABF0DF-27F1-00A1-780A-5CFA3CDFE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8B5BEB-499A-8358-C461-63D34D6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2348C-AE28-9041-17B8-0DDE20F8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60045C-703F-E0D1-3A71-590BE35A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194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8FA57-5978-E79F-08D9-F3A4CC888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AB435-70CA-3FBD-E11F-D1818AB8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583A8-2DA5-892C-FD67-635E24656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772B81-2A5C-92DC-E3EA-6E4227C01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B12472-21AC-38CB-C3C1-C5037625AC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187111-5BBF-E3F6-C415-5B336604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B00BA9-AD91-2126-4F4D-04609CE9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92F553-7C6A-3275-4228-98EC425B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5733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80EA6-0928-E8DB-4DBD-CE784EFE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B02BF7-2ED5-350E-FC2A-AF8B251C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C5AC7A-7D38-61C6-0E6F-3C8CB33F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47F92B-2EA7-45BC-2A9C-27E9F749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11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0082B2-CEFB-FAD9-FBA2-1D2EFAC0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1DEBE8-3B9A-FF11-5766-EA83D52F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EE939E-2F89-86AB-02E4-D2C48DE78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5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8DE221-65D8-36CC-7B01-92DF5F69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17619-8FAD-A3DB-7390-104914867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59F43B-99BD-4DAE-FA04-2C3F1FA22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D3A35D-EB8C-64A7-868C-D639F6B7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DA75F1-E580-76CC-2CC8-06EBDFF2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5F9BF6-F77A-B78B-F4D7-7CA7B0B7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737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2AEBD-F428-8A8E-ACAC-0B0CC1CF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76C435-5CED-BE89-A732-0B8F4025E7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342713-8C15-C64C-DC8B-2FE262747D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BD7A93-2629-FF00-A785-7759CD8F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7D3FB6-2F11-91F1-6AAC-3ADD1EA7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F45A0A-DD21-1305-A067-63AF3C8C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70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F7E92-13C8-5024-BC84-97DC758B1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1C6A5F-6871-4FDC-30FE-BE6CDB4E8A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9F0E32-FAA3-20AD-C840-1FDEA6B5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8A5CE8-7AAF-0CF3-DFA5-C7C4F5A9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B0996-D8F1-075C-A577-0373D68C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05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C6CBF8-CB05-FCA6-0691-9531169815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488CDF-E4E2-06D4-CAAC-2D0CC93A1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C649C3-DA1B-C143-4075-07CFE79D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002A8A-65F9-E75D-3A44-BB8B6D0C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7B7A7-DF79-3901-B946-7C5ACE29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0467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61447A-55FF-EB16-6865-3E6BE670A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4E2414-EEE9-66D5-2B84-5E794734A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56758D-1189-A625-18F4-6A7BBD3BD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E299F3-5466-354D-84EB-794A8889B606}" type="datetimeFigureOut">
              <a:rPr kumimoji="1" lang="ko-KR" altLang="en-US" smtClean="0"/>
              <a:t>2025. 6. 29.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D25A80-433B-D27A-2A57-CF8256D89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C44D1-E87A-BA91-1D89-342C692B2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C57B1C-14D8-B645-A14E-83CC08F5194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433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wav"/><Relationship Id="rId13" Type="http://schemas.microsoft.com/office/2007/relationships/media" Target="../media/media7.wav"/><Relationship Id="rId18" Type="http://schemas.openxmlformats.org/officeDocument/2006/relationships/image" Target="../media/image1.png"/><Relationship Id="rId3" Type="http://schemas.microsoft.com/office/2007/relationships/media" Target="../media/media2.wav"/><Relationship Id="rId7" Type="http://schemas.microsoft.com/office/2007/relationships/media" Target="../media/media4.wav"/><Relationship Id="rId12" Type="http://schemas.openxmlformats.org/officeDocument/2006/relationships/audio" Target="../media/media6.wav"/><Relationship Id="rId17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6" Type="http://schemas.openxmlformats.org/officeDocument/2006/relationships/audio" Target="../media/media8.wav"/><Relationship Id="rId1" Type="http://schemas.microsoft.com/office/2007/relationships/media" Target="../media/media1.wav"/><Relationship Id="rId6" Type="http://schemas.openxmlformats.org/officeDocument/2006/relationships/audio" Target="../media/media3.wav"/><Relationship Id="rId11" Type="http://schemas.microsoft.com/office/2007/relationships/media" Target="../media/media6.wav"/><Relationship Id="rId5" Type="http://schemas.microsoft.com/office/2007/relationships/media" Target="../media/media3.wav"/><Relationship Id="rId15" Type="http://schemas.microsoft.com/office/2007/relationships/media" Target="../media/media8.wav"/><Relationship Id="rId10" Type="http://schemas.openxmlformats.org/officeDocument/2006/relationships/audio" Target="../media/media5.wav"/><Relationship Id="rId4" Type="http://schemas.openxmlformats.org/officeDocument/2006/relationships/audio" Target="../media/media2.wav"/><Relationship Id="rId9" Type="http://schemas.microsoft.com/office/2007/relationships/media" Target="../media/media5.wav"/><Relationship Id="rId14" Type="http://schemas.openxmlformats.org/officeDocument/2006/relationships/audio" Target="../media/media7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B27DD9-B31C-CD67-FC4D-D3A29FCFE7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재난경보음 알고리즘 </a:t>
            </a:r>
            <a:br>
              <a:rPr kumimoji="1" lang="en-US" altLang="ko-KR" dirty="0"/>
            </a:br>
            <a:r>
              <a:rPr kumimoji="1" lang="ko-KR" altLang="en-US" dirty="0"/>
              <a:t>진행상황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4B6D13-D411-C6A9-FA25-76B59CA42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AI</a:t>
            </a:r>
            <a:r>
              <a:rPr kumimoji="1" lang="ko-KR" altLang="en-US" dirty="0"/>
              <a:t>정보공학과 안유민 </a:t>
            </a:r>
          </a:p>
        </p:txBody>
      </p:sp>
    </p:spTree>
    <p:extLst>
      <p:ext uri="{BB962C8B-B14F-4D97-AF65-F5344CB8AC3E}">
        <p14:creationId xmlns:p14="http://schemas.microsoft.com/office/powerpoint/2010/main" val="414752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FB108-88B4-BF09-C66C-63A62EF5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수집한 데이터셋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412FFFF-16EE-64B8-8A2C-4E15F09AF7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85741"/>
              </p:ext>
            </p:extLst>
          </p:nvPr>
        </p:nvGraphicFramePr>
        <p:xfrm>
          <a:off x="370703" y="1767209"/>
          <a:ext cx="11627706" cy="4907594"/>
        </p:xfrm>
        <a:graphic>
          <a:graphicData uri="http://schemas.openxmlformats.org/drawingml/2006/table">
            <a:tbl>
              <a:tblPr/>
              <a:tblGrid>
                <a:gridCol w="1937951">
                  <a:extLst>
                    <a:ext uri="{9D8B030D-6E8A-4147-A177-3AD203B41FA5}">
                      <a16:colId xmlns:a16="http://schemas.microsoft.com/office/drawing/2014/main" val="4216967181"/>
                    </a:ext>
                  </a:extLst>
                </a:gridCol>
                <a:gridCol w="1937951">
                  <a:extLst>
                    <a:ext uri="{9D8B030D-6E8A-4147-A177-3AD203B41FA5}">
                      <a16:colId xmlns:a16="http://schemas.microsoft.com/office/drawing/2014/main" val="2660435078"/>
                    </a:ext>
                  </a:extLst>
                </a:gridCol>
                <a:gridCol w="728067">
                  <a:extLst>
                    <a:ext uri="{9D8B030D-6E8A-4147-A177-3AD203B41FA5}">
                      <a16:colId xmlns:a16="http://schemas.microsoft.com/office/drawing/2014/main" val="3776810691"/>
                    </a:ext>
                  </a:extLst>
                </a:gridCol>
                <a:gridCol w="4093827">
                  <a:extLst>
                    <a:ext uri="{9D8B030D-6E8A-4147-A177-3AD203B41FA5}">
                      <a16:colId xmlns:a16="http://schemas.microsoft.com/office/drawing/2014/main" val="2868210158"/>
                    </a:ext>
                  </a:extLst>
                </a:gridCol>
                <a:gridCol w="1333850">
                  <a:extLst>
                    <a:ext uri="{9D8B030D-6E8A-4147-A177-3AD203B41FA5}">
                      <a16:colId xmlns:a16="http://schemas.microsoft.com/office/drawing/2014/main" val="890368757"/>
                    </a:ext>
                  </a:extLst>
                </a:gridCol>
                <a:gridCol w="1596060">
                  <a:extLst>
                    <a:ext uri="{9D8B030D-6E8A-4147-A177-3AD203B41FA5}">
                      <a16:colId xmlns:a16="http://schemas.microsoft.com/office/drawing/2014/main" val="3575928628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클래스명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MID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수량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수집이유 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수집여부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 dirty="0"/>
                        <a:t>검증여부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86910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화재경보음 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710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Positive class 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269412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Speech (</a:t>
                      </a:r>
                      <a:r>
                        <a:rPr lang="ko-KR" altLang="en-US" sz="1300" dirty="0"/>
                        <a:t>사람 말소리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/m/09x0r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150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실내에서 가장 흔하고 다양한 상황 존재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77128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Walk, footsteps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/m/07pbtc8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120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비상 상황 아닌 평상시 활동 소음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53721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Door (</a:t>
                      </a:r>
                      <a:r>
                        <a:rPr lang="ko-KR" altLang="en-US" sz="1300" dirty="0"/>
                        <a:t>문 여닫기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300" dirty="0"/>
                        <a:t>/m/02dgv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100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실제로 경보음처럼 쿵쾅 울릴 수 있음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513926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Keyboard typing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/m/01m2v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70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비교적 조용한 실내 배경소음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04495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Knock (</a:t>
                      </a:r>
                      <a:r>
                        <a:rPr lang="ko-KR" altLang="en-US" sz="1300" dirty="0"/>
                        <a:t>두드림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/m/07r4wb8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60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반복적이면서 경보음처럼 들릴 가능성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17562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 dirty="0"/>
                        <a:t>Alarm clock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/m/046dlr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55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비슷한 반복 패턴 → 혼동 가능성 ↑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723134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Buzzer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/m/030rvx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55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고주파 경보음과 유사한 음색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56505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r>
                        <a:rPr lang="en" sz="1300"/>
                        <a:t>Printer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/m/01m4t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40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기계음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 err="1"/>
                        <a:t>반복음</a:t>
                      </a:r>
                      <a:r>
                        <a:rPr lang="ko-KR" altLang="en-US" sz="1300" dirty="0"/>
                        <a:t> 존재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r>
                        <a:rPr lang="ko-KR" altLang="en-US" sz="1300" dirty="0"/>
                        <a:t> 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861285"/>
                  </a:ext>
                </a:extLst>
              </a:tr>
              <a:tr h="351986">
                <a:tc>
                  <a:txBody>
                    <a:bodyPr/>
                    <a:lstStyle/>
                    <a:p>
                      <a:r>
                        <a:rPr lang="en" sz="1300"/>
                        <a:t>Telephone bell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/m/07pp8cl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알람형 반복 소리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ko-KR" altLang="en-US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ㅇ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71369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r>
                        <a:rPr lang="en" sz="1300"/>
                        <a:t>Air conditioner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ko-KR" sz="13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/m/025wky1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30</a:t>
                      </a:r>
                      <a:r>
                        <a:rPr lang="ko-KR" altLang="en-US" sz="1300" dirty="0"/>
                        <a:t>개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장시간 일정한 백색소음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소음 간섭 확인용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 err="1"/>
                        <a:t>ㅇ</a:t>
                      </a:r>
                      <a:endParaRPr lang="en-US" altLang="ko-KR" sz="1300" dirty="0"/>
                    </a:p>
                  </a:txBody>
                  <a:tcPr marL="63990" marR="63990" marT="31995" marB="3199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069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753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451D5-83C8-3AA5-C858-1943020F7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데이터셋 구성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6FFAA-32CC-DD2F-22AB-45E340D30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Positive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Negative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  <p:pic>
        <p:nvPicPr>
          <p:cNvPr id="4" name="-9aXOM95S0k_30.000_40.000">
            <a:hlinkClick r:id="" action="ppaction://media"/>
            <a:extLst>
              <a:ext uri="{FF2B5EF4-FFF2-40B4-BE49-F238E27FC236}">
                <a16:creationId xmlns:a16="http://schemas.microsoft.com/office/drawing/2014/main" id="{C126570A-9FDA-7FD3-C860-D4610DD13A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256177" y="3898728"/>
            <a:ext cx="1340538" cy="1340538"/>
          </a:xfrm>
          <a:prstGeom prst="rect">
            <a:avLst/>
          </a:prstGeom>
        </p:spPr>
      </p:pic>
      <p:pic>
        <p:nvPicPr>
          <p:cNvPr id="5" name="--3IH5T6S0E_30.000_40.000">
            <a:hlinkClick r:id="" action="ppaction://media"/>
            <a:extLst>
              <a:ext uri="{FF2B5EF4-FFF2-40B4-BE49-F238E27FC236}">
                <a16:creationId xmlns:a16="http://schemas.microsoft.com/office/drawing/2014/main" id="{61DFF2D9-E27D-E53A-CFFF-FB5BA06DC21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283200" y="4001294"/>
            <a:ext cx="1179384" cy="1179384"/>
          </a:xfrm>
          <a:prstGeom prst="rect">
            <a:avLst/>
          </a:prstGeom>
        </p:spPr>
      </p:pic>
      <p:pic>
        <p:nvPicPr>
          <p:cNvPr id="6" name="--4CM0LIKBA_30.000_40.000">
            <a:hlinkClick r:id="" action="ppaction://media"/>
            <a:extLst>
              <a:ext uri="{FF2B5EF4-FFF2-40B4-BE49-F238E27FC236}">
                <a16:creationId xmlns:a16="http://schemas.microsoft.com/office/drawing/2014/main" id="{19604D59-223B-160F-EAB9-352B0D54547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324725" y="4001294"/>
            <a:ext cx="1340538" cy="1340538"/>
          </a:xfrm>
          <a:prstGeom prst="rect">
            <a:avLst/>
          </a:prstGeom>
        </p:spPr>
      </p:pic>
      <p:pic>
        <p:nvPicPr>
          <p:cNvPr id="7" name="BRnPYH9WHSM_30.000_40.000">
            <a:hlinkClick r:id="" action="ppaction://media"/>
            <a:extLst>
              <a:ext uri="{FF2B5EF4-FFF2-40B4-BE49-F238E27FC236}">
                <a16:creationId xmlns:a16="http://schemas.microsoft.com/office/drawing/2014/main" id="{154EDA20-5CE4-D5C4-C2B5-5C8839EABCBA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113645" y="2146471"/>
            <a:ext cx="1340537" cy="1340537"/>
          </a:xfrm>
          <a:prstGeom prst="rect">
            <a:avLst/>
          </a:prstGeom>
        </p:spPr>
      </p:pic>
      <p:pic>
        <p:nvPicPr>
          <p:cNvPr id="8" name="CNZjv4gN_KQ_0.000_10.000">
            <a:hlinkClick r:id="" action="ppaction://media"/>
            <a:extLst>
              <a:ext uri="{FF2B5EF4-FFF2-40B4-BE49-F238E27FC236}">
                <a16:creationId xmlns:a16="http://schemas.microsoft.com/office/drawing/2014/main" id="{2AB06239-5140-D87D-9A1D-70061380F92D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078038" y="2202615"/>
            <a:ext cx="1179383" cy="1179383"/>
          </a:xfrm>
          <a:prstGeom prst="rect">
            <a:avLst/>
          </a:prstGeom>
        </p:spPr>
      </p:pic>
      <p:pic>
        <p:nvPicPr>
          <p:cNvPr id="9" name="eLpoiPXQe1Q_0.000_10.000">
            <a:hlinkClick r:id="" action="ppaction://media"/>
            <a:extLst>
              <a:ext uri="{FF2B5EF4-FFF2-40B4-BE49-F238E27FC236}">
                <a16:creationId xmlns:a16="http://schemas.microsoft.com/office/drawing/2014/main" id="{8B9B4B0D-E967-0C23-0173-109472F4B036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089833" y="2233203"/>
            <a:ext cx="1050585" cy="1050585"/>
          </a:xfrm>
          <a:prstGeom prst="rect">
            <a:avLst/>
          </a:prstGeom>
        </p:spPr>
      </p:pic>
      <p:pic>
        <p:nvPicPr>
          <p:cNvPr id="10" name="-Gz3fJ1ZDCQ_0.000_10.000">
            <a:hlinkClick r:id="" action="ppaction://media"/>
            <a:extLst>
              <a:ext uri="{FF2B5EF4-FFF2-40B4-BE49-F238E27FC236}">
                <a16:creationId xmlns:a16="http://schemas.microsoft.com/office/drawing/2014/main" id="{AA7CE031-16CD-A7FD-3AE7-E6D858887DA9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9527404" y="3928204"/>
            <a:ext cx="1325564" cy="1325564"/>
          </a:xfrm>
          <a:prstGeom prst="rect">
            <a:avLst/>
          </a:prstGeom>
        </p:spPr>
      </p:pic>
      <p:pic>
        <p:nvPicPr>
          <p:cNvPr id="11" name="AurNAIrk33A_0.000_10.000">
            <a:hlinkClick r:id="" action="ppaction://media"/>
            <a:extLst>
              <a:ext uri="{FF2B5EF4-FFF2-40B4-BE49-F238E27FC236}">
                <a16:creationId xmlns:a16="http://schemas.microsoft.com/office/drawing/2014/main" id="{EAF1851D-E6FD-20A4-DDDC-38BD0EBB7494}"/>
              </a:ext>
            </a:extLst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268663" y="5233688"/>
            <a:ext cx="1340538" cy="13405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F907B0D-1750-AB67-D7F9-D018A4C472C4}"/>
              </a:ext>
            </a:extLst>
          </p:cNvPr>
          <p:cNvSpPr txBox="1"/>
          <p:nvPr/>
        </p:nvSpPr>
        <p:spPr>
          <a:xfrm>
            <a:off x="3406573" y="5004871"/>
            <a:ext cx="137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웃는소리</a:t>
            </a:r>
            <a:r>
              <a:rPr kumimoji="1" lang="ko-KR" altLang="en-US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270CE8-85F5-5D21-E437-CA305628D9FE}"/>
              </a:ext>
            </a:extLst>
          </p:cNvPr>
          <p:cNvSpPr txBox="1"/>
          <p:nvPr/>
        </p:nvSpPr>
        <p:spPr>
          <a:xfrm>
            <a:off x="5019315" y="5041883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잡다한 실내소음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5EA45-D9B7-DB64-979E-E67FFE6A00B0}"/>
              </a:ext>
            </a:extLst>
          </p:cNvPr>
          <p:cNvSpPr txBox="1"/>
          <p:nvPr/>
        </p:nvSpPr>
        <p:spPr>
          <a:xfrm>
            <a:off x="7787145" y="506910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대화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6E243-8668-6876-96CF-587C7ADCAFDF}"/>
              </a:ext>
            </a:extLst>
          </p:cNvPr>
          <p:cNvSpPr txBox="1"/>
          <p:nvPr/>
        </p:nvSpPr>
        <p:spPr>
          <a:xfrm>
            <a:off x="9744407" y="506910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키보드타이핑</a:t>
            </a:r>
            <a:r>
              <a:rPr kumimoji="1" lang="ko-KR" altLang="en-US" dirty="0"/>
              <a:t>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28104-236B-6E40-11AC-7625D0803333}"/>
              </a:ext>
            </a:extLst>
          </p:cNvPr>
          <p:cNvSpPr txBox="1"/>
          <p:nvPr/>
        </p:nvSpPr>
        <p:spPr>
          <a:xfrm>
            <a:off x="3457550" y="6330972"/>
            <a:ext cx="2132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노크소리 </a:t>
            </a:r>
          </a:p>
        </p:txBody>
      </p:sp>
    </p:spTree>
    <p:extLst>
      <p:ext uri="{BB962C8B-B14F-4D97-AF65-F5344CB8AC3E}">
        <p14:creationId xmlns:p14="http://schemas.microsoft.com/office/powerpoint/2010/main" val="115308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0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0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999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5BAF6C-A6A5-61C1-F41A-0544FF3D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Mfcc</a:t>
            </a:r>
            <a:r>
              <a:rPr kumimoji="1" lang="ko-KR" altLang="en-US" dirty="0"/>
              <a:t> </a:t>
            </a:r>
            <a:r>
              <a:rPr kumimoji="1" lang="en-US" altLang="ko-KR" dirty="0"/>
              <a:t>vs</a:t>
            </a:r>
            <a:r>
              <a:rPr kumimoji="1" lang="ko-KR" altLang="en-US" dirty="0"/>
              <a:t> </a:t>
            </a:r>
            <a:r>
              <a:rPr kumimoji="1" lang="en-US" altLang="ko-KR" dirty="0"/>
              <a:t>log-mel spectrogram </a:t>
            </a:r>
            <a:endParaRPr kumimoji="1"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7BA22B2-1286-D1E5-1D82-0AABF93C4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2727756"/>
              </p:ext>
            </p:extLst>
          </p:nvPr>
        </p:nvGraphicFramePr>
        <p:xfrm>
          <a:off x="838200" y="1943894"/>
          <a:ext cx="10515600" cy="1920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525902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0479148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08932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387258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18946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방법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장점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단점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 사례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966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MFCC</a:t>
                      </a:r>
                      <a:endParaRPr lang="en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사람 귀의 주파수 민감도 반영한 벡터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경량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빠름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정보 손실 있음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저사양 기기</a:t>
                      </a:r>
                      <a:r>
                        <a:rPr lang="en-US" altLang="ko-KR"/>
                        <a:t>, </a:t>
                      </a:r>
                      <a:r>
                        <a:rPr lang="en"/>
                        <a:t>Jetson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890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b="1"/>
                        <a:t>Log-Mel Spectrogram</a:t>
                      </a:r>
                      <a:endParaRPr lang="en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주파수를 이미지처럼 표현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정보 보존 우수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연산량 많음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dirty="0"/>
                        <a:t>CNN </a:t>
                      </a:r>
                      <a:r>
                        <a:rPr lang="ko-KR" altLang="en-US" dirty="0"/>
                        <a:t>학습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5098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E3F081-BB55-D108-34D1-8D701859B9CF}"/>
              </a:ext>
            </a:extLst>
          </p:cNvPr>
          <p:cNvSpPr txBox="1"/>
          <p:nvPr/>
        </p:nvSpPr>
        <p:spPr>
          <a:xfrm>
            <a:off x="2319555" y="4626015"/>
            <a:ext cx="103897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-US" altLang="ko-KR" dirty="0" err="1"/>
              <a:t>Mfcc</a:t>
            </a:r>
            <a:r>
              <a:rPr kumimoji="1" lang="ko-KR" altLang="en-US" dirty="0"/>
              <a:t>추출에서 정보량을 많이 잃어버려 모델성능에 한계가 있었음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-&gt;</a:t>
            </a:r>
            <a:r>
              <a:rPr kumimoji="1" lang="ko-KR" altLang="en-US" dirty="0"/>
              <a:t> 최근 연구사례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Log-mel</a:t>
            </a:r>
            <a:r>
              <a:rPr kumimoji="1" lang="ko-KR" altLang="en-US" dirty="0"/>
              <a:t>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ko-KR" altLang="en-US" dirty="0">
                <a:solidFill>
                  <a:srgbClr val="FF0000"/>
                </a:solidFill>
              </a:rPr>
              <a:t>경량화 </a:t>
            </a:r>
            <a:r>
              <a:rPr kumimoji="1" lang="en-US" altLang="ko-KR" dirty="0" err="1">
                <a:solidFill>
                  <a:srgbClr val="FF0000"/>
                </a:solidFill>
              </a:rPr>
              <a:t>cnn</a:t>
            </a:r>
            <a:r>
              <a:rPr kumimoji="1" lang="en-US" altLang="ko-KR" dirty="0">
                <a:solidFill>
                  <a:srgbClr val="FF0000"/>
                </a:solidFill>
              </a:rPr>
              <a:t> </a:t>
            </a:r>
            <a:r>
              <a:rPr kumimoji="1" lang="ko-KR" altLang="en-US" dirty="0"/>
              <a:t>사용 </a:t>
            </a:r>
            <a:r>
              <a:rPr kumimoji="1" lang="ko-KR" altLang="en-US" dirty="0" err="1"/>
              <a:t>많이하여</a:t>
            </a:r>
            <a:r>
              <a:rPr kumimoji="1" lang="ko-KR" altLang="en-US" dirty="0"/>
              <a:t> 참고함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                                    </a:t>
            </a:r>
            <a:r>
              <a:rPr kumimoji="1" lang="en-US" altLang="ko-KR" dirty="0"/>
              <a:t>(</a:t>
            </a:r>
            <a:r>
              <a:rPr kumimoji="1" lang="ko-KR" altLang="en-US" dirty="0" err="1"/>
              <a:t>잿슨나노탑재</a:t>
            </a:r>
            <a:r>
              <a:rPr kumimoji="1" lang="ko-KR" altLang="en-US" dirty="0"/>
              <a:t> 고려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422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2AD82-1B2A-1E28-40DF-8A5AB773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log-mel spectrogram </a:t>
            </a:r>
            <a:r>
              <a:rPr kumimoji="1" lang="ko-KR" altLang="en-US" dirty="0"/>
              <a:t>학습 방법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A5A53-B5B9-1ECF-73B9-F6A83B21B047}"/>
              </a:ext>
            </a:extLst>
          </p:cNvPr>
          <p:cNvSpPr txBox="1"/>
          <p:nvPr/>
        </p:nvSpPr>
        <p:spPr>
          <a:xfrm>
            <a:off x="3046971" y="2437309"/>
            <a:ext cx="60980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/>
              <a:t>.</a:t>
            </a:r>
            <a:r>
              <a:rPr lang="ko-KR" altLang="en-US" sz="2000" b="1" dirty="0" err="1"/>
              <a:t>wav</a:t>
            </a:r>
            <a:endParaRPr lang="ko-KR" altLang="en-US" sz="2000" b="1" dirty="0"/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 err="1"/>
              <a:t>Log-Mel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Spectrogram</a:t>
            </a:r>
            <a:r>
              <a:rPr lang="ko-KR" altLang="en-US" sz="2000" b="1" dirty="0"/>
              <a:t> (64 </a:t>
            </a:r>
            <a:r>
              <a:rPr lang="ko-KR" altLang="en-US" sz="2000" b="1" dirty="0" err="1"/>
              <a:t>bands</a:t>
            </a:r>
            <a:r>
              <a:rPr lang="ko-KR" altLang="en-US" sz="2000" b="1" dirty="0"/>
              <a:t>)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/>
              <a:t>(64, </a:t>
            </a:r>
            <a:r>
              <a:rPr lang="ko-KR" altLang="en-US" sz="2000" b="1" dirty="0" err="1"/>
              <a:t>T</a:t>
            </a:r>
            <a:r>
              <a:rPr lang="ko-KR" altLang="en-US" sz="2000" b="1" dirty="0"/>
              <a:t>) 이미지로 변환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/>
              <a:t>CNN 모델 (2D </a:t>
            </a:r>
            <a:r>
              <a:rPr lang="ko-KR" altLang="en-US" sz="2000" b="1" dirty="0" err="1"/>
              <a:t>Conv</a:t>
            </a:r>
            <a:r>
              <a:rPr lang="ko-KR" altLang="en-US" sz="2000" b="1" dirty="0"/>
              <a:t> 기반, 간단한 VGG 구조)</a:t>
            </a:r>
          </a:p>
          <a:p>
            <a:pPr algn="ctr"/>
            <a:r>
              <a:rPr lang="ko-KR" altLang="en-US" sz="2000" b="1" dirty="0"/>
              <a:t>  ↓</a:t>
            </a:r>
          </a:p>
          <a:p>
            <a:pPr algn="ctr"/>
            <a:r>
              <a:rPr lang="ko-KR" altLang="en-US" sz="2000" b="1" dirty="0" err="1"/>
              <a:t>Softmax</a:t>
            </a:r>
            <a:r>
              <a:rPr lang="ko-KR" altLang="en-US" sz="2000" b="1" dirty="0"/>
              <a:t> → </a:t>
            </a:r>
            <a:r>
              <a:rPr lang="ko-KR" altLang="en-US" sz="2000" b="1" dirty="0" err="1"/>
              <a:t>fire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alarm</a:t>
            </a:r>
            <a:r>
              <a:rPr lang="ko-KR" altLang="en-US" sz="2000" b="1" dirty="0"/>
              <a:t> </a:t>
            </a:r>
            <a:r>
              <a:rPr lang="ko-KR" altLang="en-US" sz="2000" b="1" dirty="0" err="1"/>
              <a:t>vs</a:t>
            </a:r>
            <a:r>
              <a:rPr lang="ko-KR" altLang="en-US" sz="2000" b="1" dirty="0"/>
              <a:t> 일반 소음</a:t>
            </a:r>
          </a:p>
        </p:txBody>
      </p:sp>
    </p:spTree>
    <p:extLst>
      <p:ext uri="{BB962C8B-B14F-4D97-AF65-F5344CB8AC3E}">
        <p14:creationId xmlns:p14="http://schemas.microsoft.com/office/powerpoint/2010/main" val="421849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789F9E44-4089-83E1-E6D9-1FCE91989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75" t="1967" b="46380"/>
          <a:stretch>
            <a:fillRect/>
          </a:stretch>
        </p:blipFill>
        <p:spPr>
          <a:xfrm>
            <a:off x="91759" y="126301"/>
            <a:ext cx="7867839" cy="1719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044710-19D6-073E-BC7A-F85C79640114}"/>
              </a:ext>
            </a:extLst>
          </p:cNvPr>
          <p:cNvSpPr txBox="1"/>
          <p:nvPr/>
        </p:nvSpPr>
        <p:spPr>
          <a:xfrm>
            <a:off x="8341519" y="1828800"/>
            <a:ext cx="48364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주기적으로</a:t>
            </a:r>
            <a:r>
              <a:rPr lang="ko-KR" altLang="en-US" dirty="0"/>
              <a:t> 반복되는 </a:t>
            </a:r>
            <a:r>
              <a:rPr lang="ko-KR" altLang="en-US" dirty="0" err="1"/>
              <a:t>고음역</a:t>
            </a:r>
            <a:r>
              <a:rPr lang="ko-KR" altLang="en-US" dirty="0"/>
              <a:t> 신호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60DEE8F-41E5-8424-D4CC-F7886B35E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2674"/>
              </p:ext>
            </p:extLst>
          </p:nvPr>
        </p:nvGraphicFramePr>
        <p:xfrm>
          <a:off x="8422547" y="4249049"/>
          <a:ext cx="4896911" cy="640080"/>
        </p:xfrm>
        <a:graphic>
          <a:graphicData uri="http://schemas.openxmlformats.org/drawingml/2006/table">
            <a:tbl>
              <a:tblPr/>
              <a:tblGrid>
                <a:gridCol w="4896911">
                  <a:extLst>
                    <a:ext uri="{9D8B030D-6E8A-4147-A177-3AD203B41FA5}">
                      <a16:colId xmlns:a16="http://schemas.microsoft.com/office/drawing/2014/main" val="3282591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b="0" dirty="0"/>
                        <a:t>한쪽 영역에만 에너지 집중된 </a:t>
                      </a:r>
                      <a:endParaRPr lang="en-US" altLang="ko-KR" b="0" dirty="0"/>
                    </a:p>
                    <a:p>
                      <a:r>
                        <a:rPr lang="ko-KR" altLang="en-US" b="0" dirty="0"/>
                        <a:t>불규칙한 소음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50223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5D0FCA0-ADA1-62AD-489A-4EDE35610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453239"/>
              </p:ext>
            </p:extLst>
          </p:nvPr>
        </p:nvGraphicFramePr>
        <p:xfrm>
          <a:off x="4822855" y="5385816"/>
          <a:ext cx="7187908" cy="914400"/>
        </p:xfrm>
        <a:graphic>
          <a:graphicData uri="http://schemas.openxmlformats.org/drawingml/2006/table">
            <a:tbl>
              <a:tblPr/>
              <a:tblGrid>
                <a:gridCol w="3593954">
                  <a:extLst>
                    <a:ext uri="{9D8B030D-6E8A-4147-A177-3AD203B41FA5}">
                      <a16:colId xmlns:a16="http://schemas.microsoft.com/office/drawing/2014/main" val="2681903484"/>
                    </a:ext>
                  </a:extLst>
                </a:gridCol>
                <a:gridCol w="3593954">
                  <a:extLst>
                    <a:ext uri="{9D8B030D-6E8A-4147-A177-3AD203B41FA5}">
                      <a16:colId xmlns:a16="http://schemas.microsoft.com/office/drawing/2014/main" val="2588295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다양한 주파수에서 </a:t>
                      </a:r>
                      <a:endParaRPr lang="en-US" altLang="ko-KR" dirty="0"/>
                    </a:p>
                    <a:p>
                      <a:r>
                        <a:rPr lang="ko-KR" altLang="en-US" b="1" dirty="0" err="1"/>
                        <a:t>비주기적인</a:t>
                      </a:r>
                      <a:r>
                        <a:rPr lang="ko-KR" altLang="en-US" b="1" dirty="0"/>
                        <a:t> 패턴</a:t>
                      </a:r>
                      <a:r>
                        <a:rPr lang="en-US" altLang="ko-KR" dirty="0"/>
                        <a:t>, </a:t>
                      </a:r>
                    </a:p>
                    <a:p>
                      <a:r>
                        <a:rPr lang="ko-KR" altLang="en-US" dirty="0"/>
                        <a:t>일반 소리로 보기 적절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121119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C74EFA60-09E8-F1E9-25DD-E10721D6C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" t="52742" r="49457"/>
          <a:stretch>
            <a:fillRect/>
          </a:stretch>
        </p:blipFill>
        <p:spPr>
          <a:xfrm>
            <a:off x="181237" y="5193792"/>
            <a:ext cx="3970139" cy="16642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1113A5B-2DAB-C16E-5BCB-54F3FC11CA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14" t="53303"/>
          <a:stretch>
            <a:fillRect/>
          </a:stretch>
        </p:blipFill>
        <p:spPr>
          <a:xfrm>
            <a:off x="4203192" y="5172209"/>
            <a:ext cx="3859529" cy="1644467"/>
          </a:xfrm>
          <a:prstGeom prst="rect">
            <a:avLst/>
          </a:prstGeom>
        </p:spPr>
      </p:pic>
      <p:pic>
        <p:nvPicPr>
          <p:cNvPr id="13" name="내용 개체 틀 3">
            <a:extLst>
              <a:ext uri="{FF2B5EF4-FFF2-40B4-BE49-F238E27FC236}">
                <a16:creationId xmlns:a16="http://schemas.microsoft.com/office/drawing/2014/main" id="{73FBE7E3-5410-D771-D6FC-F968B7948A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5" t="53218" b="772"/>
          <a:stretch>
            <a:fillRect/>
          </a:stretch>
        </p:blipFill>
        <p:spPr>
          <a:xfrm>
            <a:off x="172787" y="3662501"/>
            <a:ext cx="7867839" cy="15312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AE4034-3E61-69A6-6D59-8D7D6BDE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0" t="8168" r="49457" b="46392"/>
          <a:stretch>
            <a:fillRect/>
          </a:stretch>
        </p:blipFill>
        <p:spPr>
          <a:xfrm>
            <a:off x="91759" y="1877377"/>
            <a:ext cx="3970139" cy="16002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999A0D7-D1D6-910D-A459-778EC05531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14" t="6223" b="48337"/>
          <a:stretch>
            <a:fillRect/>
          </a:stretch>
        </p:blipFill>
        <p:spPr>
          <a:xfrm>
            <a:off x="4061898" y="1828800"/>
            <a:ext cx="3859529" cy="1600200"/>
          </a:xfrm>
          <a:prstGeom prst="rect">
            <a:avLst/>
          </a:prstGeom>
        </p:spPr>
      </p:pic>
      <p:sp>
        <p:nvSpPr>
          <p:cNvPr id="16" name="액자 15">
            <a:extLst>
              <a:ext uri="{FF2B5EF4-FFF2-40B4-BE49-F238E27FC236}">
                <a16:creationId xmlns:a16="http://schemas.microsoft.com/office/drawing/2014/main" id="{0C633B76-5153-1C74-A889-B974413D52A1}"/>
              </a:ext>
            </a:extLst>
          </p:cNvPr>
          <p:cNvSpPr/>
          <p:nvPr/>
        </p:nvSpPr>
        <p:spPr>
          <a:xfrm>
            <a:off x="2166306" y="3842158"/>
            <a:ext cx="1940400" cy="1289342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7" name="액자 16">
            <a:extLst>
              <a:ext uri="{FF2B5EF4-FFF2-40B4-BE49-F238E27FC236}">
                <a16:creationId xmlns:a16="http://schemas.microsoft.com/office/drawing/2014/main" id="{A0E37D6C-8663-FEBD-EBCE-D8FD1D42C7AB}"/>
              </a:ext>
            </a:extLst>
          </p:cNvPr>
          <p:cNvSpPr/>
          <p:nvPr/>
        </p:nvSpPr>
        <p:spPr>
          <a:xfrm>
            <a:off x="2394207" y="5427293"/>
            <a:ext cx="927833" cy="1380925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93FEBF66-26AD-7066-FF9C-793B8EDD6E8C}"/>
              </a:ext>
            </a:extLst>
          </p:cNvPr>
          <p:cNvSpPr/>
          <p:nvPr/>
        </p:nvSpPr>
        <p:spPr>
          <a:xfrm>
            <a:off x="4971026" y="3812867"/>
            <a:ext cx="927833" cy="1380925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0" name="액자 19">
            <a:extLst>
              <a:ext uri="{FF2B5EF4-FFF2-40B4-BE49-F238E27FC236}">
                <a16:creationId xmlns:a16="http://schemas.microsoft.com/office/drawing/2014/main" id="{23F5FC61-66EB-AE92-BC09-7B930E043076}"/>
              </a:ext>
            </a:extLst>
          </p:cNvPr>
          <p:cNvSpPr/>
          <p:nvPr/>
        </p:nvSpPr>
        <p:spPr>
          <a:xfrm>
            <a:off x="91759" y="806365"/>
            <a:ext cx="2517217" cy="610734"/>
          </a:xfrm>
          <a:prstGeom prst="frame">
            <a:avLst>
              <a:gd name="adj1" fmla="val 532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060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C7DA2-3019-C130-E567-172BE448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Cnn</a:t>
            </a:r>
            <a:r>
              <a:rPr kumimoji="1" lang="en-US" altLang="ko-KR" dirty="0"/>
              <a:t> </a:t>
            </a:r>
            <a:r>
              <a:rPr kumimoji="1" lang="ko-KR" altLang="en-US" dirty="0"/>
              <a:t>학습방법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B8F9E-FA57-FF08-B261-1DFD84F7AF2B}"/>
              </a:ext>
            </a:extLst>
          </p:cNvPr>
          <p:cNvSpPr txBox="1"/>
          <p:nvPr/>
        </p:nvSpPr>
        <p:spPr>
          <a:xfrm>
            <a:off x="486033" y="2035753"/>
            <a:ext cx="609805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b="1" dirty="0" err="1"/>
              <a:t>과적합</a:t>
            </a:r>
            <a:r>
              <a:rPr lang="ko-KR" altLang="en-US" b="1" dirty="0"/>
              <a:t> 방지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Dropout, BatchNorm, Early stopping </a:t>
            </a:r>
            <a:r>
              <a:rPr lang="ko-KR" altLang="en-US" dirty="0"/>
              <a:t>적극 사용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dirty="0"/>
              <a:t>모델 크기를 </a:t>
            </a:r>
            <a:r>
              <a:rPr lang="ko-KR" altLang="en-US" b="1" dirty="0"/>
              <a:t>소형 </a:t>
            </a:r>
            <a:r>
              <a:rPr lang="en" altLang="ko-KR" b="1" dirty="0"/>
              <a:t>CNN</a:t>
            </a:r>
            <a:r>
              <a:rPr lang="en" altLang="ko-KR" dirty="0"/>
              <a:t> </a:t>
            </a:r>
            <a:r>
              <a:rPr lang="ko-KR" altLang="en-US" dirty="0"/>
              <a:t>수준으로 유지</a:t>
            </a:r>
            <a:endParaRPr lang="en-US" altLang="ko-KR" dirty="0"/>
          </a:p>
          <a:p>
            <a:pPr marL="742950" lvl="1" indent="-285750">
              <a:buFont typeface="+mj-lt"/>
              <a:buAutoNum type="arabicPeriod"/>
            </a:pPr>
            <a:endParaRPr lang="ko-KR" altLang="en-US" dirty="0"/>
          </a:p>
          <a:p>
            <a:pPr>
              <a:buFont typeface="+mj-lt"/>
              <a:buAutoNum type="arabicPeriod"/>
            </a:pPr>
            <a:r>
              <a:rPr lang="ko-KR" altLang="en-US" b="1" dirty="0"/>
              <a:t>데이터 증강 활용 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Log-Mel</a:t>
            </a:r>
            <a:r>
              <a:rPr lang="ko-KR" altLang="en-US" dirty="0" err="1"/>
              <a:t>에</a:t>
            </a:r>
            <a:r>
              <a:rPr lang="ko-KR" altLang="en-US" dirty="0"/>
              <a:t> 대해 </a:t>
            </a:r>
            <a:r>
              <a:rPr lang="en" altLang="ko-KR" dirty="0"/>
              <a:t>Time Masking, Frequency Masking </a:t>
            </a:r>
            <a:r>
              <a:rPr lang="ko-KR" altLang="en-US" dirty="0"/>
              <a:t>등 적용 </a:t>
            </a:r>
            <a:r>
              <a:rPr lang="en-US" altLang="ko-KR" dirty="0"/>
              <a:t>(</a:t>
            </a:r>
            <a:r>
              <a:rPr lang="en" altLang="ko-KR" dirty="0" err="1"/>
              <a:t>SpecAugment</a:t>
            </a:r>
            <a:r>
              <a:rPr lang="en" altLang="ko-KR" dirty="0"/>
              <a:t>)</a:t>
            </a:r>
          </a:p>
          <a:p>
            <a:pPr marL="742950" lvl="1" indent="-285750">
              <a:buFont typeface="+mj-lt"/>
              <a:buAutoNum type="arabicPeriod"/>
            </a:pPr>
            <a:r>
              <a:rPr lang="ko-KR" altLang="en-US" dirty="0"/>
              <a:t>배경잡음 추가</a:t>
            </a:r>
            <a:r>
              <a:rPr lang="en-US" altLang="ko-KR" dirty="0"/>
              <a:t>, </a:t>
            </a:r>
            <a:r>
              <a:rPr lang="ko-KR" altLang="en-US" dirty="0" err="1"/>
              <a:t>시간축</a:t>
            </a:r>
            <a:r>
              <a:rPr lang="ko-KR" altLang="en-US" dirty="0"/>
              <a:t> 늘리기</a:t>
            </a:r>
            <a:r>
              <a:rPr lang="en-US" altLang="ko-KR" dirty="0"/>
              <a:t>, </a:t>
            </a:r>
            <a:r>
              <a:rPr lang="en" altLang="ko-KR" dirty="0"/>
              <a:t>shift </a:t>
            </a:r>
            <a:r>
              <a:rPr lang="ko-KR" altLang="en-US" dirty="0"/>
              <a:t>등 간단한 </a:t>
            </a:r>
            <a:r>
              <a:rPr lang="en" altLang="ko-KR" dirty="0"/>
              <a:t>augmentation</a:t>
            </a:r>
          </a:p>
          <a:p>
            <a:pPr marL="742950" lvl="1" indent="-285750">
              <a:buFont typeface="+mj-lt"/>
              <a:buAutoNum type="arabicPeriod"/>
            </a:pPr>
            <a:endParaRPr lang="en" altLang="ko-KR" dirty="0"/>
          </a:p>
          <a:p>
            <a:pPr>
              <a:buFont typeface="+mj-lt"/>
              <a:buAutoNum type="arabicPeriod"/>
            </a:pPr>
            <a:r>
              <a:rPr lang="en" altLang="ko-KR" b="1" dirty="0"/>
              <a:t>Train / Val / Test </a:t>
            </a:r>
            <a:r>
              <a:rPr lang="ko-KR" altLang="en-US" b="1" dirty="0"/>
              <a:t>확실히 분리</a:t>
            </a:r>
            <a:endParaRPr lang="ko-KR" alt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altLang="ko-KR" dirty="0"/>
              <a:t>70% / 15% / 15% </a:t>
            </a:r>
            <a:r>
              <a:rPr lang="ko-KR" altLang="en-US" dirty="0"/>
              <a:t>구조로 데이터셋 분할</a:t>
            </a:r>
          </a:p>
        </p:txBody>
      </p:sp>
    </p:spTree>
    <p:extLst>
      <p:ext uri="{BB962C8B-B14F-4D97-AF65-F5344CB8AC3E}">
        <p14:creationId xmlns:p14="http://schemas.microsoft.com/office/powerpoint/2010/main" val="154415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E013E-7578-ED51-538F-1A8B2AE0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913" y="365125"/>
            <a:ext cx="10515600" cy="1325563"/>
          </a:xfrm>
        </p:spPr>
        <p:txBody>
          <a:bodyPr/>
          <a:lstStyle/>
          <a:p>
            <a:r>
              <a:rPr kumimoji="1" lang="en-US" altLang="ko-KR" dirty="0" err="1"/>
              <a:t>Cnn</a:t>
            </a:r>
            <a:r>
              <a:rPr kumimoji="1" lang="en-US" altLang="ko-KR" dirty="0"/>
              <a:t> </a:t>
            </a:r>
            <a:r>
              <a:rPr kumimoji="1" lang="ko-KR" altLang="en-US" dirty="0"/>
              <a:t>학습방법 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642075D-CE34-C257-7413-523A271864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799854"/>
              </p:ext>
            </p:extLst>
          </p:nvPr>
        </p:nvGraphicFramePr>
        <p:xfrm>
          <a:off x="141913" y="1797149"/>
          <a:ext cx="11529620" cy="4552171"/>
        </p:xfrm>
        <a:graphic>
          <a:graphicData uri="http://schemas.openxmlformats.org/drawingml/2006/table">
            <a:tbl>
              <a:tblPr/>
              <a:tblGrid>
                <a:gridCol w="2151287">
                  <a:extLst>
                    <a:ext uri="{9D8B030D-6E8A-4147-A177-3AD203B41FA5}">
                      <a16:colId xmlns:a16="http://schemas.microsoft.com/office/drawing/2014/main" val="74401923"/>
                    </a:ext>
                  </a:extLst>
                </a:gridCol>
                <a:gridCol w="2632252">
                  <a:extLst>
                    <a:ext uri="{9D8B030D-6E8A-4147-A177-3AD203B41FA5}">
                      <a16:colId xmlns:a16="http://schemas.microsoft.com/office/drawing/2014/main" val="796412835"/>
                    </a:ext>
                  </a:extLst>
                </a:gridCol>
                <a:gridCol w="2415901">
                  <a:extLst>
                    <a:ext uri="{9D8B030D-6E8A-4147-A177-3AD203B41FA5}">
                      <a16:colId xmlns:a16="http://schemas.microsoft.com/office/drawing/2014/main" val="554505902"/>
                    </a:ext>
                  </a:extLst>
                </a:gridCol>
                <a:gridCol w="4330180">
                  <a:extLst>
                    <a:ext uri="{9D8B030D-6E8A-4147-A177-3AD203B41FA5}">
                      <a16:colId xmlns:a16="http://schemas.microsoft.com/office/drawing/2014/main" val="2386647340"/>
                    </a:ext>
                  </a:extLst>
                </a:gridCol>
              </a:tblGrid>
              <a:tr h="4686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모델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/>
                        <a:t>파라미터 수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/>
                        <a:t>파일 크기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대략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dirty="0"/>
                        <a:t>실제 활용</a:t>
                      </a:r>
                      <a:r>
                        <a:rPr lang="en-US" altLang="ko-KR" sz="1300" dirty="0"/>
                        <a:t>/</a:t>
                      </a:r>
                      <a:r>
                        <a:rPr lang="ko-KR" altLang="en-US" sz="1300" dirty="0"/>
                        <a:t>레퍼런스 사례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8275155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LightCNN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23 K≈24 K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0.1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•</a:t>
                      </a:r>
                      <a:r>
                        <a:rPr lang="ko-KR" altLang="en-US" sz="1400" dirty="0"/>
                        <a:t> </a:t>
                      </a:r>
                      <a:r>
                        <a:rPr lang="en" altLang="ko-KR" sz="1400" dirty="0"/>
                        <a:t>STM32H7 </a:t>
                      </a:r>
                      <a:r>
                        <a:rPr lang="ko-KR" altLang="en-US" sz="1400" dirty="0"/>
                        <a:t>계열 </a:t>
                      </a:r>
                      <a:r>
                        <a:rPr lang="ko-KR" altLang="en-US" sz="1400" dirty="0" err="1"/>
                        <a:t>마이크로컨트롤러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사운드 이벤트 감지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 • </a:t>
                      </a:r>
                      <a:r>
                        <a:rPr lang="en" altLang="ko-KR" sz="1400" dirty="0"/>
                        <a:t>Raspberry Pi Zero W (</a:t>
                      </a:r>
                      <a:r>
                        <a:rPr lang="ko-KR" altLang="en-US" sz="1400" dirty="0"/>
                        <a:t>저전력 </a:t>
                      </a:r>
                      <a:r>
                        <a:rPr lang="en" altLang="ko-KR" sz="1400" dirty="0"/>
                        <a:t>IoT)</a:t>
                      </a:r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4116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 err="1"/>
                        <a:t>BiggerDepthwise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47 K≈50 K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0.2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NVIDIA Jetson Nano (</a:t>
                      </a:r>
                      <a:r>
                        <a:rPr lang="ko-KR" altLang="en-US" sz="1400" dirty="0" err="1"/>
                        <a:t>드론</a:t>
                      </a:r>
                      <a:r>
                        <a:rPr lang="ko-KR" altLang="en-US" sz="1400" dirty="0"/>
                        <a:t> 플랫폼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Raspberry Pi 4 (</a:t>
                      </a:r>
                      <a:r>
                        <a:rPr lang="ko-KR" altLang="en-US" sz="1400" dirty="0"/>
                        <a:t>임베디드 데모 보드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502188"/>
                  </a:ext>
                </a:extLst>
              </a:tr>
              <a:tr h="1071099">
                <a:tc>
                  <a:txBody>
                    <a:bodyPr/>
                    <a:lstStyle/>
                    <a:p>
                      <a:pPr algn="ctr"/>
                      <a:r>
                        <a:rPr lang="en" sz="1300" b="1"/>
                        <a:t>MobileNetV2 (0.5×)</a:t>
                      </a:r>
                      <a:endParaRPr lang="en" sz="130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~1.1 M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 dirty="0"/>
                        <a:t>~4.5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ko-KR" sz="1400" dirty="0"/>
                        <a:t>Android </a:t>
                      </a:r>
                      <a:r>
                        <a:rPr lang="ko-KR" altLang="en-US" sz="1400" dirty="0"/>
                        <a:t>스마트폰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앱 내 객체 인식</a:t>
                      </a:r>
                      <a:r>
                        <a:rPr lang="en-US" altLang="ko-KR" sz="1400" dirty="0"/>
                        <a:t>)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• </a:t>
                      </a:r>
                      <a:r>
                        <a:rPr lang="en" altLang="ko-KR" sz="1400" dirty="0"/>
                        <a:t>NVIDIA Jetson Nano / Xavier NX (</a:t>
                      </a:r>
                      <a:r>
                        <a:rPr lang="ko-KR" altLang="en-US" sz="1400" dirty="0"/>
                        <a:t>로봇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드론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01085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ctr"/>
                      <a:r>
                        <a:rPr lang="en" sz="1300" b="1" dirty="0"/>
                        <a:t>EfficientNet-Lite0</a:t>
                      </a:r>
                      <a:endParaRPr lang="en" sz="1300" dirty="0"/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/>
                        <a:t>~4.0 M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1300"/>
                        <a:t>~16 MB</a:t>
                      </a:r>
                    </a:p>
                  </a:txBody>
                  <a:tcPr marL="66944" marR="66944" marT="33472" marB="33472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400" dirty="0"/>
                        <a:t>• Google Coral Dev Board (Edge TPU)</a:t>
                      </a:r>
                      <a:br>
                        <a:rPr lang="en" altLang="ko-KR" sz="1400" dirty="0"/>
                      </a:br>
                      <a:r>
                        <a:rPr lang="en" altLang="ko-KR" sz="1400" dirty="0"/>
                        <a:t>• TensorFlow Lite on iOS/Android (</a:t>
                      </a:r>
                      <a:r>
                        <a:rPr lang="ko-KR" altLang="en-US" sz="1400" dirty="0"/>
                        <a:t>모바일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/>
                      <a:endParaRPr lang="ko-KR" altLang="en-US" sz="14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18875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5359F5-29E6-7B4F-FB8E-17A254D80C3E}"/>
              </a:ext>
            </a:extLst>
          </p:cNvPr>
          <p:cNvSpPr txBox="1"/>
          <p:nvPr/>
        </p:nvSpPr>
        <p:spPr>
          <a:xfrm>
            <a:off x="4009938" y="471586"/>
            <a:ext cx="8523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b="1" dirty="0" err="1"/>
              <a:t>BiggerDepthwise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실험대상 중 가장 가벼운 모델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kumimoji="1" lang="ko-KR" altLang="en-US" dirty="0"/>
              <a:t>실험으로 최적의 </a:t>
            </a:r>
            <a:r>
              <a:rPr kumimoji="1" lang="ko-KR" altLang="en-US" dirty="0" err="1"/>
              <a:t>하이퍼파라미터</a:t>
            </a:r>
            <a:r>
              <a:rPr kumimoji="1" lang="ko-KR" altLang="en-US" dirty="0"/>
              <a:t> 찾은 뒤 </a:t>
            </a:r>
            <a:endParaRPr kumimoji="1" lang="en-US" altLang="ko-KR" dirty="0"/>
          </a:p>
          <a:p>
            <a:r>
              <a:rPr kumimoji="1" lang="ko-KR" altLang="en-US" dirty="0"/>
              <a:t>비슷한 사례에서 좋은 성과를 거뒀던 </a:t>
            </a:r>
            <a:r>
              <a:rPr kumimoji="1" lang="en-US" altLang="ko-KR" dirty="0" err="1"/>
              <a:t>mobilenet</a:t>
            </a:r>
            <a:r>
              <a:rPr kumimoji="1" lang="en-US" altLang="ko-KR" dirty="0"/>
              <a:t> , </a:t>
            </a:r>
            <a:r>
              <a:rPr lang="en" altLang="ko-KR" dirty="0"/>
              <a:t>EfficientNet-Lite0 </a:t>
            </a:r>
            <a:r>
              <a:rPr lang="ko-KR" altLang="en-US" dirty="0"/>
              <a:t>적용계획임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32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C313A-11FA-6247-EC03-344A644B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/>
              <a:t>수정할 </a:t>
            </a:r>
            <a:r>
              <a:rPr kumimoji="1" lang="ko-KR" altLang="en-US" b="1" dirty="0" err="1"/>
              <a:t>하이퍼</a:t>
            </a:r>
            <a:r>
              <a:rPr kumimoji="1" lang="ko-KR" altLang="en-US" b="1" dirty="0"/>
              <a:t> 파라미터 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40854C88-D64B-A35A-02AE-13ADF224E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22569"/>
              </p:ext>
            </p:extLst>
          </p:nvPr>
        </p:nvGraphicFramePr>
        <p:xfrm>
          <a:off x="289420" y="1783681"/>
          <a:ext cx="11815894" cy="4405462"/>
        </p:xfrm>
        <a:graphic>
          <a:graphicData uri="http://schemas.openxmlformats.org/drawingml/2006/table">
            <a:tbl>
              <a:tblPr/>
              <a:tblGrid>
                <a:gridCol w="1086374">
                  <a:extLst>
                    <a:ext uri="{9D8B030D-6E8A-4147-A177-3AD203B41FA5}">
                      <a16:colId xmlns:a16="http://schemas.microsoft.com/office/drawing/2014/main" val="3828558632"/>
                    </a:ext>
                  </a:extLst>
                </a:gridCol>
                <a:gridCol w="3976382">
                  <a:extLst>
                    <a:ext uri="{9D8B030D-6E8A-4147-A177-3AD203B41FA5}">
                      <a16:colId xmlns:a16="http://schemas.microsoft.com/office/drawing/2014/main" val="44767974"/>
                    </a:ext>
                  </a:extLst>
                </a:gridCol>
                <a:gridCol w="6753138">
                  <a:extLst>
                    <a:ext uri="{9D8B030D-6E8A-4147-A177-3AD203B41FA5}">
                      <a16:colId xmlns:a16="http://schemas.microsoft.com/office/drawing/2014/main" val="3709487252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r>
                        <a:rPr lang="ko-KR" altLang="en-US" sz="1100"/>
                        <a:t>파라미터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정의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설명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변경 효과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목적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617859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threshold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모델 출력 확률을 “</a:t>
                      </a:r>
                      <a:r>
                        <a:rPr lang="en" sz="1100"/>
                        <a:t>positive”</a:t>
                      </a:r>
                      <a:r>
                        <a:rPr lang="ko-KR" altLang="en-US" sz="1100"/>
                        <a:t>로 간주할 기준점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낮추면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FP↑, FN↓): </a:t>
                      </a:r>
                      <a:r>
                        <a:rPr lang="ko-KR" altLang="en-US" sz="1100" dirty="0"/>
                        <a:t>더 민감하게 </a:t>
                      </a:r>
                      <a:r>
                        <a:rPr lang="en" sz="1100" dirty="0"/>
                        <a:t>positive </a:t>
                      </a:r>
                      <a:r>
                        <a:rPr lang="ko-KR" altLang="en-US" sz="1100" dirty="0"/>
                        <a:t>예측 → 리콜↑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높이면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FP↓, FN↑): </a:t>
                      </a:r>
                      <a:r>
                        <a:rPr lang="ko-KR" altLang="en-US" sz="1100" dirty="0"/>
                        <a:t>더 보수적으로 예측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271368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pos_weight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불균형 데이터에서 소수 클래스</a:t>
                      </a:r>
                      <a:r>
                        <a:rPr lang="en-US" altLang="ko-KR" sz="1100"/>
                        <a:t>(</a:t>
                      </a:r>
                      <a:r>
                        <a:rPr lang="en" sz="1100"/>
                        <a:t>positive)</a:t>
                      </a:r>
                      <a:r>
                        <a:rPr lang="ko-KR" altLang="en-US" sz="1100"/>
                        <a:t>에 더 큰 손실 가중치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positive </a:t>
                      </a:r>
                      <a:r>
                        <a:rPr lang="ko-KR" altLang="en-US" sz="1100" dirty="0"/>
                        <a:t>샘플 손실 비중↑ → </a:t>
                      </a:r>
                      <a:r>
                        <a:rPr lang="en" sz="1100" dirty="0"/>
                        <a:t>FN </a:t>
                      </a:r>
                      <a:r>
                        <a:rPr lang="ko-KR" altLang="en-US" sz="1100" dirty="0"/>
                        <a:t>줄어듦 → </a:t>
                      </a:r>
                      <a:r>
                        <a:rPr lang="ko-KR" altLang="en-US" sz="1100" dirty="0" err="1"/>
                        <a:t>재현율</a:t>
                      </a:r>
                      <a:r>
                        <a:rPr lang="ko-KR" altLang="en-US" sz="1100" dirty="0"/>
                        <a:t>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음성 쪽 </a:t>
                      </a:r>
                      <a:r>
                        <a:rPr lang="ko-KR" altLang="en-US" sz="1100" dirty="0" err="1"/>
                        <a:t>오탐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FP) </a:t>
                      </a:r>
                      <a:r>
                        <a:rPr lang="ko-KR" altLang="en-US" sz="1100" dirty="0"/>
                        <a:t>완화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602300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Dropout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랜덤 노드 비활성화 비율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과적합 억제와 </a:t>
                      </a:r>
                      <a:r>
                        <a:rPr lang="en" sz="1100"/>
                        <a:t>under-fitting </a:t>
                      </a:r>
                      <a:r>
                        <a:rPr lang="ko-KR" altLang="en-US" sz="1100"/>
                        <a:t>균형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비율↑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표현력↓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과적합</a:t>
                      </a:r>
                      <a:r>
                        <a:rPr lang="ko-KR" altLang="en-US" sz="1100" dirty="0"/>
                        <a:t>↓ → 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비율↓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under-fitting </a:t>
                      </a:r>
                      <a:r>
                        <a:rPr lang="ko-KR" altLang="en-US" sz="1100" dirty="0"/>
                        <a:t>완화 → 훈련 정확도↑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특징 학습↑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181818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Channels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각 </a:t>
                      </a:r>
                      <a:r>
                        <a:rPr lang="en" sz="1100"/>
                        <a:t>Conv </a:t>
                      </a:r>
                      <a:r>
                        <a:rPr lang="ko-KR" altLang="en-US" sz="1100"/>
                        <a:t>레이어 채널 수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모델 복잡도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용량 결정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채널 수↑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블록 추가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모델 용량↑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표현력↑ → 성능↑ 가능성↑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채널 수↓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경량화↑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추론속도↑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167512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freq_mask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중 주파수 축 결측 마스크의 폭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주파수 대역 더 넓게 가린다 → 강한 노이즈 </a:t>
                      </a:r>
                      <a:r>
                        <a:rPr lang="ko-KR" altLang="en-US" sz="1100" dirty="0" err="1"/>
                        <a:t>로버스트니스</a:t>
                      </a:r>
                      <a:r>
                        <a:rPr lang="ko-KR" altLang="en-US" sz="1100" dirty="0"/>
                        <a:t>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정보 손실↓ → 학습 안정성↑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87009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r>
                        <a:rPr lang="en" sz="1100" b="1"/>
                        <a:t>time_mask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중 시간 축 결측 마스크의 폭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 err="1"/>
                        <a:t>시간축</a:t>
                      </a:r>
                      <a:r>
                        <a:rPr lang="ko-KR" altLang="en-US" sz="1100" dirty="0"/>
                        <a:t> 영역 더 넓게 가린다 → </a:t>
                      </a:r>
                      <a:r>
                        <a:rPr lang="ko-KR" altLang="en-US" sz="1100" dirty="0" err="1"/>
                        <a:t>과적합</a:t>
                      </a:r>
                      <a:r>
                        <a:rPr lang="ko-KR" altLang="en-US" sz="1100" dirty="0"/>
                        <a:t> 억제↑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원본 패턴 보존↑ → </a:t>
                      </a:r>
                      <a:r>
                        <a:rPr lang="ko-KR" altLang="en-US" sz="1100" dirty="0" err="1"/>
                        <a:t>재현율</a:t>
                      </a:r>
                      <a:r>
                        <a:rPr lang="ko-KR" altLang="en-US" sz="1100" dirty="0"/>
                        <a:t>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945319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r>
                        <a:rPr lang="en" sz="1100" b="1"/>
                        <a:t>num_masks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sz="1100"/>
                        <a:t>SpecAugment </a:t>
                      </a:r>
                      <a:r>
                        <a:rPr lang="ko-KR" altLang="en-US" sz="1100"/>
                        <a:t>반복 횟수</a:t>
                      </a:r>
                      <a:r>
                        <a:rPr lang="en-US" altLang="ko-KR" sz="1100"/>
                        <a:t>, </a:t>
                      </a:r>
                      <a:r>
                        <a:rPr lang="en" sz="1100"/>
                        <a:t>augmentation </a:t>
                      </a:r>
                      <a:r>
                        <a:rPr lang="ko-KR" altLang="en-US" sz="1100"/>
                        <a:t>강도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다양성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횟수↑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en" sz="1100" dirty="0"/>
                        <a:t>augmentation </a:t>
                      </a:r>
                      <a:r>
                        <a:rPr lang="ko-KR" altLang="en-US" sz="1100" dirty="0"/>
                        <a:t>다양성↑ → 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횟수↓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과도한 왜곡 방지 → 학습 안정성↑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787304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Mixup </a:t>
                      </a:r>
                      <a:r>
                        <a:rPr lang="el-GR" sz="1100" b="1"/>
                        <a:t>α</a:t>
                      </a:r>
                      <a:endParaRPr lang="el-GR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배치 내 </a:t>
                      </a:r>
                      <a:r>
                        <a:rPr lang="en" sz="1100"/>
                        <a:t>Mixup </a:t>
                      </a:r>
                      <a:r>
                        <a:rPr lang="ko-KR" altLang="en-US" sz="1100"/>
                        <a:t>비율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경계 사례 일반화 강화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l-GR" sz="1100" dirty="0"/>
                        <a:t>• α↑: </a:t>
                      </a:r>
                      <a:r>
                        <a:rPr lang="ko-KR" altLang="en-US" sz="1100" dirty="0"/>
                        <a:t>배치 간 섞임↑ → 경계 사례 학습 강화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일반화↑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el-GR" sz="1100" dirty="0"/>
                        <a:t>α↓: </a:t>
                      </a:r>
                      <a:r>
                        <a:rPr lang="ko-KR" altLang="en-US" sz="1100" dirty="0"/>
                        <a:t>원본 데이터 근접 학습↑ → 정밀도↑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665437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r>
                        <a:rPr lang="en" sz="1100" b="1"/>
                        <a:t>LR</a:t>
                      </a:r>
                      <a:endParaRPr lang="en" sz="1100"/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dirty="0" err="1"/>
                        <a:t>학습률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수렴 속도 </a:t>
                      </a:r>
                      <a:r>
                        <a:rPr lang="en" sz="1100" dirty="0"/>
                        <a:t>vs </a:t>
                      </a:r>
                      <a:r>
                        <a:rPr lang="ko-KR" altLang="en-US" sz="1100" dirty="0"/>
                        <a:t>안정성의 트레이드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오프 제어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값↑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빠른 수렴↑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초반 학습↑ → 하지만 불안정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발산 위험↑</a:t>
                      </a:r>
                      <a:r>
                        <a:rPr lang="en-US" altLang="ko-KR" sz="1100" dirty="0"/>
                        <a:t>• </a:t>
                      </a:r>
                      <a:r>
                        <a:rPr lang="ko-KR" altLang="en-US" sz="1100" dirty="0"/>
                        <a:t>값↓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안정적 수렴↑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미세조정↑ → 느린 학습</a:t>
                      </a:r>
                    </a:p>
                  </a:txBody>
                  <a:tcPr marL="37838" marR="37838" marT="18919" marB="18919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87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630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F79FC0-8478-7BAF-CBFE-113760CF1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04010"/>
              </p:ext>
            </p:extLst>
          </p:nvPr>
        </p:nvGraphicFramePr>
        <p:xfrm>
          <a:off x="163771" y="1398713"/>
          <a:ext cx="11864457" cy="5242835"/>
        </p:xfrm>
        <a:graphic>
          <a:graphicData uri="http://schemas.openxmlformats.org/drawingml/2006/table">
            <a:tbl>
              <a:tblPr/>
              <a:tblGrid>
                <a:gridCol w="797106">
                  <a:extLst>
                    <a:ext uri="{9D8B030D-6E8A-4147-A177-3AD203B41FA5}">
                      <a16:colId xmlns:a16="http://schemas.microsoft.com/office/drawing/2014/main" val="2345626354"/>
                    </a:ext>
                  </a:extLst>
                </a:gridCol>
                <a:gridCol w="1180302">
                  <a:extLst>
                    <a:ext uri="{9D8B030D-6E8A-4147-A177-3AD203B41FA5}">
                      <a16:colId xmlns:a16="http://schemas.microsoft.com/office/drawing/2014/main" val="2083141249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3242534183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164557228"/>
                    </a:ext>
                  </a:extLst>
                </a:gridCol>
                <a:gridCol w="1079409">
                  <a:extLst>
                    <a:ext uri="{9D8B030D-6E8A-4147-A177-3AD203B41FA5}">
                      <a16:colId xmlns:a16="http://schemas.microsoft.com/office/drawing/2014/main" val="3522802756"/>
                    </a:ext>
                  </a:extLst>
                </a:gridCol>
                <a:gridCol w="898000">
                  <a:extLst>
                    <a:ext uri="{9D8B030D-6E8A-4147-A177-3AD203B41FA5}">
                      <a16:colId xmlns:a16="http://schemas.microsoft.com/office/drawing/2014/main" val="467574382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964439432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750650347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2562975927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524529228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1349292981"/>
                    </a:ext>
                  </a:extLst>
                </a:gridCol>
                <a:gridCol w="988705">
                  <a:extLst>
                    <a:ext uri="{9D8B030D-6E8A-4147-A177-3AD203B41FA5}">
                      <a16:colId xmlns:a16="http://schemas.microsoft.com/office/drawing/2014/main" val="545904172"/>
                    </a:ext>
                  </a:extLst>
                </a:gridCol>
              </a:tblGrid>
              <a:tr h="319951"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Exp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threshold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pos_weight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Dropout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Channels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freq_mask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time_mask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num_masks</a:t>
                      </a:r>
                      <a:endParaRPr lang="en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 err="1"/>
                        <a:t>Mixup</a:t>
                      </a:r>
                      <a:r>
                        <a:rPr lang="en" sz="900" b="1" dirty="0"/>
                        <a:t> </a:t>
                      </a:r>
                      <a:r>
                        <a:rPr lang="el-GR" sz="900" b="1" dirty="0"/>
                        <a:t>α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900" b="1" dirty="0"/>
                        <a:t>LR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 err="1"/>
                        <a:t>검증정확도</a:t>
                      </a:r>
                      <a:r>
                        <a:rPr lang="ko-KR" altLang="en-US" sz="900" b="1" dirty="0"/>
                        <a:t>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Confusion matrix </a:t>
                      </a:r>
                      <a:endParaRPr lang="ko-KR" altLang="en-US" sz="9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638400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214466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32 → 64 → 128 → 256</a:t>
                      </a:r>
                    </a:p>
                    <a:p>
                      <a:pPr algn="l"/>
                      <a:r>
                        <a:rPr lang="ko-KR" altLang="en-US" sz="600" dirty="0"/>
                        <a:t>더 많은 패턴 </a:t>
                      </a:r>
                      <a:r>
                        <a:rPr lang="ko-KR" altLang="en-US" sz="600" dirty="0" err="1"/>
                        <a:t>학습위하여</a:t>
                      </a:r>
                      <a:r>
                        <a:rPr lang="ko-KR" altLang="en-US" sz="600" dirty="0"/>
                        <a:t> 채널추가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1e-s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0.7310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오답을 잘 예측하나</a:t>
                      </a:r>
                      <a:r>
                        <a:rPr lang="en-US" altLang="ko-KR" sz="600" dirty="0"/>
                        <a:t>,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정답을 오답으로 예측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위험상황 인지 못 함</a:t>
                      </a:r>
                      <a:r>
                        <a:rPr lang="en-US" altLang="ko-KR" sz="600" dirty="0"/>
                        <a:t>(</a:t>
                      </a:r>
                      <a:r>
                        <a:rPr lang="ko-KR" altLang="en-US" sz="600" dirty="0"/>
                        <a:t>최악</a:t>
                      </a:r>
                      <a:r>
                        <a:rPr lang="en-US" altLang="ko-KR" sz="600" dirty="0"/>
                        <a:t>)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84261"/>
                  </a:ext>
                </a:extLst>
              </a:tr>
              <a:tr h="41593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0.30</a:t>
                      </a:r>
                    </a:p>
                    <a:p>
                      <a:pPr algn="ctr"/>
                      <a:r>
                        <a:rPr lang="ko-KR" altLang="en-US" sz="600" dirty="0"/>
                        <a:t>경계완화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2.0</a:t>
                      </a:r>
                    </a:p>
                    <a:p>
                      <a:pPr algn="ctr"/>
                      <a:r>
                        <a:rPr lang="ko-KR" altLang="en-US" sz="600" dirty="0" err="1"/>
                        <a:t>정답값</a:t>
                      </a:r>
                      <a:r>
                        <a:rPr lang="ko-KR" altLang="en-US" sz="600" dirty="0"/>
                        <a:t> </a:t>
                      </a:r>
                      <a:r>
                        <a:rPr lang="ko-KR" altLang="en-US" sz="600" dirty="0" err="1"/>
                        <a:t>예측비율높이기위함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가중치 수정 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0.6768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정답을 잘 예측하나</a:t>
                      </a:r>
                      <a:r>
                        <a:rPr lang="en-US" altLang="ko-KR" sz="600" dirty="0"/>
                        <a:t>,</a:t>
                      </a:r>
                    </a:p>
                    <a:p>
                      <a:pPr algn="l"/>
                      <a:r>
                        <a:rPr lang="ko-KR" altLang="en-US" sz="600" dirty="0"/>
                        <a:t>오답을 정답으로 많이 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4:6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53710"/>
                  </a:ext>
                </a:extLst>
              </a:tr>
              <a:tr h="60790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0.35</a:t>
                      </a:r>
                    </a:p>
                    <a:p>
                      <a:pPr algn="ctr"/>
                      <a:r>
                        <a:rPr lang="ko-KR" altLang="en-US" sz="600" dirty="0"/>
                        <a:t>경계완화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0.6111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정답을 잘 예측하나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오답을 정답으로 많이 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2:8</a:t>
                      </a:r>
                    </a:p>
                    <a:p>
                      <a:pPr algn="l"/>
                      <a:r>
                        <a:rPr lang="en-US" altLang="ko-KR" sz="600" dirty="0"/>
                        <a:t>exp2</a:t>
                      </a:r>
                      <a:r>
                        <a:rPr lang="ko-KR" altLang="en-US" sz="600" dirty="0"/>
                        <a:t>보다 더 편향됨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68252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0.40</a:t>
                      </a:r>
                    </a:p>
                    <a:p>
                      <a:pPr algn="ctr"/>
                      <a:r>
                        <a:rPr lang="en-US" altLang="ko-KR" sz="600" dirty="0"/>
                        <a:t>Negative recall </a:t>
                      </a:r>
                    </a:p>
                    <a:p>
                      <a:pPr algn="ctr"/>
                      <a:r>
                        <a:rPr lang="ko-KR" altLang="en-US" sz="600" dirty="0"/>
                        <a:t>로 인하여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경계강화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  <a:p>
                      <a:pPr algn="ctr"/>
                      <a:r>
                        <a:rPr lang="en-US" altLang="ko-KR" sz="600" dirty="0"/>
                        <a:t>Negative recall </a:t>
                      </a:r>
                    </a:p>
                    <a:p>
                      <a:pPr algn="ctr"/>
                      <a:r>
                        <a:rPr lang="ko-KR" altLang="en-US" sz="600" dirty="0"/>
                        <a:t>로 인하여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 err="1"/>
                        <a:t>가중치낮춤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0.6717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Positive recall &gt;0.85 </a:t>
                      </a:r>
                    </a:p>
                    <a:p>
                      <a:pPr algn="l"/>
                      <a:r>
                        <a:rPr lang="ko-KR" altLang="en-US" sz="600" dirty="0" err="1"/>
                        <a:t>안전권</a:t>
                      </a:r>
                      <a:r>
                        <a:rPr lang="ko-KR" altLang="en-US" sz="600" dirty="0"/>
                        <a:t>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ko-KR" altLang="en-US" sz="600" dirty="0"/>
                        <a:t>하지만</a:t>
                      </a:r>
                      <a:r>
                        <a:rPr lang="en-US" altLang="ko-KR" sz="600" dirty="0"/>
                        <a:t>negative recall </a:t>
                      </a:r>
                      <a:r>
                        <a:rPr lang="ko-KR" altLang="en-US" sz="600" dirty="0"/>
                        <a:t>여전히 </a:t>
                      </a:r>
                      <a:r>
                        <a:rPr lang="en-US" altLang="ko-KR" sz="600" dirty="0"/>
                        <a:t>0.5</a:t>
                      </a:r>
                      <a:r>
                        <a:rPr lang="ko-KR" altLang="en-US" sz="600" dirty="0"/>
                        <a:t>미만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364522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  <a:p>
                      <a:pPr algn="ctr"/>
                      <a:r>
                        <a:rPr lang="ko-KR" altLang="en-US" sz="600" dirty="0" err="1"/>
                        <a:t>언더피팅완화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en-US" altLang="ko-KR" sz="600" dirty="0"/>
                        <a:t>Negative </a:t>
                      </a:r>
                      <a:r>
                        <a:rPr lang="ko-KR" altLang="en-US" sz="600" dirty="0"/>
                        <a:t>패턴 </a:t>
                      </a:r>
                      <a:endParaRPr lang="en-US" altLang="ko-KR" sz="600" dirty="0"/>
                    </a:p>
                    <a:p>
                      <a:pPr algn="ctr"/>
                      <a:r>
                        <a:rPr lang="ko-KR" altLang="en-US" sz="600" dirty="0"/>
                        <a:t>학습강화 </a:t>
                      </a:r>
                      <a:endParaRPr lang="en-US" altLang="ko-KR" sz="600" dirty="0"/>
                    </a:p>
                    <a:p>
                      <a:pPr algn="ctr"/>
                      <a:endParaRPr lang="en-US" altLang="ko-KR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0.6111</a:t>
                      </a:r>
                      <a:endParaRPr lang="ko-KR" altLang="en-US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600" dirty="0"/>
                        <a:t>더 과하게 긍정예측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/>
                        <a:t>Dropout </a:t>
                      </a:r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negative </a:t>
                      </a:r>
                      <a:r>
                        <a:rPr lang="en-US" altLang="ko-KR" sz="600" dirty="0" err="1"/>
                        <a:t>recal</a:t>
                      </a:r>
                      <a:r>
                        <a:rPr lang="ko-KR" altLang="en-US" sz="600" dirty="0"/>
                        <a:t>향상과 관련 </a:t>
                      </a:r>
                      <a:r>
                        <a:rPr lang="en-US" altLang="ko-KR" sz="600" dirty="0"/>
                        <a:t>x </a:t>
                      </a:r>
                    </a:p>
                    <a:p>
                      <a:pPr algn="l"/>
                      <a:r>
                        <a:rPr lang="en-US" altLang="ko-KR" sz="600" dirty="0"/>
                        <a:t>-&gt;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Negative </a:t>
                      </a:r>
                      <a:r>
                        <a:rPr lang="ko-KR" altLang="en-US" sz="600" dirty="0"/>
                        <a:t>패턴 학습량 더 </a:t>
                      </a:r>
                      <a:r>
                        <a:rPr lang="ko-KR" altLang="en-US" sz="600" dirty="0" err="1"/>
                        <a:t>줄어들음</a:t>
                      </a:r>
                      <a:r>
                        <a:rPr lang="ko-KR" altLang="en-US" sz="600" dirty="0"/>
                        <a:t>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412721"/>
                  </a:ext>
                </a:extLst>
              </a:tr>
              <a:tr h="89586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7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0.0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R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0.7020</a:t>
                      </a:r>
                      <a:endParaRPr lang="en" sz="600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Negative</a:t>
                      </a:r>
                      <a:r>
                        <a:rPr lang="ko-KR" altLang="en-US" sz="600" dirty="0"/>
                        <a:t> </a:t>
                      </a:r>
                      <a:r>
                        <a:rPr lang="en-US" altLang="ko-KR" sz="600" dirty="0"/>
                        <a:t>recall 0.90</a:t>
                      </a:r>
                      <a:r>
                        <a:rPr lang="ko-KR" altLang="en-US" sz="600" dirty="0" err="1"/>
                        <a:t>으로</a:t>
                      </a:r>
                      <a:r>
                        <a:rPr lang="ko-KR" altLang="en-US" sz="600" dirty="0"/>
                        <a:t> 향상됐지만 </a:t>
                      </a:r>
                      <a:endParaRPr lang="en-US" altLang="ko-KR" sz="600" dirty="0"/>
                    </a:p>
                    <a:p>
                      <a:pPr algn="l"/>
                      <a:r>
                        <a:rPr lang="en-US" altLang="ko-KR" sz="600" dirty="0" err="1"/>
                        <a:t>Postive</a:t>
                      </a:r>
                      <a:r>
                        <a:rPr lang="en-US" altLang="ko-KR" sz="600" dirty="0"/>
                        <a:t> recall 0.44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709627"/>
                  </a:ext>
                </a:extLst>
              </a:tr>
              <a:tr h="7038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b="1" dirty="0"/>
                        <a:t>15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0.42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1.5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0.3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600" dirty="0"/>
                        <a:t>32 → 64 → 128 → 256 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8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25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600" dirty="0"/>
                        <a:t>0.2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ko-KR" sz="600" dirty="0"/>
                        <a:t>1e-4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1" dirty="0"/>
                        <a:t>0.8412</a:t>
                      </a:r>
                      <a:endParaRPr lang="ko-KR" altLang="en-US" sz="1200" b="1" dirty="0"/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 b="1" dirty="0" err="1"/>
                        <a:t>Postive</a:t>
                      </a:r>
                      <a:r>
                        <a:rPr lang="en-US" altLang="ko-KR" sz="1200" b="1" dirty="0"/>
                        <a:t> recall 0.84</a:t>
                      </a:r>
                    </a:p>
                    <a:p>
                      <a:pPr algn="l"/>
                      <a:r>
                        <a:rPr lang="en-US" altLang="ko-KR" sz="1200" b="1" dirty="0"/>
                        <a:t>Negative recall 0.82</a:t>
                      </a:r>
                    </a:p>
                  </a:txBody>
                  <a:tcPr marL="31995" marR="31995" marT="15998" marB="15998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292309"/>
                  </a:ext>
                </a:extLst>
              </a:tr>
            </a:tbl>
          </a:graphicData>
        </a:graphic>
      </p:graphicFrame>
      <p:sp>
        <p:nvSpPr>
          <p:cNvPr id="9" name="제목 1">
            <a:extLst>
              <a:ext uri="{FF2B5EF4-FFF2-40B4-BE49-F238E27FC236}">
                <a16:creationId xmlns:a16="http://schemas.microsoft.com/office/drawing/2014/main" id="{D1A4559D-A536-3CE8-429D-845EC0639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73" y="73150"/>
            <a:ext cx="10515600" cy="1325563"/>
          </a:xfrm>
        </p:spPr>
        <p:txBody>
          <a:bodyPr/>
          <a:lstStyle/>
          <a:p>
            <a:r>
              <a:rPr lang="ko-KR" altLang="en-US" b="1" dirty="0"/>
              <a:t>경량화 </a:t>
            </a:r>
            <a:r>
              <a:rPr lang="en-US" altLang="ko-KR" b="1" dirty="0"/>
              <a:t>CNN </a:t>
            </a:r>
            <a:r>
              <a:rPr lang="ko-KR" altLang="en-US" b="1" dirty="0"/>
              <a:t>모델 수행한 실험과정 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D991B-520A-C7C4-E10C-134563DB04AB}"/>
              </a:ext>
            </a:extLst>
          </p:cNvPr>
          <p:cNvSpPr txBox="1"/>
          <p:nvPr/>
        </p:nvSpPr>
        <p:spPr>
          <a:xfrm>
            <a:off x="5192785" y="5662569"/>
            <a:ext cx="2298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/>
              <a:t>~~</a:t>
            </a:r>
            <a:r>
              <a:rPr kumimoji="1" lang="ko-KR" altLang="en-US" sz="2200" b="1" dirty="0"/>
              <a:t>생략</a:t>
            </a:r>
            <a:r>
              <a:rPr kumimoji="1" lang="en-US" altLang="ko-KR" sz="2200" b="1" dirty="0"/>
              <a:t>~~</a:t>
            </a:r>
            <a:r>
              <a:rPr kumimoji="1" lang="ko-KR" altLang="en-US" sz="2200" b="1" dirty="0"/>
              <a:t>  </a:t>
            </a:r>
            <a:r>
              <a:rPr kumimoji="1" lang="ko-KR" alt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737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출력 이미지">
            <a:extLst>
              <a:ext uri="{FF2B5EF4-FFF2-40B4-BE49-F238E27FC236}">
                <a16:creationId xmlns:a16="http://schemas.microsoft.com/office/drawing/2014/main" id="{9891834B-D682-9BC8-E27D-1B499FA32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3" y="2207716"/>
            <a:ext cx="3697766" cy="347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2BF9EA-7DE4-DDAA-5556-FC23F3E568F4}"/>
              </a:ext>
            </a:extLst>
          </p:cNvPr>
          <p:cNvSpPr txBox="1"/>
          <p:nvPr/>
        </p:nvSpPr>
        <p:spPr>
          <a:xfrm>
            <a:off x="1587266" y="5918112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검증정확도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0.8412</a:t>
            </a:r>
            <a:r>
              <a:rPr kumimoji="1" lang="ko-KR" altLang="en-US" dirty="0"/>
              <a:t> </a:t>
            </a: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1AF4D0FD-3C14-A85E-70E2-81E56BFE7D2D}"/>
              </a:ext>
            </a:extLst>
          </p:cNvPr>
          <p:cNvSpPr/>
          <p:nvPr/>
        </p:nvSpPr>
        <p:spPr>
          <a:xfrm>
            <a:off x="5125673" y="3308401"/>
            <a:ext cx="1375795" cy="991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CDE9C31-B6D2-941A-85D0-C68B2A40D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55889"/>
              </p:ext>
            </p:extLst>
          </p:nvPr>
        </p:nvGraphicFramePr>
        <p:xfrm>
          <a:off x="7541002" y="2985707"/>
          <a:ext cx="4348993" cy="1914437"/>
        </p:xfrm>
        <a:graphic>
          <a:graphicData uri="http://schemas.openxmlformats.org/drawingml/2006/table">
            <a:tbl>
              <a:tblPr/>
              <a:tblGrid>
                <a:gridCol w="4348993">
                  <a:extLst>
                    <a:ext uri="{9D8B030D-6E8A-4147-A177-3AD203B41FA5}">
                      <a16:colId xmlns:a16="http://schemas.microsoft.com/office/drawing/2014/main" val="409740879"/>
                    </a:ext>
                  </a:extLst>
                </a:gridCol>
              </a:tblGrid>
              <a:tr h="1044169">
                <a:tc>
                  <a:txBody>
                    <a:bodyPr/>
                    <a:lstStyle/>
                    <a:p>
                      <a:pPr algn="l"/>
                      <a:r>
                        <a:rPr lang="en" sz="2400" b="1" dirty="0"/>
                        <a:t>MobileNetV2 (0.5×)</a:t>
                      </a:r>
                    </a:p>
                    <a:p>
                      <a:pPr algn="l"/>
                      <a:r>
                        <a:rPr lang="en" altLang="ko-KR" sz="2400" b="1" dirty="0"/>
                        <a:t>EfficientNet-Lite0</a:t>
                      </a:r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5367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l"/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0827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E17A62C5-506B-89E7-B0B2-5B4774A4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71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145CE-1D48-A999-2493-88A65489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ko-KR" b="1" dirty="0"/>
              <a:t>EfficientNet-Lite0</a:t>
            </a:r>
            <a:r>
              <a:rPr lang="ko-KR" altLang="en-US" b="1" dirty="0"/>
              <a:t> 학습결과 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3AA56-C4AC-32BF-CB14-2CC6ABED0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19544D-F788-7853-AC09-E52CC92F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104089" cy="4621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5C593-9949-FE4D-5AFB-927587916E0B}"/>
              </a:ext>
            </a:extLst>
          </p:cNvPr>
          <p:cNvSpPr txBox="1"/>
          <p:nvPr/>
        </p:nvSpPr>
        <p:spPr>
          <a:xfrm>
            <a:off x="6983339" y="2460537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b="1" dirty="0" err="1"/>
              <a:t>검증정확도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:</a:t>
            </a:r>
            <a:r>
              <a:rPr kumimoji="1" lang="ko-KR" altLang="en-US" b="1" dirty="0"/>
              <a:t> </a:t>
            </a:r>
            <a:r>
              <a:rPr kumimoji="1" lang="en-US" altLang="ko-KR" b="1" dirty="0"/>
              <a:t>0.7354</a:t>
            </a:r>
            <a:r>
              <a:rPr kumimoji="1" lang="ko-KR" alt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008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E711FB-B458-07ED-93E2-E46C5B502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006CE66-8C59-F3BC-6164-7A6D2B057ABD}"/>
              </a:ext>
            </a:extLst>
          </p:cNvPr>
          <p:cNvSpPr txBox="1">
            <a:spLocks/>
          </p:cNvSpPr>
          <p:nvPr/>
        </p:nvSpPr>
        <p:spPr>
          <a:xfrm>
            <a:off x="0" y="280459"/>
            <a:ext cx="1372446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향후계획 </a:t>
            </a:r>
            <a:r>
              <a:rPr lang="en-US" altLang="ko-KR" sz="2800" b="1" dirty="0"/>
              <a:t>:</a:t>
            </a:r>
            <a:r>
              <a:rPr lang="ko-KR" altLang="en-US" sz="2800" b="1" dirty="0"/>
              <a:t> </a:t>
            </a:r>
            <a:r>
              <a:rPr lang="ko-KR" altLang="en-US" sz="2800" b="1" dirty="0" err="1"/>
              <a:t>다른모델</a:t>
            </a:r>
            <a:r>
              <a:rPr lang="ko-KR" altLang="en-US" sz="2800" b="1" dirty="0"/>
              <a:t> 적용 후 최적의 성능 모델 선택 및 </a:t>
            </a:r>
            <a:r>
              <a:rPr lang="ko-KR" altLang="en-US" sz="2800" b="1" dirty="0" err="1"/>
              <a:t>드론</a:t>
            </a:r>
            <a:r>
              <a:rPr lang="ko-KR" altLang="en-US" sz="2800" b="1" dirty="0"/>
              <a:t> 적용   </a:t>
            </a:r>
            <a:endParaRPr kumimoji="1" lang="ko-KR" altLang="en-US" sz="2800" dirty="0"/>
          </a:p>
        </p:txBody>
      </p:sp>
      <p:pic>
        <p:nvPicPr>
          <p:cNvPr id="5" name="Picture 2" descr="출력 이미지">
            <a:extLst>
              <a:ext uri="{FF2B5EF4-FFF2-40B4-BE49-F238E27FC236}">
                <a16:creationId xmlns:a16="http://schemas.microsoft.com/office/drawing/2014/main" id="{1C73F82B-AAA9-8907-6598-93DA39A92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43" y="2207716"/>
            <a:ext cx="3697766" cy="3470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5BBB9F-342B-02B7-E868-03ED1E00AA70}"/>
              </a:ext>
            </a:extLst>
          </p:cNvPr>
          <p:cNvSpPr txBox="1"/>
          <p:nvPr/>
        </p:nvSpPr>
        <p:spPr>
          <a:xfrm>
            <a:off x="1587266" y="5918112"/>
            <a:ext cx="2701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검증정확도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0.8412</a:t>
            </a:r>
            <a:r>
              <a:rPr kumimoji="1" lang="ko-KR" altLang="en-US" dirty="0"/>
              <a:t> </a:t>
            </a:r>
          </a:p>
        </p:txBody>
      </p:sp>
      <p:sp>
        <p:nvSpPr>
          <p:cNvPr id="7" name="오른쪽 화살표[R] 6">
            <a:extLst>
              <a:ext uri="{FF2B5EF4-FFF2-40B4-BE49-F238E27FC236}">
                <a16:creationId xmlns:a16="http://schemas.microsoft.com/office/drawing/2014/main" id="{D4781D49-88CA-6B37-8476-71A267248A56}"/>
              </a:ext>
            </a:extLst>
          </p:cNvPr>
          <p:cNvSpPr/>
          <p:nvPr/>
        </p:nvSpPr>
        <p:spPr>
          <a:xfrm>
            <a:off x="5125673" y="3308401"/>
            <a:ext cx="1375795" cy="991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95A63DA-0A69-2C05-FF57-8ADE05033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00179"/>
              </p:ext>
            </p:extLst>
          </p:nvPr>
        </p:nvGraphicFramePr>
        <p:xfrm>
          <a:off x="7541002" y="2985707"/>
          <a:ext cx="4348993" cy="1914437"/>
        </p:xfrm>
        <a:graphic>
          <a:graphicData uri="http://schemas.openxmlformats.org/drawingml/2006/table">
            <a:tbl>
              <a:tblPr/>
              <a:tblGrid>
                <a:gridCol w="4348993">
                  <a:extLst>
                    <a:ext uri="{9D8B030D-6E8A-4147-A177-3AD203B41FA5}">
                      <a16:colId xmlns:a16="http://schemas.microsoft.com/office/drawing/2014/main" val="409740879"/>
                    </a:ext>
                  </a:extLst>
                </a:gridCol>
              </a:tblGrid>
              <a:tr h="1044169">
                <a:tc>
                  <a:txBody>
                    <a:bodyPr/>
                    <a:lstStyle/>
                    <a:p>
                      <a:pPr algn="l"/>
                      <a:r>
                        <a:rPr lang="en" sz="2400" b="1" dirty="0"/>
                        <a:t>MobileNetV2 (0.5×)</a:t>
                      </a:r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953670"/>
                  </a:ext>
                </a:extLst>
              </a:tr>
              <a:tr h="870268">
                <a:tc>
                  <a:txBody>
                    <a:bodyPr/>
                    <a:lstStyle/>
                    <a:p>
                      <a:pPr algn="l"/>
                      <a:endParaRPr lang="en" sz="2400" dirty="0"/>
                    </a:p>
                  </a:txBody>
                  <a:tcPr marL="66944" marR="66944" marT="33472" marB="33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08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64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1186</Words>
  <Application>Microsoft Macintosh PowerPoint</Application>
  <PresentationFormat>와이드스크린</PresentationFormat>
  <Paragraphs>339</Paragraphs>
  <Slides>13</Slides>
  <Notes>1</Notes>
  <HiddenSlides>0</HiddenSlides>
  <MMClips>8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재난경보음 알고리즘  진행상황 </vt:lpstr>
      <vt:lpstr>수집한 데이터셋 </vt:lpstr>
      <vt:lpstr>데이터셋 구성 </vt:lpstr>
      <vt:lpstr>Mfcc vs log-mel spectrogram </vt:lpstr>
      <vt:lpstr>log-mel spectrogram 학습 방법 </vt:lpstr>
      <vt:lpstr>PowerPoint 프레젠테이션</vt:lpstr>
      <vt:lpstr>Cnn 학습방법 </vt:lpstr>
      <vt:lpstr>Cnn 학습방법 </vt:lpstr>
      <vt:lpstr>수정할 하이퍼 파라미터 </vt:lpstr>
      <vt:lpstr>경량화 CNN 모델 수행한 실험과정 </vt:lpstr>
      <vt:lpstr>PowerPoint 프레젠테이션</vt:lpstr>
      <vt:lpstr>EfficientNet-Lite0 학습결과 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안유민</dc:creator>
  <cp:keywords/>
  <dc:description/>
  <cp:lastModifiedBy>안유민</cp:lastModifiedBy>
  <cp:revision>4</cp:revision>
  <dcterms:created xsi:type="dcterms:W3CDTF">2025-06-19T13:56:15Z</dcterms:created>
  <dcterms:modified xsi:type="dcterms:W3CDTF">2025-06-29T14:51:44Z</dcterms:modified>
  <cp:category/>
</cp:coreProperties>
</file>